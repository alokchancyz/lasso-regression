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84" r:id="rId3"/>
    <p:sldId id="285" r:id="rId4"/>
    <p:sldId id="258" r:id="rId5"/>
    <p:sldId id="259" r:id="rId6"/>
    <p:sldId id="260" r:id="rId7"/>
    <p:sldId id="261" r:id="rId8"/>
    <p:sldId id="262" r:id="rId9"/>
    <p:sldId id="264" r:id="rId10"/>
    <p:sldId id="266" r:id="rId11"/>
    <p:sldId id="267" r:id="rId12"/>
    <p:sldId id="265" r:id="rId13"/>
    <p:sldId id="268" r:id="rId14"/>
    <p:sldId id="269" r:id="rId15"/>
    <p:sldId id="263" r:id="rId16"/>
    <p:sldId id="270" r:id="rId17"/>
    <p:sldId id="271" r:id="rId18"/>
    <p:sldId id="272" r:id="rId19"/>
    <p:sldId id="273" r:id="rId20"/>
    <p:sldId id="274" r:id="rId21"/>
    <p:sldId id="275" r:id="rId22"/>
    <p:sldId id="276" r:id="rId23"/>
    <p:sldId id="277" r:id="rId24"/>
    <p:sldId id="278" r:id="rId25"/>
    <p:sldId id="279" r:id="rId26"/>
    <p:sldId id="281" r:id="rId27"/>
    <p:sldId id="280" r:id="rId28"/>
    <p:sldId id="282" r:id="rId29"/>
    <p:sldId id="283"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211" userDrawn="1">
          <p15:clr>
            <a:srgbClr val="A4A3A4"/>
          </p15:clr>
        </p15:guide>
        <p15:guide id="4" orient="horz" pos="845" userDrawn="1">
          <p15:clr>
            <a:srgbClr val="A4A3A4"/>
          </p15:clr>
        </p15:guide>
        <p15:guide id="6" pos="6834" userDrawn="1">
          <p15:clr>
            <a:srgbClr val="A4A3A4"/>
          </p15:clr>
        </p15:guide>
        <p15:guide id="7" pos="801" userDrawn="1">
          <p15:clr>
            <a:srgbClr val="A4A3A4"/>
          </p15:clr>
        </p15:guide>
        <p15:guide id="8" pos="7469" userDrawn="1">
          <p15:clr>
            <a:srgbClr val="A4A3A4"/>
          </p15:clr>
        </p15:guide>
        <p15:guide id="9" orient="horz" pos="210" userDrawn="1">
          <p15:clr>
            <a:srgbClr val="A4A3A4"/>
          </p15:clr>
        </p15:guide>
        <p15:guide id="10" pos="2320" userDrawn="1">
          <p15:clr>
            <a:srgbClr val="A4A3A4"/>
          </p15:clr>
        </p15:guide>
        <p15:guide id="11" orient="horz" pos="1003" userDrawn="1">
          <p15:clr>
            <a:srgbClr val="A4A3A4"/>
          </p15:clr>
        </p15:guide>
        <p15:guide id="12" orient="horz" pos="459" userDrawn="1">
          <p15:clr>
            <a:srgbClr val="A4A3A4"/>
          </p15:clr>
        </p15:guide>
        <p15:guide id="13" orient="horz" pos="42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338" autoAdjust="0"/>
    <p:restoredTop sz="94660"/>
  </p:normalViewPr>
  <p:slideViewPr>
    <p:cSldViewPr snapToGrid="0" showGuides="1">
      <p:cViewPr varScale="1">
        <p:scale>
          <a:sx n="79" d="100"/>
          <a:sy n="79" d="100"/>
        </p:scale>
        <p:origin x="240" y="84"/>
      </p:cViewPr>
      <p:guideLst>
        <p:guide orient="horz" pos="2160"/>
        <p:guide pos="3840"/>
        <p:guide pos="211"/>
        <p:guide orient="horz" pos="845"/>
        <p:guide pos="6834"/>
        <p:guide pos="801"/>
        <p:guide pos="7469"/>
        <p:guide orient="horz" pos="210"/>
        <p:guide pos="2320"/>
        <p:guide orient="horz" pos="1003"/>
        <p:guide orient="horz" pos="459"/>
        <p:guide orient="horz" pos="422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DEA9C86-0480-4A0F-B3AA-315F35D2A436}"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1AFC8EFB-D2E2-4B13-875C-344645EE6EBB}">
      <dgm:prSet/>
      <dgm:spPr/>
      <dgm:t>
        <a:bodyPr/>
        <a:lstStyle/>
        <a:p>
          <a:r>
            <a:rPr lang="en-IN" dirty="0">
              <a:solidFill>
                <a:schemeClr val="accent1">
                  <a:lumMod val="75000"/>
                </a:schemeClr>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The need for Lasso Regression</a:t>
          </a:r>
          <a:endParaRPr lang="en-US" dirty="0">
            <a:solidFill>
              <a:schemeClr val="accent1">
                <a:lumMod val="75000"/>
              </a:schemeClr>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endParaRPr>
        </a:p>
      </dgm:t>
    </dgm:pt>
    <dgm:pt modelId="{B9E3830D-9F0F-41A3-BC30-E44A7D97DB04}" type="parTrans" cxnId="{E2E8116B-2727-4D63-8F4D-CA42BAEE6BC5}">
      <dgm:prSet/>
      <dgm:spPr/>
      <dgm:t>
        <a:bodyPr/>
        <a:lstStyle/>
        <a:p>
          <a:endParaRPr lang="en-US">
            <a:solidFill>
              <a:schemeClr val="accent1">
                <a:lumMod val="75000"/>
              </a:schemeClr>
            </a:solidFill>
            <a:effectLst>
              <a:outerShdw blurRad="38100" dist="38100" dir="2700000" algn="tl">
                <a:srgbClr val="000000">
                  <a:alpha val="43137"/>
                </a:srgbClr>
              </a:outerShdw>
            </a:effectLst>
          </a:endParaRPr>
        </a:p>
      </dgm:t>
    </dgm:pt>
    <dgm:pt modelId="{F3F71E67-EF8D-428C-A1E1-DE9F2BC90AAA}" type="sibTrans" cxnId="{E2E8116B-2727-4D63-8F4D-CA42BAEE6BC5}">
      <dgm:prSet/>
      <dgm:spPr/>
      <dgm:t>
        <a:bodyPr/>
        <a:lstStyle/>
        <a:p>
          <a:endParaRPr lang="en-US">
            <a:solidFill>
              <a:schemeClr val="accent1">
                <a:lumMod val="75000"/>
              </a:schemeClr>
            </a:solidFill>
            <a:effectLst>
              <a:outerShdw blurRad="38100" dist="38100" dir="2700000" algn="tl">
                <a:srgbClr val="000000">
                  <a:alpha val="43137"/>
                </a:srgbClr>
              </a:outerShdw>
            </a:effectLst>
          </a:endParaRPr>
        </a:p>
      </dgm:t>
    </dgm:pt>
    <dgm:pt modelId="{BD1574A3-7970-44C5-AF05-3DCE509B3796}">
      <dgm:prSet/>
      <dgm:spPr/>
      <dgm:t>
        <a:bodyPr/>
        <a:lstStyle/>
        <a:p>
          <a:r>
            <a:rPr lang="en-IN" dirty="0">
              <a:solidFill>
                <a:schemeClr val="accent1">
                  <a:lumMod val="75000"/>
                </a:schemeClr>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Lasso Regression</a:t>
          </a:r>
          <a:endParaRPr lang="en-US" dirty="0">
            <a:solidFill>
              <a:schemeClr val="accent1">
                <a:lumMod val="75000"/>
              </a:schemeClr>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endParaRPr>
        </a:p>
      </dgm:t>
    </dgm:pt>
    <dgm:pt modelId="{303A6341-B463-49F8-85DB-0685AE66C214}" type="parTrans" cxnId="{585D0B5A-BF2F-4A26-B5B6-81DEE3D5560E}">
      <dgm:prSet/>
      <dgm:spPr/>
      <dgm:t>
        <a:bodyPr/>
        <a:lstStyle/>
        <a:p>
          <a:endParaRPr lang="en-US">
            <a:solidFill>
              <a:schemeClr val="accent1">
                <a:lumMod val="75000"/>
              </a:schemeClr>
            </a:solidFill>
            <a:effectLst>
              <a:outerShdw blurRad="38100" dist="38100" dir="2700000" algn="tl">
                <a:srgbClr val="000000">
                  <a:alpha val="43137"/>
                </a:srgbClr>
              </a:outerShdw>
            </a:effectLst>
          </a:endParaRPr>
        </a:p>
      </dgm:t>
    </dgm:pt>
    <dgm:pt modelId="{76725E2D-615E-4F48-AF9E-1276215558E0}" type="sibTrans" cxnId="{585D0B5A-BF2F-4A26-B5B6-81DEE3D5560E}">
      <dgm:prSet/>
      <dgm:spPr/>
      <dgm:t>
        <a:bodyPr/>
        <a:lstStyle/>
        <a:p>
          <a:endParaRPr lang="en-US">
            <a:solidFill>
              <a:schemeClr val="accent1">
                <a:lumMod val="75000"/>
              </a:schemeClr>
            </a:solidFill>
            <a:effectLst>
              <a:outerShdw blurRad="38100" dist="38100" dir="2700000" algn="tl">
                <a:srgbClr val="000000">
                  <a:alpha val="43137"/>
                </a:srgbClr>
              </a:outerShdw>
            </a:effectLst>
          </a:endParaRPr>
        </a:p>
      </dgm:t>
    </dgm:pt>
    <dgm:pt modelId="{D5A27017-35AF-4D02-9F8B-0B8E0A9D2F05}">
      <dgm:prSet/>
      <dgm:spPr/>
      <dgm:t>
        <a:bodyPr/>
        <a:lstStyle/>
        <a:p>
          <a:r>
            <a:rPr lang="en-IN" dirty="0">
              <a:solidFill>
                <a:schemeClr val="accent1">
                  <a:lumMod val="75000"/>
                </a:schemeClr>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How does Lasso regression create sparsity?</a:t>
          </a:r>
          <a:endParaRPr lang="en-US" dirty="0">
            <a:solidFill>
              <a:schemeClr val="accent1">
                <a:lumMod val="75000"/>
              </a:schemeClr>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endParaRPr>
        </a:p>
      </dgm:t>
    </dgm:pt>
    <dgm:pt modelId="{C02EB63A-76DA-449A-A3D8-47CFA4AC0A99}" type="parTrans" cxnId="{0AD73C9E-A3D7-4A9F-87EF-9703F43A9585}">
      <dgm:prSet/>
      <dgm:spPr/>
      <dgm:t>
        <a:bodyPr/>
        <a:lstStyle/>
        <a:p>
          <a:endParaRPr lang="en-US">
            <a:solidFill>
              <a:schemeClr val="accent1">
                <a:lumMod val="75000"/>
              </a:schemeClr>
            </a:solidFill>
            <a:effectLst>
              <a:outerShdw blurRad="38100" dist="38100" dir="2700000" algn="tl">
                <a:srgbClr val="000000">
                  <a:alpha val="43137"/>
                </a:srgbClr>
              </a:outerShdw>
            </a:effectLst>
          </a:endParaRPr>
        </a:p>
      </dgm:t>
    </dgm:pt>
    <dgm:pt modelId="{C0A684F8-39F7-40EB-ABC6-35CD87672641}" type="sibTrans" cxnId="{0AD73C9E-A3D7-4A9F-87EF-9703F43A9585}">
      <dgm:prSet/>
      <dgm:spPr/>
      <dgm:t>
        <a:bodyPr/>
        <a:lstStyle/>
        <a:p>
          <a:endParaRPr lang="en-US">
            <a:solidFill>
              <a:schemeClr val="accent1">
                <a:lumMod val="75000"/>
              </a:schemeClr>
            </a:solidFill>
            <a:effectLst>
              <a:outerShdw blurRad="38100" dist="38100" dir="2700000" algn="tl">
                <a:srgbClr val="000000">
                  <a:alpha val="43137"/>
                </a:srgbClr>
              </a:outerShdw>
            </a:effectLst>
          </a:endParaRPr>
        </a:p>
      </dgm:t>
    </dgm:pt>
    <dgm:pt modelId="{FA18A95F-1F9E-457F-8586-C50867A93FA1}">
      <dgm:prSet/>
      <dgm:spPr/>
      <dgm:t>
        <a:bodyPr/>
        <a:lstStyle/>
        <a:p>
          <a:r>
            <a:rPr lang="en-IN" dirty="0">
              <a:solidFill>
                <a:schemeClr val="accent1">
                  <a:lumMod val="75000"/>
                </a:schemeClr>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Feature Selection using Lasso Regression</a:t>
          </a:r>
          <a:endParaRPr lang="en-US" dirty="0">
            <a:solidFill>
              <a:schemeClr val="accent1">
                <a:lumMod val="75000"/>
              </a:schemeClr>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endParaRPr>
        </a:p>
      </dgm:t>
    </dgm:pt>
    <dgm:pt modelId="{77F0C6DB-D8BE-433C-B81E-127AD6B4DB51}" type="parTrans" cxnId="{DF777650-DB7B-44CE-AE1B-8CEE217439A9}">
      <dgm:prSet/>
      <dgm:spPr/>
      <dgm:t>
        <a:bodyPr/>
        <a:lstStyle/>
        <a:p>
          <a:endParaRPr lang="en-US">
            <a:solidFill>
              <a:schemeClr val="accent1">
                <a:lumMod val="75000"/>
              </a:schemeClr>
            </a:solidFill>
            <a:effectLst>
              <a:outerShdw blurRad="38100" dist="38100" dir="2700000" algn="tl">
                <a:srgbClr val="000000">
                  <a:alpha val="43137"/>
                </a:srgbClr>
              </a:outerShdw>
            </a:effectLst>
          </a:endParaRPr>
        </a:p>
      </dgm:t>
    </dgm:pt>
    <dgm:pt modelId="{0BD73108-7FC1-4D00-B8EA-63822B7B0E4F}" type="sibTrans" cxnId="{DF777650-DB7B-44CE-AE1B-8CEE217439A9}">
      <dgm:prSet/>
      <dgm:spPr/>
      <dgm:t>
        <a:bodyPr/>
        <a:lstStyle/>
        <a:p>
          <a:endParaRPr lang="en-US">
            <a:solidFill>
              <a:schemeClr val="accent1">
                <a:lumMod val="75000"/>
              </a:schemeClr>
            </a:solidFill>
            <a:effectLst>
              <a:outerShdw blurRad="38100" dist="38100" dir="2700000" algn="tl">
                <a:srgbClr val="000000">
                  <a:alpha val="43137"/>
                </a:srgbClr>
              </a:outerShdw>
            </a:effectLst>
          </a:endParaRPr>
        </a:p>
      </dgm:t>
    </dgm:pt>
    <dgm:pt modelId="{F62A39C5-D29F-4789-8283-D0024A074F12}">
      <dgm:prSet/>
      <dgm:spPr/>
      <dgm:t>
        <a:bodyPr/>
        <a:lstStyle/>
        <a:p>
          <a:r>
            <a:rPr lang="en-IN" dirty="0">
              <a:solidFill>
                <a:schemeClr val="accent1">
                  <a:lumMod val="75000"/>
                </a:schemeClr>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Evaluating the value of Hyperparameter</a:t>
          </a:r>
          <a:endParaRPr lang="en-US" dirty="0">
            <a:solidFill>
              <a:schemeClr val="accent1">
                <a:lumMod val="75000"/>
              </a:schemeClr>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endParaRPr>
        </a:p>
      </dgm:t>
    </dgm:pt>
    <dgm:pt modelId="{E5FD9260-B7DD-4F78-8134-01B1F34B83D3}" type="parTrans" cxnId="{D21B6ED3-F739-4D76-85D7-7C53D387616A}">
      <dgm:prSet/>
      <dgm:spPr/>
      <dgm:t>
        <a:bodyPr/>
        <a:lstStyle/>
        <a:p>
          <a:endParaRPr lang="en-US">
            <a:solidFill>
              <a:schemeClr val="accent1">
                <a:lumMod val="75000"/>
              </a:schemeClr>
            </a:solidFill>
            <a:effectLst>
              <a:outerShdw blurRad="38100" dist="38100" dir="2700000" algn="tl">
                <a:srgbClr val="000000">
                  <a:alpha val="43137"/>
                </a:srgbClr>
              </a:outerShdw>
            </a:effectLst>
          </a:endParaRPr>
        </a:p>
      </dgm:t>
    </dgm:pt>
    <dgm:pt modelId="{EB8BBA85-3420-4AB4-8636-39B1BD71E516}" type="sibTrans" cxnId="{D21B6ED3-F739-4D76-85D7-7C53D387616A}">
      <dgm:prSet/>
      <dgm:spPr/>
      <dgm:t>
        <a:bodyPr/>
        <a:lstStyle/>
        <a:p>
          <a:endParaRPr lang="en-US">
            <a:solidFill>
              <a:schemeClr val="accent1">
                <a:lumMod val="75000"/>
              </a:schemeClr>
            </a:solidFill>
            <a:effectLst>
              <a:outerShdw blurRad="38100" dist="38100" dir="2700000" algn="tl">
                <a:srgbClr val="000000">
                  <a:alpha val="43137"/>
                </a:srgbClr>
              </a:outerShdw>
            </a:effectLst>
          </a:endParaRPr>
        </a:p>
      </dgm:t>
    </dgm:pt>
    <dgm:pt modelId="{2CBA97B3-3B3E-414A-B478-3993EF03CF41}" type="pres">
      <dgm:prSet presAssocID="{CDEA9C86-0480-4A0F-B3AA-315F35D2A436}" presName="vert0" presStyleCnt="0">
        <dgm:presLayoutVars>
          <dgm:dir/>
          <dgm:animOne val="branch"/>
          <dgm:animLvl val="lvl"/>
        </dgm:presLayoutVars>
      </dgm:prSet>
      <dgm:spPr/>
      <dgm:t>
        <a:bodyPr/>
        <a:lstStyle/>
        <a:p>
          <a:endParaRPr lang="en-US"/>
        </a:p>
      </dgm:t>
    </dgm:pt>
    <dgm:pt modelId="{C897367B-F344-4663-9F62-A291D5E1E401}" type="pres">
      <dgm:prSet presAssocID="{1AFC8EFB-D2E2-4B13-875C-344645EE6EBB}" presName="thickLine" presStyleLbl="alignNode1" presStyleIdx="0" presStyleCnt="5"/>
      <dgm:spPr/>
    </dgm:pt>
    <dgm:pt modelId="{93534607-2392-4330-998D-E427AA3E5ACC}" type="pres">
      <dgm:prSet presAssocID="{1AFC8EFB-D2E2-4B13-875C-344645EE6EBB}" presName="horz1" presStyleCnt="0"/>
      <dgm:spPr/>
    </dgm:pt>
    <dgm:pt modelId="{183309B1-D36E-485F-A6E0-EF2159A27457}" type="pres">
      <dgm:prSet presAssocID="{1AFC8EFB-D2E2-4B13-875C-344645EE6EBB}" presName="tx1" presStyleLbl="revTx" presStyleIdx="0" presStyleCnt="5" custLinFactNeighborX="-211" custLinFactNeighborY="23477"/>
      <dgm:spPr/>
      <dgm:t>
        <a:bodyPr/>
        <a:lstStyle/>
        <a:p>
          <a:endParaRPr lang="en-US"/>
        </a:p>
      </dgm:t>
    </dgm:pt>
    <dgm:pt modelId="{D734713D-2A83-4E93-A698-4492EF920E6F}" type="pres">
      <dgm:prSet presAssocID="{1AFC8EFB-D2E2-4B13-875C-344645EE6EBB}" presName="vert1" presStyleCnt="0"/>
      <dgm:spPr/>
    </dgm:pt>
    <dgm:pt modelId="{8B40B0D1-E826-4F5A-82AC-611DE4997874}" type="pres">
      <dgm:prSet presAssocID="{BD1574A3-7970-44C5-AF05-3DCE509B3796}" presName="thickLine" presStyleLbl="alignNode1" presStyleIdx="1" presStyleCnt="5"/>
      <dgm:spPr/>
    </dgm:pt>
    <dgm:pt modelId="{C9ABF173-9C0D-4BC9-875A-FC51652726DE}" type="pres">
      <dgm:prSet presAssocID="{BD1574A3-7970-44C5-AF05-3DCE509B3796}" presName="horz1" presStyleCnt="0"/>
      <dgm:spPr/>
    </dgm:pt>
    <dgm:pt modelId="{2F7628B1-72F1-4A59-B303-B894A7000082}" type="pres">
      <dgm:prSet presAssocID="{BD1574A3-7970-44C5-AF05-3DCE509B3796}" presName="tx1" presStyleLbl="revTx" presStyleIdx="1" presStyleCnt="5" custLinFactNeighborX="80" custLinFactNeighborY="17767"/>
      <dgm:spPr/>
      <dgm:t>
        <a:bodyPr/>
        <a:lstStyle/>
        <a:p>
          <a:endParaRPr lang="en-US"/>
        </a:p>
      </dgm:t>
    </dgm:pt>
    <dgm:pt modelId="{F4E1830E-EC8C-407D-90E5-4F386AD42990}" type="pres">
      <dgm:prSet presAssocID="{BD1574A3-7970-44C5-AF05-3DCE509B3796}" presName="vert1" presStyleCnt="0"/>
      <dgm:spPr/>
    </dgm:pt>
    <dgm:pt modelId="{57DC6C37-69E2-4570-B434-A09A4AC408CD}" type="pres">
      <dgm:prSet presAssocID="{D5A27017-35AF-4D02-9F8B-0B8E0A9D2F05}" presName="thickLine" presStyleLbl="alignNode1" presStyleIdx="2" presStyleCnt="5"/>
      <dgm:spPr/>
    </dgm:pt>
    <dgm:pt modelId="{1504F1C0-1848-4184-813B-B1CA8D2780B6}" type="pres">
      <dgm:prSet presAssocID="{D5A27017-35AF-4D02-9F8B-0B8E0A9D2F05}" presName="horz1" presStyleCnt="0"/>
      <dgm:spPr/>
    </dgm:pt>
    <dgm:pt modelId="{4AEEA496-88D8-4AA3-8929-621992325B7B}" type="pres">
      <dgm:prSet presAssocID="{D5A27017-35AF-4D02-9F8B-0B8E0A9D2F05}" presName="tx1" presStyleLbl="revTx" presStyleIdx="2" presStyleCnt="5"/>
      <dgm:spPr/>
      <dgm:t>
        <a:bodyPr/>
        <a:lstStyle/>
        <a:p>
          <a:endParaRPr lang="en-US"/>
        </a:p>
      </dgm:t>
    </dgm:pt>
    <dgm:pt modelId="{B4244386-E384-41D9-875E-80C79A19A956}" type="pres">
      <dgm:prSet presAssocID="{D5A27017-35AF-4D02-9F8B-0B8E0A9D2F05}" presName="vert1" presStyleCnt="0"/>
      <dgm:spPr/>
    </dgm:pt>
    <dgm:pt modelId="{D93AB2E6-3471-474E-808E-200EC81C3B7B}" type="pres">
      <dgm:prSet presAssocID="{FA18A95F-1F9E-457F-8586-C50867A93FA1}" presName="thickLine" presStyleLbl="alignNode1" presStyleIdx="3" presStyleCnt="5"/>
      <dgm:spPr/>
    </dgm:pt>
    <dgm:pt modelId="{2CE2604C-1299-4586-8A9D-C6483ABCFC02}" type="pres">
      <dgm:prSet presAssocID="{FA18A95F-1F9E-457F-8586-C50867A93FA1}" presName="horz1" presStyleCnt="0"/>
      <dgm:spPr/>
    </dgm:pt>
    <dgm:pt modelId="{DECEAE57-892E-4626-83AE-F3C49A4E62D4}" type="pres">
      <dgm:prSet presAssocID="{FA18A95F-1F9E-457F-8586-C50867A93FA1}" presName="tx1" presStyleLbl="revTx" presStyleIdx="3" presStyleCnt="5" custLinFactNeighborX="-211" custLinFactNeighborY="5217"/>
      <dgm:spPr/>
      <dgm:t>
        <a:bodyPr/>
        <a:lstStyle/>
        <a:p>
          <a:endParaRPr lang="en-US"/>
        </a:p>
      </dgm:t>
    </dgm:pt>
    <dgm:pt modelId="{8CAFD338-6D64-477B-B6AC-D6DD99011D24}" type="pres">
      <dgm:prSet presAssocID="{FA18A95F-1F9E-457F-8586-C50867A93FA1}" presName="vert1" presStyleCnt="0"/>
      <dgm:spPr/>
    </dgm:pt>
    <dgm:pt modelId="{D7B40E62-E0B7-4A0F-B639-34E71913B01C}" type="pres">
      <dgm:prSet presAssocID="{F62A39C5-D29F-4789-8283-D0024A074F12}" presName="thickLine" presStyleLbl="alignNode1" presStyleIdx="4" presStyleCnt="5"/>
      <dgm:spPr/>
    </dgm:pt>
    <dgm:pt modelId="{42266ECE-ACEE-424E-A915-7B0BA29F72D0}" type="pres">
      <dgm:prSet presAssocID="{F62A39C5-D29F-4789-8283-D0024A074F12}" presName="horz1" presStyleCnt="0"/>
      <dgm:spPr/>
    </dgm:pt>
    <dgm:pt modelId="{6ACAA5B6-9C7B-4971-A1CA-EFC1982227E0}" type="pres">
      <dgm:prSet presAssocID="{F62A39C5-D29F-4789-8283-D0024A074F12}" presName="tx1" presStyleLbl="revTx" presStyleIdx="4" presStyleCnt="5" custLinFactNeighborX="-211" custLinFactNeighborY="15651"/>
      <dgm:spPr/>
      <dgm:t>
        <a:bodyPr/>
        <a:lstStyle/>
        <a:p>
          <a:endParaRPr lang="en-US"/>
        </a:p>
      </dgm:t>
    </dgm:pt>
    <dgm:pt modelId="{1D41D4A3-5212-422A-80A7-79E0B520F724}" type="pres">
      <dgm:prSet presAssocID="{F62A39C5-D29F-4789-8283-D0024A074F12}" presName="vert1" presStyleCnt="0"/>
      <dgm:spPr/>
    </dgm:pt>
  </dgm:ptLst>
  <dgm:cxnLst>
    <dgm:cxn modelId="{0AD73C9E-A3D7-4A9F-87EF-9703F43A9585}" srcId="{CDEA9C86-0480-4A0F-B3AA-315F35D2A436}" destId="{D5A27017-35AF-4D02-9F8B-0B8E0A9D2F05}" srcOrd="2" destOrd="0" parTransId="{C02EB63A-76DA-449A-A3D8-47CFA4AC0A99}" sibTransId="{C0A684F8-39F7-40EB-ABC6-35CD87672641}"/>
    <dgm:cxn modelId="{8CC0F46F-0468-46C0-A86B-6FD37A1E63E9}" type="presOf" srcId="{1AFC8EFB-D2E2-4B13-875C-344645EE6EBB}" destId="{183309B1-D36E-485F-A6E0-EF2159A27457}" srcOrd="0" destOrd="0" presId="urn:microsoft.com/office/officeart/2008/layout/LinedList"/>
    <dgm:cxn modelId="{628582AC-AA07-42A2-BB44-807FA429DD05}" type="presOf" srcId="{FA18A95F-1F9E-457F-8586-C50867A93FA1}" destId="{DECEAE57-892E-4626-83AE-F3C49A4E62D4}" srcOrd="0" destOrd="0" presId="urn:microsoft.com/office/officeart/2008/layout/LinedList"/>
    <dgm:cxn modelId="{D21B6ED3-F739-4D76-85D7-7C53D387616A}" srcId="{CDEA9C86-0480-4A0F-B3AA-315F35D2A436}" destId="{F62A39C5-D29F-4789-8283-D0024A074F12}" srcOrd="4" destOrd="0" parTransId="{E5FD9260-B7DD-4F78-8134-01B1F34B83D3}" sibTransId="{EB8BBA85-3420-4AB4-8636-39B1BD71E516}"/>
    <dgm:cxn modelId="{E2E8116B-2727-4D63-8F4D-CA42BAEE6BC5}" srcId="{CDEA9C86-0480-4A0F-B3AA-315F35D2A436}" destId="{1AFC8EFB-D2E2-4B13-875C-344645EE6EBB}" srcOrd="0" destOrd="0" parTransId="{B9E3830D-9F0F-41A3-BC30-E44A7D97DB04}" sibTransId="{F3F71E67-EF8D-428C-A1E1-DE9F2BC90AAA}"/>
    <dgm:cxn modelId="{50F0820C-F90B-4581-8045-A96569499A27}" type="presOf" srcId="{D5A27017-35AF-4D02-9F8B-0B8E0A9D2F05}" destId="{4AEEA496-88D8-4AA3-8929-621992325B7B}" srcOrd="0" destOrd="0" presId="urn:microsoft.com/office/officeart/2008/layout/LinedList"/>
    <dgm:cxn modelId="{585D0B5A-BF2F-4A26-B5B6-81DEE3D5560E}" srcId="{CDEA9C86-0480-4A0F-B3AA-315F35D2A436}" destId="{BD1574A3-7970-44C5-AF05-3DCE509B3796}" srcOrd="1" destOrd="0" parTransId="{303A6341-B463-49F8-85DB-0685AE66C214}" sibTransId="{76725E2D-615E-4F48-AF9E-1276215558E0}"/>
    <dgm:cxn modelId="{9A9CED5A-6786-441D-BCB7-A913AF53576F}" type="presOf" srcId="{BD1574A3-7970-44C5-AF05-3DCE509B3796}" destId="{2F7628B1-72F1-4A59-B303-B894A7000082}" srcOrd="0" destOrd="0" presId="urn:microsoft.com/office/officeart/2008/layout/LinedList"/>
    <dgm:cxn modelId="{0CA88245-4482-4310-8650-CF7FD7D5647F}" type="presOf" srcId="{F62A39C5-D29F-4789-8283-D0024A074F12}" destId="{6ACAA5B6-9C7B-4971-A1CA-EFC1982227E0}" srcOrd="0" destOrd="0" presId="urn:microsoft.com/office/officeart/2008/layout/LinedList"/>
    <dgm:cxn modelId="{DF777650-DB7B-44CE-AE1B-8CEE217439A9}" srcId="{CDEA9C86-0480-4A0F-B3AA-315F35D2A436}" destId="{FA18A95F-1F9E-457F-8586-C50867A93FA1}" srcOrd="3" destOrd="0" parTransId="{77F0C6DB-D8BE-433C-B81E-127AD6B4DB51}" sibTransId="{0BD73108-7FC1-4D00-B8EA-63822B7B0E4F}"/>
    <dgm:cxn modelId="{8DE15866-BF6F-439D-A898-BAE17DD3E198}" type="presOf" srcId="{CDEA9C86-0480-4A0F-B3AA-315F35D2A436}" destId="{2CBA97B3-3B3E-414A-B478-3993EF03CF41}" srcOrd="0" destOrd="0" presId="urn:microsoft.com/office/officeart/2008/layout/LinedList"/>
    <dgm:cxn modelId="{3F89B974-CD0F-4B27-8826-86B421A6C563}" type="presParOf" srcId="{2CBA97B3-3B3E-414A-B478-3993EF03CF41}" destId="{C897367B-F344-4663-9F62-A291D5E1E401}" srcOrd="0" destOrd="0" presId="urn:microsoft.com/office/officeart/2008/layout/LinedList"/>
    <dgm:cxn modelId="{D5D71A17-7C86-43A5-9998-713D369F44CD}" type="presParOf" srcId="{2CBA97B3-3B3E-414A-B478-3993EF03CF41}" destId="{93534607-2392-4330-998D-E427AA3E5ACC}" srcOrd="1" destOrd="0" presId="urn:microsoft.com/office/officeart/2008/layout/LinedList"/>
    <dgm:cxn modelId="{30ECB07D-4A43-43B8-80EB-7F47AAFDD4EA}" type="presParOf" srcId="{93534607-2392-4330-998D-E427AA3E5ACC}" destId="{183309B1-D36E-485F-A6E0-EF2159A27457}" srcOrd="0" destOrd="0" presId="urn:microsoft.com/office/officeart/2008/layout/LinedList"/>
    <dgm:cxn modelId="{01AFB47E-D073-4742-AD91-9350995FFD72}" type="presParOf" srcId="{93534607-2392-4330-998D-E427AA3E5ACC}" destId="{D734713D-2A83-4E93-A698-4492EF920E6F}" srcOrd="1" destOrd="0" presId="urn:microsoft.com/office/officeart/2008/layout/LinedList"/>
    <dgm:cxn modelId="{E0EF2899-E005-4E38-8066-B3AD6CE73A5D}" type="presParOf" srcId="{2CBA97B3-3B3E-414A-B478-3993EF03CF41}" destId="{8B40B0D1-E826-4F5A-82AC-611DE4997874}" srcOrd="2" destOrd="0" presId="urn:microsoft.com/office/officeart/2008/layout/LinedList"/>
    <dgm:cxn modelId="{E6711550-C4C4-43B9-A5B2-9CDF3B084880}" type="presParOf" srcId="{2CBA97B3-3B3E-414A-B478-3993EF03CF41}" destId="{C9ABF173-9C0D-4BC9-875A-FC51652726DE}" srcOrd="3" destOrd="0" presId="urn:microsoft.com/office/officeart/2008/layout/LinedList"/>
    <dgm:cxn modelId="{4265E3DE-B74E-4DB9-91BC-7E96CFDFFDC6}" type="presParOf" srcId="{C9ABF173-9C0D-4BC9-875A-FC51652726DE}" destId="{2F7628B1-72F1-4A59-B303-B894A7000082}" srcOrd="0" destOrd="0" presId="urn:microsoft.com/office/officeart/2008/layout/LinedList"/>
    <dgm:cxn modelId="{656F2C16-8583-4C9D-8EC8-BFCB20348B76}" type="presParOf" srcId="{C9ABF173-9C0D-4BC9-875A-FC51652726DE}" destId="{F4E1830E-EC8C-407D-90E5-4F386AD42990}" srcOrd="1" destOrd="0" presId="urn:microsoft.com/office/officeart/2008/layout/LinedList"/>
    <dgm:cxn modelId="{4CCA0CA6-29A8-4EC8-956D-D0BF005C8756}" type="presParOf" srcId="{2CBA97B3-3B3E-414A-B478-3993EF03CF41}" destId="{57DC6C37-69E2-4570-B434-A09A4AC408CD}" srcOrd="4" destOrd="0" presId="urn:microsoft.com/office/officeart/2008/layout/LinedList"/>
    <dgm:cxn modelId="{953FBA17-1F20-41AC-90C3-F9B6B198B60F}" type="presParOf" srcId="{2CBA97B3-3B3E-414A-B478-3993EF03CF41}" destId="{1504F1C0-1848-4184-813B-B1CA8D2780B6}" srcOrd="5" destOrd="0" presId="urn:microsoft.com/office/officeart/2008/layout/LinedList"/>
    <dgm:cxn modelId="{B3114307-A60C-4087-B5B4-CCD034E3D735}" type="presParOf" srcId="{1504F1C0-1848-4184-813B-B1CA8D2780B6}" destId="{4AEEA496-88D8-4AA3-8929-621992325B7B}" srcOrd="0" destOrd="0" presId="urn:microsoft.com/office/officeart/2008/layout/LinedList"/>
    <dgm:cxn modelId="{B3F9E45D-9F8C-4370-AADB-0ABE85941456}" type="presParOf" srcId="{1504F1C0-1848-4184-813B-B1CA8D2780B6}" destId="{B4244386-E384-41D9-875E-80C79A19A956}" srcOrd="1" destOrd="0" presId="urn:microsoft.com/office/officeart/2008/layout/LinedList"/>
    <dgm:cxn modelId="{BA4765BB-9985-4B15-85C3-90731B975364}" type="presParOf" srcId="{2CBA97B3-3B3E-414A-B478-3993EF03CF41}" destId="{D93AB2E6-3471-474E-808E-200EC81C3B7B}" srcOrd="6" destOrd="0" presId="urn:microsoft.com/office/officeart/2008/layout/LinedList"/>
    <dgm:cxn modelId="{4743EAE6-CD52-4FC5-85BA-AEDB637AB634}" type="presParOf" srcId="{2CBA97B3-3B3E-414A-B478-3993EF03CF41}" destId="{2CE2604C-1299-4586-8A9D-C6483ABCFC02}" srcOrd="7" destOrd="0" presId="urn:microsoft.com/office/officeart/2008/layout/LinedList"/>
    <dgm:cxn modelId="{D95F4693-9B60-4160-B966-4FEB1C88A85B}" type="presParOf" srcId="{2CE2604C-1299-4586-8A9D-C6483ABCFC02}" destId="{DECEAE57-892E-4626-83AE-F3C49A4E62D4}" srcOrd="0" destOrd="0" presId="urn:microsoft.com/office/officeart/2008/layout/LinedList"/>
    <dgm:cxn modelId="{BB9D0754-68D0-4349-8C66-DE2822978BC3}" type="presParOf" srcId="{2CE2604C-1299-4586-8A9D-C6483ABCFC02}" destId="{8CAFD338-6D64-477B-B6AC-D6DD99011D24}" srcOrd="1" destOrd="0" presId="urn:microsoft.com/office/officeart/2008/layout/LinedList"/>
    <dgm:cxn modelId="{A9FBA827-C2A4-4299-8846-E7B3F99B498D}" type="presParOf" srcId="{2CBA97B3-3B3E-414A-B478-3993EF03CF41}" destId="{D7B40E62-E0B7-4A0F-B639-34E71913B01C}" srcOrd="8" destOrd="0" presId="urn:microsoft.com/office/officeart/2008/layout/LinedList"/>
    <dgm:cxn modelId="{D2EBB247-6526-4053-B986-8126C813D2DC}" type="presParOf" srcId="{2CBA97B3-3B3E-414A-B478-3993EF03CF41}" destId="{42266ECE-ACEE-424E-A915-7B0BA29F72D0}" srcOrd="9" destOrd="0" presId="urn:microsoft.com/office/officeart/2008/layout/LinedList"/>
    <dgm:cxn modelId="{7C62C06A-7D78-492B-94DC-3EDC62BC9352}" type="presParOf" srcId="{42266ECE-ACEE-424E-A915-7B0BA29F72D0}" destId="{6ACAA5B6-9C7B-4971-A1CA-EFC1982227E0}" srcOrd="0" destOrd="0" presId="urn:microsoft.com/office/officeart/2008/layout/LinedList"/>
    <dgm:cxn modelId="{2909C48B-0EB7-41F5-8427-A6A5F19E9390}" type="presParOf" srcId="{42266ECE-ACEE-424E-A915-7B0BA29F72D0}" destId="{1D41D4A3-5212-422A-80A7-79E0B520F72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97367B-F344-4663-9F62-A291D5E1E401}">
      <dsp:nvSpPr>
        <dsp:cNvPr id="0" name=""/>
        <dsp:cNvSpPr/>
      </dsp:nvSpPr>
      <dsp:spPr>
        <a:xfrm>
          <a:off x="0" y="675"/>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3309B1-D36E-485F-A6E0-EF2159A27457}">
      <dsp:nvSpPr>
        <dsp:cNvPr id="0" name=""/>
        <dsp:cNvSpPr/>
      </dsp:nvSpPr>
      <dsp:spPr>
        <a:xfrm>
          <a:off x="0" y="260556"/>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lvl="0" algn="l" defTabSz="1422400">
            <a:lnSpc>
              <a:spcPct val="90000"/>
            </a:lnSpc>
            <a:spcBef>
              <a:spcPct val="0"/>
            </a:spcBef>
            <a:spcAft>
              <a:spcPct val="35000"/>
            </a:spcAft>
          </a:pPr>
          <a:r>
            <a:rPr lang="en-IN" sz="3200" kern="1200" dirty="0">
              <a:solidFill>
                <a:schemeClr val="accent1">
                  <a:lumMod val="75000"/>
                </a:schemeClr>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The need for Lasso Regression</a:t>
          </a:r>
          <a:endParaRPr lang="en-US" sz="3200" kern="1200" dirty="0">
            <a:solidFill>
              <a:schemeClr val="accent1">
                <a:lumMod val="75000"/>
              </a:schemeClr>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endParaRPr>
        </a:p>
      </dsp:txBody>
      <dsp:txXfrm>
        <a:off x="0" y="260556"/>
        <a:ext cx="6900512" cy="1106957"/>
      </dsp:txXfrm>
    </dsp:sp>
    <dsp:sp modelId="{8B40B0D1-E826-4F5A-82AC-611DE4997874}">
      <dsp:nvSpPr>
        <dsp:cNvPr id="0" name=""/>
        <dsp:cNvSpPr/>
      </dsp:nvSpPr>
      <dsp:spPr>
        <a:xfrm>
          <a:off x="0" y="1107633"/>
          <a:ext cx="6900512"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7628B1-72F1-4A59-B303-B894A7000082}">
      <dsp:nvSpPr>
        <dsp:cNvPr id="0" name=""/>
        <dsp:cNvSpPr/>
      </dsp:nvSpPr>
      <dsp:spPr>
        <a:xfrm>
          <a:off x="0" y="1304306"/>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lvl="0" algn="l" defTabSz="1422400">
            <a:lnSpc>
              <a:spcPct val="90000"/>
            </a:lnSpc>
            <a:spcBef>
              <a:spcPct val="0"/>
            </a:spcBef>
            <a:spcAft>
              <a:spcPct val="35000"/>
            </a:spcAft>
          </a:pPr>
          <a:r>
            <a:rPr lang="en-IN" sz="3200" kern="1200" dirty="0">
              <a:solidFill>
                <a:schemeClr val="accent1">
                  <a:lumMod val="75000"/>
                </a:schemeClr>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Lasso Regression</a:t>
          </a:r>
          <a:endParaRPr lang="en-US" sz="3200" kern="1200" dirty="0">
            <a:solidFill>
              <a:schemeClr val="accent1">
                <a:lumMod val="75000"/>
              </a:schemeClr>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endParaRPr>
        </a:p>
      </dsp:txBody>
      <dsp:txXfrm>
        <a:off x="0" y="1304306"/>
        <a:ext cx="6900512" cy="1106957"/>
      </dsp:txXfrm>
    </dsp:sp>
    <dsp:sp modelId="{57DC6C37-69E2-4570-B434-A09A4AC408CD}">
      <dsp:nvSpPr>
        <dsp:cNvPr id="0" name=""/>
        <dsp:cNvSpPr/>
      </dsp:nvSpPr>
      <dsp:spPr>
        <a:xfrm>
          <a:off x="0" y="2214591"/>
          <a:ext cx="690051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EEA496-88D8-4AA3-8929-621992325B7B}">
      <dsp:nvSpPr>
        <dsp:cNvPr id="0" name=""/>
        <dsp:cNvSpPr/>
      </dsp:nvSpPr>
      <dsp:spPr>
        <a:xfrm>
          <a:off x="0" y="2214591"/>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lvl="0" algn="l" defTabSz="1422400">
            <a:lnSpc>
              <a:spcPct val="90000"/>
            </a:lnSpc>
            <a:spcBef>
              <a:spcPct val="0"/>
            </a:spcBef>
            <a:spcAft>
              <a:spcPct val="35000"/>
            </a:spcAft>
          </a:pPr>
          <a:r>
            <a:rPr lang="en-IN" sz="3200" kern="1200" dirty="0">
              <a:solidFill>
                <a:schemeClr val="accent1">
                  <a:lumMod val="75000"/>
                </a:schemeClr>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How does Lasso regression create sparsity?</a:t>
          </a:r>
          <a:endParaRPr lang="en-US" sz="3200" kern="1200" dirty="0">
            <a:solidFill>
              <a:schemeClr val="accent1">
                <a:lumMod val="75000"/>
              </a:schemeClr>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endParaRPr>
        </a:p>
      </dsp:txBody>
      <dsp:txXfrm>
        <a:off x="0" y="2214591"/>
        <a:ext cx="6900512" cy="1106957"/>
      </dsp:txXfrm>
    </dsp:sp>
    <dsp:sp modelId="{D93AB2E6-3471-474E-808E-200EC81C3B7B}">
      <dsp:nvSpPr>
        <dsp:cNvPr id="0" name=""/>
        <dsp:cNvSpPr/>
      </dsp:nvSpPr>
      <dsp:spPr>
        <a:xfrm>
          <a:off x="0" y="3321549"/>
          <a:ext cx="6900512"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CEAE57-892E-4626-83AE-F3C49A4E62D4}">
      <dsp:nvSpPr>
        <dsp:cNvPr id="0" name=""/>
        <dsp:cNvSpPr/>
      </dsp:nvSpPr>
      <dsp:spPr>
        <a:xfrm>
          <a:off x="0" y="3379299"/>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lvl="0" algn="l" defTabSz="1422400">
            <a:lnSpc>
              <a:spcPct val="90000"/>
            </a:lnSpc>
            <a:spcBef>
              <a:spcPct val="0"/>
            </a:spcBef>
            <a:spcAft>
              <a:spcPct val="35000"/>
            </a:spcAft>
          </a:pPr>
          <a:r>
            <a:rPr lang="en-IN" sz="3200" kern="1200" dirty="0">
              <a:solidFill>
                <a:schemeClr val="accent1">
                  <a:lumMod val="75000"/>
                </a:schemeClr>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Feature Selection using Lasso Regression</a:t>
          </a:r>
          <a:endParaRPr lang="en-US" sz="3200" kern="1200" dirty="0">
            <a:solidFill>
              <a:schemeClr val="accent1">
                <a:lumMod val="75000"/>
              </a:schemeClr>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endParaRPr>
        </a:p>
      </dsp:txBody>
      <dsp:txXfrm>
        <a:off x="0" y="3379299"/>
        <a:ext cx="6900512" cy="1106957"/>
      </dsp:txXfrm>
    </dsp:sp>
    <dsp:sp modelId="{D7B40E62-E0B7-4A0F-B639-34E71913B01C}">
      <dsp:nvSpPr>
        <dsp:cNvPr id="0" name=""/>
        <dsp:cNvSpPr/>
      </dsp:nvSpPr>
      <dsp:spPr>
        <a:xfrm>
          <a:off x="0" y="4428507"/>
          <a:ext cx="6900512"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ACAA5B6-9C7B-4971-A1CA-EFC1982227E0}">
      <dsp:nvSpPr>
        <dsp:cNvPr id="0" name=""/>
        <dsp:cNvSpPr/>
      </dsp:nvSpPr>
      <dsp:spPr>
        <a:xfrm>
          <a:off x="0" y="4429183"/>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lvl="0" algn="l" defTabSz="1422400">
            <a:lnSpc>
              <a:spcPct val="90000"/>
            </a:lnSpc>
            <a:spcBef>
              <a:spcPct val="0"/>
            </a:spcBef>
            <a:spcAft>
              <a:spcPct val="35000"/>
            </a:spcAft>
          </a:pPr>
          <a:r>
            <a:rPr lang="en-IN" sz="3200" kern="1200" dirty="0">
              <a:solidFill>
                <a:schemeClr val="accent1">
                  <a:lumMod val="75000"/>
                </a:schemeClr>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Evaluating the value of Hyperparameter</a:t>
          </a:r>
          <a:endParaRPr lang="en-US" sz="3200" kern="1200" dirty="0">
            <a:solidFill>
              <a:schemeClr val="accent1">
                <a:lumMod val="75000"/>
              </a:schemeClr>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endParaRPr>
        </a:p>
      </dsp:txBody>
      <dsp:txXfrm>
        <a:off x="0" y="4429183"/>
        <a:ext cx="6900512" cy="1106957"/>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2.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0ACDE8F2-98A2-485C-BE75-DC8A202A3424}" type="datetimeFigureOut">
              <a:rPr lang="en-IN" smtClean="0"/>
              <a:t>16-09-2025</a:t>
            </a:fld>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B57CD75-E4A8-46AF-B092-F110285E8C6F}" type="slidenum">
              <a:rPr lang="en-IN" smtClean="0"/>
              <a:t>‹#›</a:t>
            </a:fld>
            <a:endParaRPr lang="en-IN"/>
          </a:p>
        </p:txBody>
      </p:sp>
    </p:spTree>
    <p:extLst>
      <p:ext uri="{BB962C8B-B14F-4D97-AF65-F5344CB8AC3E}">
        <p14:creationId xmlns:p14="http://schemas.microsoft.com/office/powerpoint/2010/main" val="123960953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0ACDE8F2-98A2-485C-BE75-DC8A202A3424}" type="datetimeFigureOut">
              <a:rPr lang="en-IN" smtClean="0"/>
              <a:t>16-09-2025</a:t>
            </a:fld>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B57CD75-E4A8-46AF-B092-F110285E8C6F}" type="slidenum">
              <a:rPr lang="en-IN" smtClean="0"/>
              <a:t>‹#›</a:t>
            </a:fld>
            <a:endParaRPr lang="en-IN"/>
          </a:p>
        </p:txBody>
      </p:sp>
    </p:spTree>
    <p:extLst>
      <p:ext uri="{BB962C8B-B14F-4D97-AF65-F5344CB8AC3E}">
        <p14:creationId xmlns:p14="http://schemas.microsoft.com/office/powerpoint/2010/main" val="333217118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0ACDE8F2-98A2-485C-BE75-DC8A202A3424}" type="datetimeFigureOut">
              <a:rPr lang="en-IN" smtClean="0"/>
              <a:t>16-09-2025</a:t>
            </a:fld>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B57CD75-E4A8-46AF-B092-F110285E8C6F}" type="slidenum">
              <a:rPr lang="en-IN" smtClean="0"/>
              <a:t>‹#›</a:t>
            </a:fld>
            <a:endParaRPr lang="en-IN"/>
          </a:p>
        </p:txBody>
      </p:sp>
    </p:spTree>
    <p:extLst>
      <p:ext uri="{BB962C8B-B14F-4D97-AF65-F5344CB8AC3E}">
        <p14:creationId xmlns:p14="http://schemas.microsoft.com/office/powerpoint/2010/main" val="2651949409"/>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0ACDE8F2-98A2-485C-BE75-DC8A202A3424}" type="datetimeFigureOut">
              <a:rPr lang="en-IN" smtClean="0"/>
              <a:t>16-09-2025</a:t>
            </a:fld>
            <a:endParaRPr lang="en-IN"/>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3B57CD75-E4A8-46AF-B092-F110285E8C6F}" type="slidenum">
              <a:rPr lang="en-IN" smtClean="0"/>
              <a:t>‹#›</a:t>
            </a:fld>
            <a:endParaRPr lang="en-IN"/>
          </a:p>
        </p:txBody>
      </p:sp>
    </p:spTree>
    <p:extLst>
      <p:ext uri="{BB962C8B-B14F-4D97-AF65-F5344CB8AC3E}">
        <p14:creationId xmlns:p14="http://schemas.microsoft.com/office/powerpoint/2010/main" val="196567872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0ACDE8F2-98A2-485C-BE75-DC8A202A3424}" type="datetimeFigureOut">
              <a:rPr lang="en-IN" smtClean="0"/>
              <a:t>16-09-2025</a:t>
            </a:fld>
            <a:endParaRPr lang="en-IN"/>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IN"/>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3B57CD75-E4A8-46AF-B092-F110285E8C6F}" type="slidenum">
              <a:rPr lang="en-IN" smtClean="0"/>
              <a:t>‹#›</a:t>
            </a:fld>
            <a:endParaRPr lang="en-IN"/>
          </a:p>
        </p:txBody>
      </p:sp>
    </p:spTree>
    <p:extLst>
      <p:ext uri="{BB962C8B-B14F-4D97-AF65-F5344CB8AC3E}">
        <p14:creationId xmlns:p14="http://schemas.microsoft.com/office/powerpoint/2010/main" val="135155150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0ACDE8F2-98A2-485C-BE75-DC8A202A3424}" type="datetimeFigureOut">
              <a:rPr lang="en-IN" smtClean="0"/>
              <a:t>16-09-2025</a:t>
            </a:fld>
            <a:endParaRPr lang="en-IN"/>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IN"/>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3B57CD75-E4A8-46AF-B092-F110285E8C6F}" type="slidenum">
              <a:rPr lang="en-IN" smtClean="0"/>
              <a:t>‹#›</a:t>
            </a:fld>
            <a:endParaRPr lang="en-IN"/>
          </a:p>
        </p:txBody>
      </p:sp>
    </p:spTree>
    <p:extLst>
      <p:ext uri="{BB962C8B-B14F-4D97-AF65-F5344CB8AC3E}">
        <p14:creationId xmlns:p14="http://schemas.microsoft.com/office/powerpoint/2010/main" val="227668138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0ACDE8F2-98A2-485C-BE75-DC8A202A3424}" type="datetimeFigureOut">
              <a:rPr lang="en-IN" smtClean="0"/>
              <a:t>16-09-2025</a:t>
            </a:fld>
            <a:endParaRPr lang="en-IN"/>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IN"/>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3B57CD75-E4A8-46AF-B092-F110285E8C6F}" type="slidenum">
              <a:rPr lang="en-IN" smtClean="0"/>
              <a:t>‹#›</a:t>
            </a:fld>
            <a:endParaRPr lang="en-IN"/>
          </a:p>
        </p:txBody>
      </p:sp>
    </p:spTree>
    <p:extLst>
      <p:ext uri="{BB962C8B-B14F-4D97-AF65-F5344CB8AC3E}">
        <p14:creationId xmlns:p14="http://schemas.microsoft.com/office/powerpoint/2010/main" val="718725546"/>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0ACDE8F2-98A2-485C-BE75-DC8A202A3424}" type="datetimeFigureOut">
              <a:rPr lang="en-IN" smtClean="0"/>
              <a:t>16-09-2025</a:t>
            </a:fld>
            <a:endParaRPr lang="en-IN"/>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3B57CD75-E4A8-46AF-B092-F110285E8C6F}" type="slidenum">
              <a:rPr lang="en-IN" smtClean="0"/>
              <a:t>‹#›</a:t>
            </a:fld>
            <a:endParaRPr lang="en-IN"/>
          </a:p>
        </p:txBody>
      </p:sp>
    </p:spTree>
    <p:extLst>
      <p:ext uri="{BB962C8B-B14F-4D97-AF65-F5344CB8AC3E}">
        <p14:creationId xmlns:p14="http://schemas.microsoft.com/office/powerpoint/2010/main" val="170919218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0ACDE8F2-98A2-485C-BE75-DC8A202A3424}" type="datetimeFigureOut">
              <a:rPr lang="en-IN" smtClean="0"/>
              <a:t>16-09-2025</a:t>
            </a:fld>
            <a:endParaRPr lang="en-IN"/>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3B57CD75-E4A8-46AF-B092-F110285E8C6F}" type="slidenum">
              <a:rPr lang="en-IN" smtClean="0"/>
              <a:t>‹#›</a:t>
            </a:fld>
            <a:endParaRPr lang="en-IN"/>
          </a:p>
        </p:txBody>
      </p:sp>
    </p:spTree>
    <p:extLst>
      <p:ext uri="{BB962C8B-B14F-4D97-AF65-F5344CB8AC3E}">
        <p14:creationId xmlns:p14="http://schemas.microsoft.com/office/powerpoint/2010/main" val="21904511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0ACDE8F2-98A2-485C-BE75-DC8A202A3424}" type="datetimeFigureOut">
              <a:rPr lang="en-IN" smtClean="0"/>
              <a:t>16-09-2025</a:t>
            </a:fld>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B57CD75-E4A8-46AF-B092-F110285E8C6F}" type="slidenum">
              <a:rPr lang="en-IN" smtClean="0"/>
              <a:t>‹#›</a:t>
            </a:fld>
            <a:endParaRPr lang="en-IN"/>
          </a:p>
        </p:txBody>
      </p:sp>
    </p:spTree>
    <p:extLst>
      <p:ext uri="{BB962C8B-B14F-4D97-AF65-F5344CB8AC3E}">
        <p14:creationId xmlns:p14="http://schemas.microsoft.com/office/powerpoint/2010/main" val="3467587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0ACDE8F2-98A2-485C-BE75-DC8A202A3424}" type="datetimeFigureOut">
              <a:rPr lang="en-IN" smtClean="0"/>
              <a:t>16-09-2025</a:t>
            </a:fld>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B57CD75-E4A8-46AF-B092-F110285E8C6F}" type="slidenum">
              <a:rPr lang="en-IN" smtClean="0"/>
              <a:t>‹#›</a:t>
            </a:fld>
            <a:endParaRPr lang="en-IN"/>
          </a:p>
        </p:txBody>
      </p:sp>
    </p:spTree>
    <p:extLst>
      <p:ext uri="{BB962C8B-B14F-4D97-AF65-F5344CB8AC3E}">
        <p14:creationId xmlns:p14="http://schemas.microsoft.com/office/powerpoint/2010/main" val="15260003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FE3FB796-F635-44EA-82F1-A79B06A480C9}" type="datetimeFigureOut">
              <a:rPr lang="en-IN" smtClean="0"/>
              <a:t>16-09-2025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E5E745-D452-42BC-9C3C-54FB170DCCD6}" type="slidenum">
              <a:rPr lang="en-IN" smtClean="0"/>
              <a:t>‹#›</a:t>
            </a:fld>
            <a:endParaRPr lang="en-IN"/>
          </a:p>
        </p:txBody>
      </p:sp>
    </p:spTree>
    <p:extLst>
      <p:ext uri="{BB962C8B-B14F-4D97-AF65-F5344CB8AC3E}">
        <p14:creationId xmlns:p14="http://schemas.microsoft.com/office/powerpoint/2010/main" val="5624497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E3FB796-F635-44EA-82F1-A79B06A480C9}" type="datetimeFigureOut">
              <a:rPr lang="en-IN" smtClean="0"/>
              <a:t>16-09-2025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E5E745-D452-42BC-9C3C-54FB170DCCD6}" type="slidenum">
              <a:rPr lang="en-IN" smtClean="0"/>
              <a:t>‹#›</a:t>
            </a:fld>
            <a:endParaRPr lang="en-IN"/>
          </a:p>
        </p:txBody>
      </p:sp>
    </p:spTree>
    <p:extLst>
      <p:ext uri="{BB962C8B-B14F-4D97-AF65-F5344CB8AC3E}">
        <p14:creationId xmlns:p14="http://schemas.microsoft.com/office/powerpoint/2010/main" val="22108725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E3FB796-F635-44EA-82F1-A79B06A480C9}" type="datetimeFigureOut">
              <a:rPr lang="en-IN" smtClean="0"/>
              <a:t>16-09-2025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E5E745-D452-42BC-9C3C-54FB170DCCD6}" type="slidenum">
              <a:rPr lang="en-IN" smtClean="0"/>
              <a:t>‹#›</a:t>
            </a:fld>
            <a:endParaRPr lang="en-IN"/>
          </a:p>
        </p:txBody>
      </p:sp>
    </p:spTree>
    <p:extLst>
      <p:ext uri="{BB962C8B-B14F-4D97-AF65-F5344CB8AC3E}">
        <p14:creationId xmlns:p14="http://schemas.microsoft.com/office/powerpoint/2010/main" val="24799602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FE3FB796-F635-44EA-82F1-A79B06A480C9}" type="datetimeFigureOut">
              <a:rPr lang="en-IN" smtClean="0"/>
              <a:t>16-09-2025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DE5E745-D452-42BC-9C3C-54FB170DCCD6}" type="slidenum">
              <a:rPr lang="en-IN" smtClean="0"/>
              <a:t>‹#›</a:t>
            </a:fld>
            <a:endParaRPr lang="en-IN"/>
          </a:p>
        </p:txBody>
      </p:sp>
    </p:spTree>
    <p:extLst>
      <p:ext uri="{BB962C8B-B14F-4D97-AF65-F5344CB8AC3E}">
        <p14:creationId xmlns:p14="http://schemas.microsoft.com/office/powerpoint/2010/main" val="31414425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FE3FB796-F635-44EA-82F1-A79B06A480C9}" type="datetimeFigureOut">
              <a:rPr lang="en-IN" smtClean="0"/>
              <a:t>16-09-2025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DE5E745-D452-42BC-9C3C-54FB170DCCD6}" type="slidenum">
              <a:rPr lang="en-IN" smtClean="0"/>
              <a:t>‹#›</a:t>
            </a:fld>
            <a:endParaRPr lang="en-IN"/>
          </a:p>
        </p:txBody>
      </p:sp>
    </p:spTree>
    <p:extLst>
      <p:ext uri="{BB962C8B-B14F-4D97-AF65-F5344CB8AC3E}">
        <p14:creationId xmlns:p14="http://schemas.microsoft.com/office/powerpoint/2010/main" val="30060195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FE3FB796-F635-44EA-82F1-A79B06A480C9}" type="datetimeFigureOut">
              <a:rPr lang="en-IN" smtClean="0"/>
              <a:t>16-09-2025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DE5E745-D452-42BC-9C3C-54FB170DCCD6}" type="slidenum">
              <a:rPr lang="en-IN" smtClean="0"/>
              <a:t>‹#›</a:t>
            </a:fld>
            <a:endParaRPr lang="en-IN"/>
          </a:p>
        </p:txBody>
      </p:sp>
    </p:spTree>
    <p:extLst>
      <p:ext uri="{BB962C8B-B14F-4D97-AF65-F5344CB8AC3E}">
        <p14:creationId xmlns:p14="http://schemas.microsoft.com/office/powerpoint/2010/main" val="19061817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E3FB796-F635-44EA-82F1-A79B06A480C9}" type="datetimeFigureOut">
              <a:rPr lang="en-IN" smtClean="0"/>
              <a:t>16-09-2025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DE5E745-D452-42BC-9C3C-54FB170DCCD6}" type="slidenum">
              <a:rPr lang="en-IN" smtClean="0"/>
              <a:t>‹#›</a:t>
            </a:fld>
            <a:endParaRPr lang="en-IN"/>
          </a:p>
        </p:txBody>
      </p:sp>
    </p:spTree>
    <p:extLst>
      <p:ext uri="{BB962C8B-B14F-4D97-AF65-F5344CB8AC3E}">
        <p14:creationId xmlns:p14="http://schemas.microsoft.com/office/powerpoint/2010/main" val="993894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E3FB796-F635-44EA-82F1-A79B06A480C9}" type="datetimeFigureOut">
              <a:rPr lang="en-IN" smtClean="0"/>
              <a:t>16-09-2025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DE5E745-D452-42BC-9C3C-54FB170DCCD6}" type="slidenum">
              <a:rPr lang="en-IN" smtClean="0"/>
              <a:t>‹#›</a:t>
            </a:fld>
            <a:endParaRPr lang="en-IN"/>
          </a:p>
        </p:txBody>
      </p:sp>
    </p:spTree>
    <p:extLst>
      <p:ext uri="{BB962C8B-B14F-4D97-AF65-F5344CB8AC3E}">
        <p14:creationId xmlns:p14="http://schemas.microsoft.com/office/powerpoint/2010/main" val="30003619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E3FB796-F635-44EA-82F1-A79B06A480C9}" type="datetimeFigureOut">
              <a:rPr lang="en-IN" smtClean="0"/>
              <a:t>16-09-2025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DE5E745-D452-42BC-9C3C-54FB170DCCD6}" type="slidenum">
              <a:rPr lang="en-IN" smtClean="0"/>
              <a:t>‹#›</a:t>
            </a:fld>
            <a:endParaRPr lang="en-IN"/>
          </a:p>
        </p:txBody>
      </p:sp>
    </p:spTree>
    <p:extLst>
      <p:ext uri="{BB962C8B-B14F-4D97-AF65-F5344CB8AC3E}">
        <p14:creationId xmlns:p14="http://schemas.microsoft.com/office/powerpoint/2010/main" val="16952722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E3FB796-F635-44EA-82F1-A79B06A480C9}" type="datetimeFigureOut">
              <a:rPr lang="en-IN" smtClean="0"/>
              <a:t>16-09-2025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E5E745-D452-42BC-9C3C-54FB170DCCD6}" type="slidenum">
              <a:rPr lang="en-IN" smtClean="0"/>
              <a:t>‹#›</a:t>
            </a:fld>
            <a:endParaRPr lang="en-IN"/>
          </a:p>
        </p:txBody>
      </p:sp>
    </p:spTree>
    <p:extLst>
      <p:ext uri="{BB962C8B-B14F-4D97-AF65-F5344CB8AC3E}">
        <p14:creationId xmlns:p14="http://schemas.microsoft.com/office/powerpoint/2010/main" val="41324308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E3FB796-F635-44EA-82F1-A79B06A480C9}" type="datetimeFigureOut">
              <a:rPr lang="en-IN" smtClean="0"/>
              <a:t>16-09-2025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E5E745-D452-42BC-9C3C-54FB170DCCD6}" type="slidenum">
              <a:rPr lang="en-IN" smtClean="0"/>
              <a:t>‹#›</a:t>
            </a:fld>
            <a:endParaRPr lang="en-IN"/>
          </a:p>
        </p:txBody>
      </p:sp>
    </p:spTree>
    <p:extLst>
      <p:ext uri="{BB962C8B-B14F-4D97-AF65-F5344CB8AC3E}">
        <p14:creationId xmlns:p14="http://schemas.microsoft.com/office/powerpoint/2010/main" val="1132794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3">
                <a:lumMod val="0"/>
                <a:lumOff val="100000"/>
              </a:schemeClr>
            </a:gs>
            <a:gs pos="40000">
              <a:schemeClr val="accent3">
                <a:alpha val="0"/>
                <a:lumMod val="0"/>
                <a:lumOff val="100000"/>
              </a:schemeClr>
            </a:gs>
            <a:gs pos="100000">
              <a:schemeClr val="accent3">
                <a:lumMod val="100000"/>
              </a:schemeClr>
            </a:gs>
          </a:gsLst>
          <a:lin ang="27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smtClean="0"/>
              <a:t>Why use Lasso?</a:t>
            </a:r>
          </a:p>
          <a:p>
            <a:pPr lvl="1"/>
            <a:r>
              <a:rPr lang="en-US" dirty="0" smtClean="0"/>
              <a:t>Lasso stands for </a:t>
            </a:r>
            <a:r>
              <a:rPr lang="en-IN" sz="2400" dirty="0" smtClean="0">
                <a:effectLst/>
                <a:latin typeface="Helvetica" panose="020B0604020202020204" pitchFamily="34" charset="0"/>
                <a:ea typeface="Calibri" panose="020F0502020204030204" pitchFamily="34" charset="0"/>
                <a:cs typeface="Times New Roman" panose="02020603050405020304" pitchFamily="18" charset="0"/>
              </a:rPr>
              <a:t>Least Absolute Shrinkage and Selection Operator </a:t>
            </a:r>
          </a:p>
          <a:p>
            <a:pPr lvl="1"/>
            <a:r>
              <a:rPr lang="en-IN" dirty="0" smtClean="0"/>
              <a:t>It is a regression method that shrinks coefficients and can even set some of them exactly to zero.</a:t>
            </a:r>
            <a:endParaRPr lang="en-US" dirty="0" smtClean="0"/>
          </a:p>
          <a:p>
            <a:pPr lvl="1"/>
            <a:endParaRPr lang="en-US" dirty="0" smtClean="0"/>
          </a:p>
          <a:p>
            <a:pPr lvl="1"/>
            <a:endParaRPr lang="en-US" dirty="0" smtClean="0"/>
          </a:p>
        </p:txBody>
      </p:sp>
    </p:spTree>
    <p:extLst>
      <p:ext uri="{BB962C8B-B14F-4D97-AF65-F5344CB8AC3E}">
        <p14:creationId xmlns:p14="http://schemas.microsoft.com/office/powerpoint/2010/main" val="1607978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mn-lt"/>
          <a:ea typeface="+mn-ea"/>
          <a:cs typeface="+mn-cs"/>
        </a:defRPr>
      </a:lvl1pPr>
      <a:lvl2pPr marL="800100" indent="-3429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3">
                <a:lumMod val="0"/>
                <a:lumOff val="100000"/>
              </a:schemeClr>
            </a:gs>
            <a:gs pos="40000">
              <a:schemeClr val="accent3">
                <a:alpha val="0"/>
                <a:lumMod val="0"/>
                <a:lumOff val="100000"/>
              </a:schemeClr>
            </a:gs>
            <a:gs pos="100000">
              <a:schemeClr val="accent3">
                <a:lumMod val="100000"/>
              </a:schemeClr>
            </a:gs>
          </a:gsLst>
          <a:lin ang="27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3FB796-F635-44EA-82F1-A79B06A480C9}" type="datetimeFigureOut">
              <a:rPr lang="en-IN" smtClean="0"/>
              <a:t>16-09-2025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E5E745-D452-42BC-9C3C-54FB170DCCD6}" type="slidenum">
              <a:rPr lang="en-IN" smtClean="0"/>
              <a:t>‹#›</a:t>
            </a:fld>
            <a:endParaRPr lang="en-IN"/>
          </a:p>
        </p:txBody>
      </p:sp>
    </p:spTree>
    <p:extLst>
      <p:ext uri="{BB962C8B-B14F-4D97-AF65-F5344CB8AC3E}">
        <p14:creationId xmlns:p14="http://schemas.microsoft.com/office/powerpoint/2010/main" val="42469640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microsoft.com/office/2007/relationships/hdphoto" Target="../media/hdphoto2.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101.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2.emf"/></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jstor.org/stable/41262671" TargetMode="External"/><Relationship Id="rId2" Type="http://schemas.openxmlformats.org/officeDocument/2006/relationships/hyperlink" Target="https://www.jstor.org/stable/2346178" TargetMode="External"/><Relationship Id="rId1" Type="http://schemas.openxmlformats.org/officeDocument/2006/relationships/slideLayout" Target="../slideLayouts/slideLayout2.xml"/><Relationship Id="rId6" Type="http://schemas.openxmlformats.org/officeDocument/2006/relationships/hyperlink" Target="http://www.youtube.com/KrishNaik" TargetMode="External"/><Relationship Id="rId5" Type="http://schemas.openxmlformats.org/officeDocument/2006/relationships/hyperlink" Target="http://www.youtube.com/campusx" TargetMode="External"/><Relationship Id="rId4" Type="http://schemas.openxmlformats.org/officeDocument/2006/relationships/hyperlink" Target="https://youtu.be/3rvl4KV41JE?si=tFetYPHxh2eKmxa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Spotlight on red theatre curtain">
            <a:extLst>
              <a:ext uri="{FF2B5EF4-FFF2-40B4-BE49-F238E27FC236}">
                <a16:creationId xmlns:a16="http://schemas.microsoft.com/office/drawing/2014/main" id="{88012143-50D7-8A3E-058F-618FAF655836}"/>
              </a:ext>
            </a:extLst>
          </p:cNvPr>
          <p:cNvPicPr>
            <a:picLocks noChangeAspect="1"/>
          </p:cNvPicPr>
          <p:nvPr/>
        </p:nvPicPr>
        <p:blipFill>
          <a:blip r:embed="rId2" cstate="print">
            <a:alphaModFix amt="85000"/>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562055" y="-681525"/>
            <a:ext cx="7270864" cy="2810971"/>
          </a:xfrm>
        </p:spPr>
        <p:txBody>
          <a:bodyPr/>
          <a:lstStyle/>
          <a:p>
            <a:r>
              <a:rPr lang="en-US"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Feature Selection: Spotlight on</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B5FBB2C-90B0-BF6B-4095-549BFC16EFE5}"/>
              </a:ext>
            </a:extLst>
          </p:cNvPr>
          <p:cNvSpPr txBox="1"/>
          <p:nvPr/>
        </p:nvSpPr>
        <p:spPr>
          <a:xfrm>
            <a:off x="6096000" y="5516010"/>
            <a:ext cx="5904232" cy="1015663"/>
          </a:xfrm>
          <a:prstGeom prst="rect">
            <a:avLst/>
          </a:prstGeom>
          <a:noFill/>
        </p:spPr>
        <p:txBody>
          <a:bodyPr wrap="square" rtlCol="0">
            <a:spAutoFit/>
          </a:bodyPr>
          <a:lstStyle/>
          <a:p>
            <a:pPr algn="r"/>
            <a:r>
              <a:rPr lang="en-US" sz="2000" i="1" dirty="0">
                <a:solidFill>
                  <a:schemeClr val="bg1"/>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Seminar by: </a:t>
            </a:r>
          </a:p>
          <a:p>
            <a:pPr algn="r"/>
            <a:r>
              <a:rPr lang="en-US" sz="2000" dirty="0">
                <a:solidFill>
                  <a:schemeClr val="bg1"/>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Alokchandra Jha</a:t>
            </a:r>
          </a:p>
          <a:p>
            <a:pPr algn="r"/>
            <a:r>
              <a:rPr lang="en-US" sz="2000" dirty="0">
                <a:solidFill>
                  <a:schemeClr val="bg1"/>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M.Sc. (Statistics)</a:t>
            </a:r>
            <a:endParaRPr lang="en-IN" sz="2000" dirty="0">
              <a:solidFill>
                <a:schemeClr val="bg1"/>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endParaRPr>
          </a:p>
        </p:txBody>
      </p:sp>
      <p:sp>
        <p:nvSpPr>
          <p:cNvPr id="16" name="TextBox 15">
            <a:extLst>
              <a:ext uri="{FF2B5EF4-FFF2-40B4-BE49-F238E27FC236}">
                <a16:creationId xmlns:a16="http://schemas.microsoft.com/office/drawing/2014/main" id="{9594A041-7741-166D-F964-BB93D6B66258}"/>
              </a:ext>
            </a:extLst>
          </p:cNvPr>
          <p:cNvSpPr txBox="1"/>
          <p:nvPr/>
        </p:nvSpPr>
        <p:spPr>
          <a:xfrm>
            <a:off x="5082139" y="2279940"/>
            <a:ext cx="4945198" cy="2554545"/>
          </a:xfrm>
          <a:prstGeom prst="rect">
            <a:avLst/>
          </a:prstGeom>
          <a:noFill/>
        </p:spPr>
        <p:txBody>
          <a:bodyPr wrap="square" rtlCol="0">
            <a:spAutoFit/>
          </a:bodyPr>
          <a:lstStyle/>
          <a:p>
            <a:r>
              <a:rPr lang="en-US" sz="8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Lasso Regression</a:t>
            </a:r>
            <a:endParaRPr lang="en-IN" sz="8000" dirty="0"/>
          </a:p>
        </p:txBody>
      </p:sp>
      <p:sp>
        <p:nvSpPr>
          <p:cNvPr id="3" name="TextBox 2"/>
          <p:cNvSpPr txBox="1"/>
          <p:nvPr/>
        </p:nvSpPr>
        <p:spPr>
          <a:xfrm>
            <a:off x="334963" y="3137622"/>
            <a:ext cx="3072384" cy="369332"/>
          </a:xfrm>
          <a:prstGeom prst="rect">
            <a:avLst/>
          </a:prstGeom>
          <a:noFill/>
        </p:spPr>
        <p:txBody>
          <a:bodyPr wrap="square" rtlCol="0">
            <a:spAutoFit/>
          </a:bodyPr>
          <a:lstStyle/>
          <a:p>
            <a:r>
              <a:rPr lang="en-IN" i="1" dirty="0" smtClean="0">
                <a:solidFill>
                  <a:schemeClr val="bg1"/>
                </a:solidFill>
                <a:latin typeface="Helvetica" panose="020B0604020202020204" pitchFamily="34" charset="0"/>
                <a:cs typeface="Helvetica" panose="020B0604020202020204" pitchFamily="34" charset="0"/>
              </a:rPr>
              <a:t>Presented at </a:t>
            </a:r>
            <a:r>
              <a:rPr lang="en-IN" dirty="0" smtClean="0">
                <a:solidFill>
                  <a:schemeClr val="bg1"/>
                </a:solidFill>
                <a:latin typeface="Helvetica" panose="020B0604020202020204" pitchFamily="34" charset="0"/>
                <a:cs typeface="Helvetica" panose="020B0604020202020204" pitchFamily="34" charset="0"/>
              </a:rPr>
              <a:t>:</a:t>
            </a:r>
            <a:endParaRPr lang="en-IN" dirty="0">
              <a:solidFill>
                <a:schemeClr val="bg1"/>
              </a:solidFill>
              <a:latin typeface="Helvetica" panose="020B0604020202020204" pitchFamily="34" charset="0"/>
              <a:cs typeface="Helvetica" panose="020B0604020202020204" pitchFamily="34" charset="0"/>
            </a:endParaRPr>
          </a:p>
        </p:txBody>
      </p:sp>
      <p:pic>
        <p:nvPicPr>
          <p:cNvPr id="4" name="Picture 3"/>
          <p:cNvPicPr>
            <a:picLocks noChangeAspect="1"/>
          </p:cNvPicPr>
          <p:nvPr/>
        </p:nvPicPr>
        <p:blipFill>
          <a:blip r:embed="rId4">
            <a:duotone>
              <a:schemeClr val="bg2">
                <a:shade val="45000"/>
                <a:satMod val="135000"/>
              </a:schemeClr>
              <a:prstClr val="white"/>
            </a:duotone>
            <a:extLst>
              <a:ext uri="{BEBA8EAE-BF5A-486C-A8C5-ECC9F3942E4B}">
                <a14:imgProps xmlns:a14="http://schemas.microsoft.com/office/drawing/2010/main">
                  <a14:imgLayer r:embed="rId5">
                    <a14:imgEffect>
                      <a14:artisticTexturizer/>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34963" y="3618929"/>
            <a:ext cx="1995282" cy="1692112"/>
          </a:xfrm>
          <a:prstGeom prst="rect">
            <a:avLst/>
          </a:prstGeom>
        </p:spPr>
      </p:pic>
      <p:sp>
        <p:nvSpPr>
          <p:cNvPr id="8" name="TextBox 7"/>
          <p:cNvSpPr txBox="1"/>
          <p:nvPr/>
        </p:nvSpPr>
        <p:spPr>
          <a:xfrm>
            <a:off x="334963" y="5423017"/>
            <a:ext cx="3072384" cy="1015663"/>
          </a:xfrm>
          <a:prstGeom prst="rect">
            <a:avLst/>
          </a:prstGeom>
          <a:noFill/>
        </p:spPr>
        <p:txBody>
          <a:bodyPr wrap="square" rtlCol="0">
            <a:spAutoFit/>
          </a:bodyPr>
          <a:lstStyle/>
          <a:p>
            <a:r>
              <a:rPr lang="en-IN" sz="2000" i="1" dirty="0" smtClean="0">
                <a:solidFill>
                  <a:schemeClr val="bg1"/>
                </a:solidFill>
                <a:latin typeface="Helvetica" panose="020B0604020202020204" pitchFamily="34" charset="0"/>
                <a:cs typeface="Helvetica" panose="020B0604020202020204" pitchFamily="34" charset="0"/>
              </a:rPr>
              <a:t>In the presence of:</a:t>
            </a:r>
          </a:p>
          <a:p>
            <a:r>
              <a:rPr lang="en-IN" sz="2000" dirty="0" err="1" smtClean="0">
                <a:solidFill>
                  <a:schemeClr val="bg1"/>
                </a:solidFill>
                <a:latin typeface="Helvetica" panose="020B0604020202020204" pitchFamily="34" charset="0"/>
                <a:cs typeface="Helvetica" panose="020B0604020202020204" pitchFamily="34" charset="0"/>
              </a:rPr>
              <a:t>Dr.</a:t>
            </a:r>
            <a:r>
              <a:rPr lang="en-IN" sz="2000" dirty="0" smtClean="0">
                <a:solidFill>
                  <a:schemeClr val="bg1"/>
                </a:solidFill>
                <a:latin typeface="Helvetica" panose="020B0604020202020204" pitchFamily="34" charset="0"/>
                <a:cs typeface="Helvetica" panose="020B0604020202020204" pitchFamily="34" charset="0"/>
              </a:rPr>
              <a:t> </a:t>
            </a:r>
            <a:r>
              <a:rPr lang="en-IN" sz="2000" dirty="0" err="1" smtClean="0">
                <a:solidFill>
                  <a:schemeClr val="bg1"/>
                </a:solidFill>
                <a:latin typeface="Helvetica" panose="020B0604020202020204" pitchFamily="34" charset="0"/>
                <a:cs typeface="Helvetica" panose="020B0604020202020204" pitchFamily="34" charset="0"/>
              </a:rPr>
              <a:t>Deepa</a:t>
            </a:r>
            <a:r>
              <a:rPr lang="en-IN" sz="2000" dirty="0" smtClean="0">
                <a:solidFill>
                  <a:schemeClr val="bg1"/>
                </a:solidFill>
                <a:latin typeface="Helvetica" panose="020B0604020202020204" pitchFamily="34" charset="0"/>
                <a:cs typeface="Helvetica" panose="020B0604020202020204" pitchFamily="34" charset="0"/>
              </a:rPr>
              <a:t> </a:t>
            </a:r>
            <a:r>
              <a:rPr lang="en-IN" sz="2000" dirty="0" err="1" smtClean="0">
                <a:solidFill>
                  <a:schemeClr val="bg1"/>
                </a:solidFill>
                <a:latin typeface="Helvetica" panose="020B0604020202020204" pitchFamily="34" charset="0"/>
                <a:cs typeface="Helvetica" panose="020B0604020202020204" pitchFamily="34" charset="0"/>
              </a:rPr>
              <a:t>Kandpal</a:t>
            </a:r>
            <a:endParaRPr lang="en-IN" sz="2000" dirty="0" smtClean="0">
              <a:solidFill>
                <a:schemeClr val="bg1"/>
              </a:solidFill>
              <a:latin typeface="Helvetica" panose="020B0604020202020204" pitchFamily="34" charset="0"/>
              <a:cs typeface="Helvetica" panose="020B0604020202020204" pitchFamily="34" charset="0"/>
            </a:endParaRPr>
          </a:p>
          <a:p>
            <a:r>
              <a:rPr lang="en-IN" sz="2000" dirty="0" err="1" smtClean="0">
                <a:solidFill>
                  <a:schemeClr val="bg1"/>
                </a:solidFill>
                <a:latin typeface="Helvetica" panose="020B0604020202020204" pitchFamily="34" charset="0"/>
                <a:cs typeface="Helvetica" panose="020B0604020202020204" pitchFamily="34" charset="0"/>
              </a:rPr>
              <a:t>Dr.</a:t>
            </a:r>
            <a:r>
              <a:rPr lang="en-IN" sz="2000" dirty="0" smtClean="0">
                <a:solidFill>
                  <a:schemeClr val="bg1"/>
                </a:solidFill>
                <a:latin typeface="Helvetica" panose="020B0604020202020204" pitchFamily="34" charset="0"/>
                <a:cs typeface="Helvetica" panose="020B0604020202020204" pitchFamily="34" charset="0"/>
              </a:rPr>
              <a:t> Manisha Pandya</a:t>
            </a:r>
            <a:endParaRPr lang="en-IN" sz="2000" dirty="0">
              <a:solidFill>
                <a:schemeClr val="bg1"/>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2347550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40069" y="2492324"/>
            <a:ext cx="3418659" cy="1873352"/>
          </a:xfrm>
        </p:spPr>
        <p:txBody>
          <a:bodyPr anchor="ctr">
            <a:normAutofit/>
          </a:bodyPr>
          <a:lstStyle/>
          <a:p>
            <a:r>
              <a:rPr lang="en-IN" sz="5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Contents</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D00D20EC-5F9F-DB35-559A-4F868CC26080}"/>
              </a:ext>
            </a:extLst>
          </p:cNvPr>
          <p:cNvGraphicFramePr>
            <a:graphicFrameLocks noGrp="1"/>
          </p:cNvGraphicFramePr>
          <p:nvPr>
            <p:ph idx="1"/>
            <p:extLst>
              <p:ext uri="{D42A27DB-BD31-4B8C-83A1-F6EECF244321}">
                <p14:modId xmlns:p14="http://schemas.microsoft.com/office/powerpoint/2010/main" val="49982090"/>
              </p:ext>
            </p:extLst>
          </p:nvPr>
        </p:nvGraphicFramePr>
        <p:xfrm>
          <a:off x="4671049" y="70379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205572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4963" y="0"/>
            <a:ext cx="10515600" cy="1325563"/>
          </a:xfrm>
        </p:spPr>
        <p:txBody>
          <a:bodyPr>
            <a:normAutofit/>
          </a:bodyPr>
          <a:lstStyle/>
          <a:p>
            <a:r>
              <a:rPr lang="en-IN" sz="48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need for </a:t>
            </a:r>
            <a:r>
              <a:rPr lang="en-IN" sz="4800" b="1"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Lasso Regression</a:t>
            </a:r>
            <a:endParaRPr lang="en-IN" sz="4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271588" y="2003644"/>
            <a:ext cx="6701980" cy="4701956"/>
          </a:xfrm>
          <a:effectLst>
            <a:innerShdw blurRad="114300">
              <a:prstClr val="black"/>
            </a:innerShdw>
          </a:effectLst>
        </p:spPr>
      </p:pic>
      <p:sp>
        <p:nvSpPr>
          <p:cNvPr id="7" name="TextBox 6"/>
          <p:cNvSpPr txBox="1"/>
          <p:nvPr/>
        </p:nvSpPr>
        <p:spPr>
          <a:xfrm>
            <a:off x="334963" y="1341438"/>
            <a:ext cx="11479085" cy="646331"/>
          </a:xfrm>
          <a:prstGeom prst="rect">
            <a:avLst/>
          </a:prstGeom>
          <a:noFill/>
        </p:spPr>
        <p:txBody>
          <a:bodyPr wrap="square" rtlCol="0">
            <a:spAutoFit/>
          </a:bodyPr>
          <a:lstStyle/>
          <a:p>
            <a:r>
              <a:rPr lang="en-IN" dirty="0" smtClean="0">
                <a:latin typeface="Helvetica" panose="020B0604020202020204" pitchFamily="34" charset="0"/>
                <a:cs typeface="Helvetica" panose="020B0604020202020204" pitchFamily="34" charset="0"/>
              </a:rPr>
              <a:t>To begin with, consider a </a:t>
            </a:r>
            <a:r>
              <a:rPr lang="en-IN" dirty="0" smtClean="0">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hypothetical</a:t>
            </a:r>
            <a:r>
              <a:rPr lang="en-IN" dirty="0" smtClean="0">
                <a:latin typeface="Helvetica" panose="020B0604020202020204" pitchFamily="34" charset="0"/>
                <a:cs typeface="Helvetica" panose="020B0604020202020204" pitchFamily="34" charset="0"/>
              </a:rPr>
              <a:t> example dataset which shows the effect of experience on one’s salary. Let the data be visualised as this: </a:t>
            </a:r>
            <a:endParaRPr lang="en-IN" dirty="0">
              <a:latin typeface="Helvetica" panose="020B0604020202020204" pitchFamily="34" charset="0"/>
              <a:cs typeface="Helvetica" panose="020B0604020202020204" pitchFamily="34" charset="0"/>
            </a:endParaRPr>
          </a:p>
        </p:txBody>
      </p:sp>
      <p:sp>
        <p:nvSpPr>
          <p:cNvPr id="3" name="TextBox 2"/>
          <p:cNvSpPr txBox="1"/>
          <p:nvPr/>
        </p:nvSpPr>
        <p:spPr>
          <a:xfrm>
            <a:off x="8150670" y="2474976"/>
            <a:ext cx="3706368" cy="2585323"/>
          </a:xfrm>
          <a:prstGeom prst="rect">
            <a:avLst/>
          </a:prstGeom>
          <a:noFill/>
        </p:spPr>
        <p:txBody>
          <a:bodyPr wrap="square" rtlCol="0">
            <a:spAutoFit/>
          </a:bodyPr>
          <a:lstStyle/>
          <a:p>
            <a:r>
              <a:rPr lang="en-IN" dirty="0" smtClean="0">
                <a:latin typeface="Helvetica" panose="020B0604020202020204" pitchFamily="34" charset="0"/>
                <a:cs typeface="Helvetica" panose="020B0604020202020204" pitchFamily="34" charset="0"/>
              </a:rPr>
              <a:t>Here, we have experience on X axis and we have assumed that the </a:t>
            </a:r>
            <a:r>
              <a:rPr lang="en-IN" b="1" dirty="0" smtClean="0">
                <a:latin typeface="Helvetica" panose="020B0604020202020204" pitchFamily="34" charset="0"/>
                <a:cs typeface="Helvetica" panose="020B0604020202020204" pitchFamily="34" charset="0"/>
              </a:rPr>
              <a:t>salary depends upon the experience</a:t>
            </a:r>
            <a:r>
              <a:rPr lang="en-IN" dirty="0" smtClean="0">
                <a:latin typeface="Helvetica" panose="020B0604020202020204" pitchFamily="34" charset="0"/>
                <a:cs typeface="Helvetica" panose="020B0604020202020204" pitchFamily="34" charset="0"/>
              </a:rPr>
              <a:t>, and therefore on Y axis we have salary values.</a:t>
            </a:r>
          </a:p>
          <a:p>
            <a:endParaRPr lang="en-IN" dirty="0">
              <a:latin typeface="Helvetica" panose="020B0604020202020204" pitchFamily="34" charset="0"/>
              <a:cs typeface="Helvetica" panose="020B0604020202020204" pitchFamily="34" charset="0"/>
            </a:endParaRPr>
          </a:p>
          <a:p>
            <a:r>
              <a:rPr lang="en-IN" dirty="0" smtClean="0">
                <a:latin typeface="Helvetica" panose="020B0604020202020204" pitchFamily="34" charset="0"/>
                <a:cs typeface="Helvetica" panose="020B0604020202020204" pitchFamily="34" charset="0"/>
              </a:rPr>
              <a:t>One can observe that the data may looks linear but nothing can be said about the true relationship. </a:t>
            </a:r>
            <a:endParaRPr lang="en-IN"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5716263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592262"/>
            <a:ext cx="6096000" cy="4223321"/>
          </a:xfrm>
          <a:prstGeom prst="rect">
            <a:avLst/>
          </a:prstGeom>
          <a:effectLst>
            <a:innerShdw blurRad="114300">
              <a:prstClr val="black"/>
            </a:innerShdw>
          </a:effectLst>
        </p:spPr>
      </p:pic>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96000" y="1592262"/>
            <a:ext cx="6096000" cy="4223322"/>
          </a:xfrm>
          <a:prstGeom prst="rect">
            <a:avLst/>
          </a:prstGeom>
          <a:effectLst>
            <a:innerShdw blurRad="114300">
              <a:prstClr val="black"/>
            </a:innerShdw>
          </a:effectLst>
        </p:spPr>
      </p:pic>
      <p:sp>
        <p:nvSpPr>
          <p:cNvPr id="2" name="TextBox 1"/>
          <p:cNvSpPr txBox="1"/>
          <p:nvPr/>
        </p:nvSpPr>
        <p:spPr>
          <a:xfrm>
            <a:off x="334962" y="512227"/>
            <a:ext cx="11522075" cy="369332"/>
          </a:xfrm>
          <a:prstGeom prst="rect">
            <a:avLst/>
          </a:prstGeom>
          <a:noFill/>
        </p:spPr>
        <p:txBody>
          <a:bodyPr wrap="square" rtlCol="0">
            <a:spAutoFit/>
          </a:bodyPr>
          <a:lstStyle/>
          <a:p>
            <a:r>
              <a:rPr lang="en-IN" dirty="0" smtClean="0">
                <a:latin typeface="Helvetica" panose="020B0604020202020204" pitchFamily="34" charset="0"/>
                <a:cs typeface="Helvetica" panose="020B0604020202020204" pitchFamily="34" charset="0"/>
              </a:rPr>
              <a:t>Next, we split our data into training data and test data in </a:t>
            </a:r>
            <a:r>
              <a:rPr lang="en-IN" b="1" dirty="0" smtClean="0">
                <a:latin typeface="Helvetica" panose="020B0604020202020204" pitchFamily="34" charset="0"/>
                <a:cs typeface="Helvetica" panose="020B0604020202020204" pitchFamily="34" charset="0"/>
              </a:rPr>
              <a:t>70:30</a:t>
            </a:r>
            <a:r>
              <a:rPr lang="en-IN" dirty="0" smtClean="0">
                <a:latin typeface="Helvetica" panose="020B0604020202020204" pitchFamily="34" charset="0"/>
                <a:cs typeface="Helvetica" panose="020B0604020202020204" pitchFamily="34" charset="0"/>
              </a:rPr>
              <a:t> ratio using </a:t>
            </a:r>
            <a:r>
              <a:rPr lang="en-IN" b="1" dirty="0" smtClean="0">
                <a:latin typeface="Helvetica" panose="020B0604020202020204" pitchFamily="34" charset="0"/>
                <a:cs typeface="Helvetica" panose="020B0604020202020204" pitchFamily="34" charset="0"/>
              </a:rPr>
              <a:t>Simple Random Split</a:t>
            </a:r>
            <a:r>
              <a:rPr lang="en-IN" dirty="0" smtClean="0">
                <a:latin typeface="Helvetica" panose="020B0604020202020204" pitchFamily="34" charset="0"/>
                <a:cs typeface="Helvetica" panose="020B0604020202020204" pitchFamily="34" charset="0"/>
              </a:rPr>
              <a:t>. </a:t>
            </a:r>
            <a:endParaRPr lang="en-IN"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30446304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96000" y="1597470"/>
            <a:ext cx="6096000" cy="4218114"/>
          </a:xfrm>
          <a:prstGeom prst="rect">
            <a:avLst/>
          </a:prstGeom>
          <a:effectLst>
            <a:innerShdw blurRad="114300">
              <a:prstClr val="black"/>
            </a:innerShdw>
          </a:effectLst>
        </p:spPr>
      </p:pic>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592262"/>
            <a:ext cx="6096000" cy="4223321"/>
          </a:xfrm>
          <a:prstGeom prst="rect">
            <a:avLst/>
          </a:prstGeom>
          <a:effectLst>
            <a:innerShdw blurRad="114300">
              <a:prstClr val="black"/>
            </a:innerShdw>
          </a:effectLst>
        </p:spPr>
      </p:pic>
      <p:sp>
        <p:nvSpPr>
          <p:cNvPr id="3" name="TextBox 2"/>
          <p:cNvSpPr txBox="1"/>
          <p:nvPr/>
        </p:nvSpPr>
        <p:spPr>
          <a:xfrm>
            <a:off x="334962" y="512064"/>
            <a:ext cx="11522075" cy="923330"/>
          </a:xfrm>
          <a:prstGeom prst="rect">
            <a:avLst/>
          </a:prstGeom>
          <a:noFill/>
        </p:spPr>
        <p:txBody>
          <a:bodyPr wrap="square" rtlCol="0">
            <a:spAutoFit/>
          </a:bodyPr>
          <a:lstStyle/>
          <a:p>
            <a:r>
              <a:rPr lang="en-IN" dirty="0" smtClean="0">
                <a:latin typeface="Helvetica" panose="020B0604020202020204" pitchFamily="34" charset="0"/>
                <a:cs typeface="Helvetica" panose="020B0604020202020204" pitchFamily="34" charset="0"/>
              </a:rPr>
              <a:t>Then, we perform </a:t>
            </a:r>
            <a:r>
              <a:rPr lang="en-IN" b="1" dirty="0" smtClean="0">
                <a:latin typeface="Helvetica" panose="020B0604020202020204" pitchFamily="34" charset="0"/>
                <a:cs typeface="Helvetica" panose="020B0604020202020204" pitchFamily="34" charset="0"/>
              </a:rPr>
              <a:t>Simple Linear Regression </a:t>
            </a:r>
            <a:r>
              <a:rPr lang="en-IN" dirty="0" smtClean="0">
                <a:latin typeface="Helvetica" panose="020B0604020202020204" pitchFamily="34" charset="0"/>
                <a:cs typeface="Helvetica" panose="020B0604020202020204" pitchFamily="34" charset="0"/>
              </a:rPr>
              <a:t>and choose a </a:t>
            </a:r>
            <a:r>
              <a:rPr lang="en-IN" b="1" dirty="0" smtClean="0">
                <a:latin typeface="Helvetica" panose="020B0604020202020204" pitchFamily="34" charset="0"/>
                <a:cs typeface="Helvetica" panose="020B0604020202020204" pitchFamily="34" charset="0"/>
              </a:rPr>
              <a:t>line of best fit </a:t>
            </a:r>
            <a:r>
              <a:rPr lang="en-IN" dirty="0" smtClean="0">
                <a:latin typeface="Helvetica" panose="020B0604020202020204" pitchFamily="34" charset="0"/>
                <a:cs typeface="Helvetica" panose="020B0604020202020204" pitchFamily="34" charset="0"/>
              </a:rPr>
              <a:t>for the training data points. In this scenario, the line doesn’t capture the true nature of the relationship between the variables and we observe </a:t>
            </a:r>
            <a:r>
              <a:rPr lang="en-IN" b="1" dirty="0" smtClean="0">
                <a:latin typeface="Helvetica" panose="020B0604020202020204" pitchFamily="34" charset="0"/>
                <a:cs typeface="Helvetica" panose="020B0604020202020204" pitchFamily="34" charset="0"/>
              </a:rPr>
              <a:t>high bias.</a:t>
            </a:r>
            <a:endParaRPr lang="en-IN" b="1"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371750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600196"/>
            <a:ext cx="6096000" cy="4215388"/>
          </a:xfrm>
          <a:prstGeom prst="rect">
            <a:avLst/>
          </a:prstGeom>
          <a:effectLst>
            <a:innerShdw blurRad="114300">
              <a:prstClr val="black"/>
            </a:innerShdw>
          </a:effectLst>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0" y="1592262"/>
            <a:ext cx="6096000" cy="4223321"/>
          </a:xfrm>
          <a:prstGeom prst="rect">
            <a:avLst/>
          </a:prstGeom>
          <a:effectLst>
            <a:innerShdw blurRad="114300">
              <a:prstClr val="black"/>
            </a:innerShdw>
          </a:effectLst>
        </p:spPr>
      </p:pic>
      <p:sp>
        <p:nvSpPr>
          <p:cNvPr id="3" name="TextBox 2"/>
          <p:cNvSpPr txBox="1"/>
          <p:nvPr/>
        </p:nvSpPr>
        <p:spPr>
          <a:xfrm>
            <a:off x="334962" y="475488"/>
            <a:ext cx="11522075" cy="923330"/>
          </a:xfrm>
          <a:prstGeom prst="rect">
            <a:avLst/>
          </a:prstGeom>
          <a:noFill/>
        </p:spPr>
        <p:txBody>
          <a:bodyPr wrap="square" rtlCol="0">
            <a:spAutoFit/>
          </a:bodyPr>
          <a:lstStyle/>
          <a:p>
            <a:r>
              <a:rPr lang="en-IN" dirty="0" smtClean="0">
                <a:latin typeface="Helvetica" panose="020B0604020202020204" pitchFamily="34" charset="0"/>
                <a:cs typeface="Helvetica" panose="020B0604020202020204" pitchFamily="34" charset="0"/>
              </a:rPr>
              <a:t>Another method by which we try to determine the underlying relationship is </a:t>
            </a:r>
            <a:r>
              <a:rPr lang="en-IN" b="1" dirty="0" smtClean="0">
                <a:latin typeface="Helvetica" panose="020B0604020202020204" pitchFamily="34" charset="0"/>
                <a:cs typeface="Helvetica" panose="020B0604020202020204" pitchFamily="34" charset="0"/>
              </a:rPr>
              <a:t>Polynomial Linear Regression</a:t>
            </a:r>
            <a:r>
              <a:rPr lang="en-IN" dirty="0" smtClean="0">
                <a:latin typeface="Helvetica" panose="020B0604020202020204" pitchFamily="34" charset="0"/>
                <a:cs typeface="Helvetica" panose="020B0604020202020204" pitchFamily="34" charset="0"/>
              </a:rPr>
              <a:t>. Here, we have applied on the training data set, a polynomial of </a:t>
            </a:r>
            <a:r>
              <a:rPr lang="en-IN" b="1" dirty="0" smtClean="0">
                <a:latin typeface="Helvetica" panose="020B0604020202020204" pitchFamily="34" charset="0"/>
                <a:cs typeface="Helvetica" panose="020B0604020202020204" pitchFamily="34" charset="0"/>
              </a:rPr>
              <a:t>degree 8</a:t>
            </a:r>
            <a:r>
              <a:rPr lang="en-IN" dirty="0" smtClean="0">
                <a:latin typeface="Helvetica" panose="020B0604020202020204" pitchFamily="34" charset="0"/>
                <a:cs typeface="Helvetica" panose="020B0604020202020204" pitchFamily="34" charset="0"/>
              </a:rPr>
              <a:t>. This includes more training data points and in turn the </a:t>
            </a:r>
            <a:r>
              <a:rPr lang="en-IN" b="1" dirty="0" smtClean="0">
                <a:latin typeface="Helvetica" panose="020B0604020202020204" pitchFamily="34" charset="0"/>
                <a:cs typeface="Helvetica" panose="020B0604020202020204" pitchFamily="34" charset="0"/>
              </a:rPr>
              <a:t>bias is low</a:t>
            </a:r>
            <a:r>
              <a:rPr lang="en-IN" dirty="0" smtClean="0">
                <a:latin typeface="Helvetica" panose="020B0604020202020204" pitchFamily="34" charset="0"/>
                <a:cs typeface="Helvetica" panose="020B0604020202020204" pitchFamily="34" charset="0"/>
              </a:rPr>
              <a:t>.</a:t>
            </a:r>
            <a:endParaRPr lang="en-IN"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696341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310190" y="1210758"/>
            <a:ext cx="7546848" cy="5494842"/>
          </a:xfrm>
          <a:effectLst/>
        </p:spPr>
      </p:pic>
      <p:sp>
        <p:nvSpPr>
          <p:cNvPr id="7" name="TextBox 6"/>
          <p:cNvSpPr txBox="1"/>
          <p:nvPr/>
        </p:nvSpPr>
        <p:spPr>
          <a:xfrm>
            <a:off x="334963" y="1616699"/>
            <a:ext cx="3975227" cy="923330"/>
          </a:xfrm>
          <a:prstGeom prst="rect">
            <a:avLst/>
          </a:prstGeom>
          <a:noFill/>
          <a:ln>
            <a:solidFill>
              <a:schemeClr val="tx1"/>
            </a:solidFill>
          </a:ln>
        </p:spPr>
        <p:txBody>
          <a:bodyPr wrap="square" rtlCol="0">
            <a:spAutoFit/>
          </a:bodyPr>
          <a:lstStyle/>
          <a:p>
            <a:pPr algn="ctr"/>
            <a:r>
              <a:rPr lang="en-IN" b="1" dirty="0" smtClean="0">
                <a:latin typeface="Helvetica" panose="020B0604020202020204" pitchFamily="34" charset="0"/>
                <a:cs typeface="Helvetica" panose="020B0604020202020204" pitchFamily="34" charset="0"/>
              </a:rPr>
              <a:t>Train Data</a:t>
            </a:r>
          </a:p>
          <a:p>
            <a:r>
              <a:rPr lang="en-IN" dirty="0" smtClean="0">
                <a:latin typeface="Helvetica" panose="020B0604020202020204" pitchFamily="34" charset="0"/>
                <a:cs typeface="Helvetica" panose="020B0604020202020204" pitchFamily="34" charset="0"/>
              </a:rPr>
              <a:t>SSR (Linear fit): 67.75054334</a:t>
            </a:r>
          </a:p>
          <a:p>
            <a:r>
              <a:rPr lang="en-IN" dirty="0" smtClean="0">
                <a:latin typeface="Helvetica" panose="020B0604020202020204" pitchFamily="34" charset="0"/>
                <a:cs typeface="Helvetica" panose="020B0604020202020204" pitchFamily="34" charset="0"/>
              </a:rPr>
              <a:t>SSR (Squiggly fit): 32.83292938</a:t>
            </a:r>
          </a:p>
        </p:txBody>
      </p:sp>
      <p:sp>
        <p:nvSpPr>
          <p:cNvPr id="8" name="TextBox 7"/>
          <p:cNvSpPr txBox="1"/>
          <p:nvPr/>
        </p:nvSpPr>
        <p:spPr>
          <a:xfrm>
            <a:off x="334962" y="2967335"/>
            <a:ext cx="3975228" cy="923330"/>
          </a:xfrm>
          <a:prstGeom prst="rect">
            <a:avLst/>
          </a:prstGeom>
          <a:noFill/>
          <a:ln>
            <a:solidFill>
              <a:schemeClr val="tx1"/>
            </a:solidFill>
          </a:ln>
        </p:spPr>
        <p:txBody>
          <a:bodyPr wrap="square" rtlCol="0">
            <a:spAutoFit/>
          </a:bodyPr>
          <a:lstStyle/>
          <a:p>
            <a:pPr algn="ctr"/>
            <a:r>
              <a:rPr lang="en-IN" b="1" dirty="0" smtClean="0">
                <a:latin typeface="Helvetica" panose="020B0604020202020204" pitchFamily="34" charset="0"/>
                <a:cs typeface="Helvetica" panose="020B0604020202020204" pitchFamily="34" charset="0"/>
              </a:rPr>
              <a:t>Test Data</a:t>
            </a:r>
          </a:p>
          <a:p>
            <a:r>
              <a:rPr lang="en-IN" dirty="0" smtClean="0">
                <a:latin typeface="Helvetica" panose="020B0604020202020204" pitchFamily="34" charset="0"/>
                <a:cs typeface="Helvetica" panose="020B0604020202020204" pitchFamily="34" charset="0"/>
              </a:rPr>
              <a:t>SSR (Linear fit): 19.63014103 </a:t>
            </a:r>
          </a:p>
          <a:p>
            <a:r>
              <a:rPr lang="en-IN" dirty="0" smtClean="0">
                <a:latin typeface="Helvetica" panose="020B0604020202020204" pitchFamily="34" charset="0"/>
                <a:cs typeface="Helvetica" panose="020B0604020202020204" pitchFamily="34" charset="0"/>
              </a:rPr>
              <a:t>SSR (Squiggly fit): 50.75607191</a:t>
            </a:r>
          </a:p>
        </p:txBody>
      </p:sp>
      <p:sp>
        <p:nvSpPr>
          <p:cNvPr id="3" name="TextBox 2"/>
          <p:cNvSpPr txBox="1"/>
          <p:nvPr/>
        </p:nvSpPr>
        <p:spPr>
          <a:xfrm>
            <a:off x="334962" y="432917"/>
            <a:ext cx="11522075" cy="923330"/>
          </a:xfrm>
          <a:prstGeom prst="rect">
            <a:avLst/>
          </a:prstGeom>
          <a:noFill/>
        </p:spPr>
        <p:txBody>
          <a:bodyPr wrap="square" rtlCol="0">
            <a:spAutoFit/>
          </a:bodyPr>
          <a:lstStyle/>
          <a:p>
            <a:r>
              <a:rPr lang="en-IN" dirty="0" smtClean="0">
                <a:latin typeface="Helvetica" panose="020B0604020202020204" pitchFamily="34" charset="0"/>
                <a:cs typeface="Helvetica" panose="020B0604020202020204" pitchFamily="34" charset="0"/>
              </a:rPr>
              <a:t>We then obtain the Residual Sum of Squares of train data and test data of both the methods. Simple Linear Regression which initially had higher sum of square (high bias) performed better than Polynomial Linear Regression on the test data.  </a:t>
            </a:r>
            <a:endParaRPr lang="en-IN" dirty="0">
              <a:latin typeface="Helvetica" panose="020B0604020202020204" pitchFamily="34" charset="0"/>
              <a:cs typeface="Helvetica" panose="020B0604020202020204" pitchFamily="34" charset="0"/>
            </a:endParaRPr>
          </a:p>
        </p:txBody>
      </p:sp>
      <p:sp>
        <p:nvSpPr>
          <p:cNvPr id="4" name="TextBox 3"/>
          <p:cNvSpPr txBox="1"/>
          <p:nvPr/>
        </p:nvSpPr>
        <p:spPr>
          <a:xfrm>
            <a:off x="334962" y="4151117"/>
            <a:ext cx="2852928" cy="1200329"/>
          </a:xfrm>
          <a:prstGeom prst="rect">
            <a:avLst/>
          </a:prstGeom>
          <a:noFill/>
        </p:spPr>
        <p:txBody>
          <a:bodyPr wrap="square" rtlCol="0">
            <a:spAutoFit/>
          </a:bodyPr>
          <a:lstStyle/>
          <a:p>
            <a:r>
              <a:rPr lang="en-IN" dirty="0" smtClean="0">
                <a:latin typeface="Helvetica" panose="020B0604020202020204" pitchFamily="34" charset="0"/>
                <a:cs typeface="Helvetica" panose="020B0604020202020204" pitchFamily="34" charset="0"/>
              </a:rPr>
              <a:t>Our goal is to obtain a Regression curve which has both </a:t>
            </a:r>
            <a:r>
              <a:rPr lang="en-IN" b="1" dirty="0" smtClean="0">
                <a:latin typeface="Helvetica" panose="020B0604020202020204" pitchFamily="34" charset="0"/>
                <a:cs typeface="Helvetica" panose="020B0604020202020204" pitchFamily="34" charset="0"/>
              </a:rPr>
              <a:t>low bias </a:t>
            </a:r>
            <a:r>
              <a:rPr lang="en-IN" dirty="0" smtClean="0">
                <a:latin typeface="Helvetica" panose="020B0604020202020204" pitchFamily="34" charset="0"/>
                <a:cs typeface="Helvetica" panose="020B0604020202020204" pitchFamily="34" charset="0"/>
              </a:rPr>
              <a:t>and </a:t>
            </a:r>
            <a:r>
              <a:rPr lang="en-IN" b="1" dirty="0" smtClean="0">
                <a:latin typeface="Helvetica" panose="020B0604020202020204" pitchFamily="34" charset="0"/>
                <a:cs typeface="Helvetica" panose="020B0604020202020204" pitchFamily="34" charset="0"/>
              </a:rPr>
              <a:t>low variance.</a:t>
            </a:r>
            <a:endParaRPr lang="en-IN" b="1"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7562418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94176" y="1341438"/>
            <a:ext cx="8162862" cy="5364162"/>
          </a:xfrm>
          <a:prstGeom prst="rect">
            <a:avLst/>
          </a:prstGeom>
          <a:effectLst>
            <a:innerShdw blurRad="114300">
              <a:prstClr val="black"/>
            </a:innerShdw>
          </a:effectLst>
        </p:spPr>
      </p:pic>
      <p:sp>
        <p:nvSpPr>
          <p:cNvPr id="2" name="Title 1"/>
          <p:cNvSpPr>
            <a:spLocks noGrp="1"/>
          </p:cNvSpPr>
          <p:nvPr>
            <p:ph type="title"/>
          </p:nvPr>
        </p:nvSpPr>
        <p:spPr>
          <a:xfrm>
            <a:off x="334963" y="15875"/>
            <a:ext cx="10515600" cy="1325563"/>
          </a:xfrm>
        </p:spPr>
        <p:txBody>
          <a:bodyPr>
            <a:normAutofit/>
          </a:bodyPr>
          <a:lstStyle/>
          <a:p>
            <a:r>
              <a:rPr lang="en-IN" sz="4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Lasso Regression</a:t>
            </a:r>
          </a:p>
        </p:txBody>
      </p:sp>
      <p:sp>
        <p:nvSpPr>
          <p:cNvPr id="3" name="TextBox 2"/>
          <p:cNvSpPr txBox="1"/>
          <p:nvPr/>
        </p:nvSpPr>
        <p:spPr>
          <a:xfrm>
            <a:off x="334963" y="1592263"/>
            <a:ext cx="3084576" cy="1477328"/>
          </a:xfrm>
          <a:prstGeom prst="rect">
            <a:avLst/>
          </a:prstGeom>
          <a:noFill/>
        </p:spPr>
        <p:txBody>
          <a:bodyPr wrap="square" rtlCol="0">
            <a:spAutoFit/>
          </a:bodyPr>
          <a:lstStyle/>
          <a:p>
            <a:r>
              <a:rPr lang="en-IN" dirty="0" smtClean="0">
                <a:latin typeface="Helvetica" panose="020B0604020202020204" pitchFamily="34" charset="0"/>
                <a:cs typeface="Helvetica" panose="020B0604020202020204" pitchFamily="34" charset="0"/>
              </a:rPr>
              <a:t>Here, we have another hypothetical dataset. For the sake of understanding, assume that the data has only two training data points.</a:t>
            </a:r>
            <a:endParaRPr lang="en-IN"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3926106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83000" y="728981"/>
            <a:ext cx="8174038" cy="5976620"/>
          </a:xfrm>
          <a:prstGeom prst="rect">
            <a:avLst/>
          </a:prstGeom>
          <a:effectLst>
            <a:innerShdw blurRad="114300">
              <a:prstClr val="black"/>
            </a:innerShdw>
          </a:effectLst>
        </p:spPr>
      </p:pic>
      <p:sp>
        <p:nvSpPr>
          <p:cNvPr id="4" name="TextBox 3"/>
          <p:cNvSpPr txBox="1"/>
          <p:nvPr/>
        </p:nvSpPr>
        <p:spPr>
          <a:xfrm>
            <a:off x="334963" y="1341438"/>
            <a:ext cx="3348037" cy="2862322"/>
          </a:xfrm>
          <a:prstGeom prst="rect">
            <a:avLst/>
          </a:prstGeom>
          <a:noFill/>
        </p:spPr>
        <p:txBody>
          <a:bodyPr wrap="square" rtlCol="0">
            <a:spAutoFit/>
          </a:bodyPr>
          <a:lstStyle/>
          <a:p>
            <a:r>
              <a:rPr lang="en-IN" dirty="0" smtClean="0">
                <a:latin typeface="Helvetica" panose="020B0604020202020204" pitchFamily="34" charset="0"/>
                <a:cs typeface="Helvetica" panose="020B0604020202020204" pitchFamily="34" charset="0"/>
              </a:rPr>
              <a:t>Then, the line of best fit will pass through both the data points and residual error would be </a:t>
            </a:r>
            <a:r>
              <a:rPr lang="en-IN" b="1" dirty="0" smtClean="0">
                <a:latin typeface="Helvetica" panose="020B0604020202020204" pitchFamily="34" charset="0"/>
                <a:cs typeface="Helvetica" panose="020B0604020202020204" pitchFamily="34" charset="0"/>
              </a:rPr>
              <a:t>0</a:t>
            </a:r>
            <a:r>
              <a:rPr lang="en-IN" dirty="0" smtClean="0">
                <a:latin typeface="Helvetica" panose="020B0604020202020204" pitchFamily="34" charset="0"/>
                <a:cs typeface="Helvetica" panose="020B0604020202020204" pitchFamily="34" charset="0"/>
              </a:rPr>
              <a:t>.</a:t>
            </a:r>
          </a:p>
          <a:p>
            <a:endParaRPr lang="en-IN" dirty="0" smtClean="0">
              <a:latin typeface="Helvetica" panose="020B0604020202020204" pitchFamily="34" charset="0"/>
              <a:cs typeface="Helvetica" panose="020B0604020202020204" pitchFamily="34" charset="0"/>
            </a:endParaRPr>
          </a:p>
          <a:p>
            <a:r>
              <a:rPr lang="en-IN" dirty="0" smtClean="0">
                <a:latin typeface="Helvetica" panose="020B0604020202020204" pitchFamily="34" charset="0"/>
                <a:cs typeface="Helvetica" panose="020B0604020202020204" pitchFamily="34" charset="0"/>
              </a:rPr>
              <a:t>This means that the </a:t>
            </a:r>
            <a:r>
              <a:rPr lang="en-IN" b="1" dirty="0" smtClean="0">
                <a:latin typeface="Helvetica" panose="020B0604020202020204" pitchFamily="34" charset="0"/>
                <a:cs typeface="Helvetica" panose="020B0604020202020204" pitchFamily="34" charset="0"/>
              </a:rPr>
              <a:t>bias</a:t>
            </a:r>
            <a:r>
              <a:rPr lang="en-IN" dirty="0" smtClean="0">
                <a:latin typeface="Helvetica" panose="020B0604020202020204" pitchFamily="34" charset="0"/>
                <a:cs typeface="Helvetica" panose="020B0604020202020204" pitchFamily="34" charset="0"/>
              </a:rPr>
              <a:t> is </a:t>
            </a:r>
            <a:r>
              <a:rPr lang="en-IN" b="1" dirty="0" smtClean="0">
                <a:latin typeface="Helvetica" panose="020B0604020202020204" pitchFamily="34" charset="0"/>
                <a:cs typeface="Helvetica" panose="020B0604020202020204" pitchFamily="34" charset="0"/>
              </a:rPr>
              <a:t>nil</a:t>
            </a:r>
            <a:r>
              <a:rPr lang="en-IN" dirty="0" smtClean="0">
                <a:latin typeface="Helvetica" panose="020B0604020202020204" pitchFamily="34" charset="0"/>
                <a:cs typeface="Helvetica" panose="020B0604020202020204" pitchFamily="34" charset="0"/>
              </a:rPr>
              <a:t> but the </a:t>
            </a:r>
            <a:r>
              <a:rPr lang="en-IN" b="1" dirty="0" smtClean="0">
                <a:latin typeface="Helvetica" panose="020B0604020202020204" pitchFamily="34" charset="0"/>
                <a:cs typeface="Helvetica" panose="020B0604020202020204" pitchFamily="34" charset="0"/>
              </a:rPr>
              <a:t>variance</a:t>
            </a:r>
            <a:r>
              <a:rPr lang="en-IN" dirty="0" smtClean="0">
                <a:latin typeface="Helvetica" panose="020B0604020202020204" pitchFamily="34" charset="0"/>
                <a:cs typeface="Helvetica" panose="020B0604020202020204" pitchFamily="34" charset="0"/>
              </a:rPr>
              <a:t> in this case would be </a:t>
            </a:r>
            <a:r>
              <a:rPr lang="en-IN" b="1" dirty="0" smtClean="0">
                <a:latin typeface="Helvetica" panose="020B0604020202020204" pitchFamily="34" charset="0"/>
                <a:cs typeface="Helvetica" panose="020B0604020202020204" pitchFamily="34" charset="0"/>
              </a:rPr>
              <a:t>high</a:t>
            </a:r>
            <a:r>
              <a:rPr lang="en-IN" dirty="0" smtClean="0">
                <a:latin typeface="Helvetica" panose="020B0604020202020204" pitchFamily="34" charset="0"/>
                <a:cs typeface="Helvetica" panose="020B0604020202020204" pitchFamily="34" charset="0"/>
              </a:rPr>
              <a:t>. </a:t>
            </a:r>
          </a:p>
          <a:p>
            <a:endParaRPr lang="en-IN" dirty="0" smtClean="0">
              <a:latin typeface="Helvetica" panose="020B0604020202020204" pitchFamily="34" charset="0"/>
              <a:cs typeface="Helvetica" panose="020B0604020202020204" pitchFamily="34" charset="0"/>
            </a:endParaRPr>
          </a:p>
          <a:p>
            <a:r>
              <a:rPr lang="en-IN" dirty="0" smtClean="0">
                <a:latin typeface="Helvetica" panose="020B0604020202020204" pitchFamily="34" charset="0"/>
                <a:cs typeface="Helvetica" panose="020B0604020202020204" pitchFamily="34" charset="0"/>
              </a:rPr>
              <a:t>This is a case of </a:t>
            </a:r>
            <a:r>
              <a:rPr lang="en-IN" b="1" dirty="0" smtClean="0">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Overfitting.</a:t>
            </a:r>
            <a:endParaRPr lang="en-IN" b="1" dirty="0">
              <a:effectLst>
                <a:outerShdw blurRad="38100" dist="38100" dir="2700000" algn="tl">
                  <a:srgbClr val="000000">
                    <a:alpha val="43137"/>
                  </a:srgbClr>
                </a:outerShdw>
              </a:effectLst>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357284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83000" y="728663"/>
            <a:ext cx="8174038" cy="5976937"/>
          </a:xfrm>
          <a:prstGeom prst="rect">
            <a:avLst/>
          </a:prstGeom>
          <a:effectLst>
            <a:innerShdw blurRad="114300">
              <a:prstClr val="black"/>
            </a:innerShdw>
          </a:effectLst>
        </p:spPr>
      </p:pic>
      <p:sp>
        <p:nvSpPr>
          <p:cNvPr id="3" name="TextBox 2"/>
          <p:cNvSpPr txBox="1"/>
          <p:nvPr/>
        </p:nvSpPr>
        <p:spPr>
          <a:xfrm>
            <a:off x="334962" y="1341438"/>
            <a:ext cx="3348037" cy="3693319"/>
          </a:xfrm>
          <a:prstGeom prst="rect">
            <a:avLst/>
          </a:prstGeom>
          <a:noFill/>
        </p:spPr>
        <p:txBody>
          <a:bodyPr wrap="square" rtlCol="0">
            <a:spAutoFit/>
          </a:bodyPr>
          <a:lstStyle/>
          <a:p>
            <a:r>
              <a:rPr lang="en-IN" dirty="0" smtClean="0">
                <a:latin typeface="Helvetica" panose="020B0604020202020204" pitchFamily="34" charset="0"/>
                <a:cs typeface="Helvetica" panose="020B0604020202020204" pitchFamily="34" charset="0"/>
              </a:rPr>
              <a:t>So what we do is introduce a </a:t>
            </a:r>
            <a:r>
              <a:rPr lang="en-IN" b="1" dirty="0" smtClean="0">
                <a:solidFill>
                  <a:srgbClr val="FF0000"/>
                </a:solidFill>
                <a:latin typeface="Helvetica" panose="020B0604020202020204" pitchFamily="34" charset="0"/>
                <a:cs typeface="Helvetica" panose="020B0604020202020204" pitchFamily="34" charset="0"/>
              </a:rPr>
              <a:t>little amount of bias</a:t>
            </a:r>
            <a:r>
              <a:rPr lang="en-IN" dirty="0" smtClean="0">
                <a:latin typeface="Helvetica" panose="020B0604020202020204" pitchFamily="34" charset="0"/>
                <a:cs typeface="Helvetica" panose="020B0604020202020204" pitchFamily="34" charset="0"/>
              </a:rPr>
              <a:t>.</a:t>
            </a:r>
          </a:p>
          <a:p>
            <a:endParaRPr lang="en-IN" dirty="0">
              <a:latin typeface="Helvetica" panose="020B0604020202020204" pitchFamily="34" charset="0"/>
              <a:cs typeface="Helvetica" panose="020B0604020202020204" pitchFamily="34" charset="0"/>
            </a:endParaRPr>
          </a:p>
          <a:p>
            <a:r>
              <a:rPr lang="en-IN" dirty="0" smtClean="0">
                <a:latin typeface="Helvetica" panose="020B0604020202020204" pitchFamily="34" charset="0"/>
                <a:cs typeface="Helvetica" panose="020B0604020202020204" pitchFamily="34" charset="0"/>
              </a:rPr>
              <a:t>And accounting to this bias, we see a significant </a:t>
            </a:r>
            <a:r>
              <a:rPr lang="en-IN" b="1" dirty="0" smtClean="0">
                <a:latin typeface="Helvetica" panose="020B0604020202020204" pitchFamily="34" charset="0"/>
                <a:cs typeface="Helvetica" panose="020B0604020202020204" pitchFamily="34" charset="0"/>
              </a:rPr>
              <a:t>drop in the variance.</a:t>
            </a:r>
          </a:p>
          <a:p>
            <a:endParaRPr lang="en-IN" dirty="0">
              <a:latin typeface="Helvetica" panose="020B0604020202020204" pitchFamily="34" charset="0"/>
              <a:cs typeface="Helvetica" panose="020B0604020202020204" pitchFamily="34" charset="0"/>
            </a:endParaRPr>
          </a:p>
          <a:p>
            <a:r>
              <a:rPr lang="en-IN" dirty="0" smtClean="0">
                <a:latin typeface="Helvetica" panose="020B0604020202020204" pitchFamily="34" charset="0"/>
                <a:cs typeface="Helvetica" panose="020B0604020202020204" pitchFamily="34" charset="0"/>
              </a:rPr>
              <a:t>This is essentially what </a:t>
            </a:r>
            <a:r>
              <a:rPr lang="en-IN" b="1" dirty="0" smtClean="0">
                <a:latin typeface="Helvetica" panose="020B0604020202020204" pitchFamily="34" charset="0"/>
                <a:cs typeface="Helvetica" panose="020B0604020202020204" pitchFamily="34" charset="0"/>
              </a:rPr>
              <a:t>Lasso Regression</a:t>
            </a:r>
            <a:r>
              <a:rPr lang="en-IN" dirty="0" smtClean="0">
                <a:latin typeface="Helvetica" panose="020B0604020202020204" pitchFamily="34" charset="0"/>
                <a:cs typeface="Helvetica" panose="020B0604020202020204" pitchFamily="34" charset="0"/>
              </a:rPr>
              <a:t> is. </a:t>
            </a:r>
          </a:p>
          <a:p>
            <a:endParaRPr lang="en-IN" dirty="0">
              <a:latin typeface="Helvetica" panose="020B0604020202020204" pitchFamily="34" charset="0"/>
              <a:cs typeface="Helvetica" panose="020B0604020202020204" pitchFamily="34" charset="0"/>
            </a:endParaRPr>
          </a:p>
          <a:p>
            <a:r>
              <a:rPr lang="en-IN" dirty="0" smtClean="0">
                <a:latin typeface="Helvetica" panose="020B0604020202020204" pitchFamily="34" charset="0"/>
                <a:cs typeface="Helvetica" panose="020B0604020202020204" pitchFamily="34" charset="0"/>
              </a:rPr>
              <a:t>We tend to </a:t>
            </a:r>
            <a:r>
              <a:rPr lang="en-IN" b="1" dirty="0" smtClean="0">
                <a:latin typeface="Helvetica" panose="020B0604020202020204" pitchFamily="34" charset="0"/>
                <a:cs typeface="Helvetica" panose="020B0604020202020204" pitchFamily="34" charset="0"/>
              </a:rPr>
              <a:t>reduce the slope </a:t>
            </a:r>
            <a:r>
              <a:rPr lang="en-IN" dirty="0" smtClean="0">
                <a:latin typeface="Helvetica" panose="020B0604020202020204" pitchFamily="34" charset="0"/>
                <a:cs typeface="Helvetica" panose="020B0604020202020204" pitchFamily="34" charset="0"/>
              </a:rPr>
              <a:t>and obtain decrease in the residual error.</a:t>
            </a:r>
            <a:endParaRPr lang="en-IN" dirty="0">
              <a:latin typeface="Helvetica" panose="020B0604020202020204" pitchFamily="34" charset="0"/>
              <a:cs typeface="Helvetica" panose="020B0604020202020204" pitchFamily="34" charset="0"/>
            </a:endParaRPr>
          </a:p>
        </p:txBody>
      </p:sp>
      <p:sp>
        <p:nvSpPr>
          <p:cNvPr id="5" name="Title 4"/>
          <p:cNvSpPr>
            <a:spLocks noGrp="1"/>
          </p:cNvSpPr>
          <p:nvPr>
            <p:ph type="title"/>
          </p:nvPr>
        </p:nvSpPr>
        <p:spPr/>
        <p:txBody>
          <a:bodyPr/>
          <a:lstStyle/>
          <a:p>
            <a:endParaRPr lang="en-IN"/>
          </a:p>
        </p:txBody>
      </p:sp>
    </p:spTree>
    <p:extLst>
      <p:ext uri="{BB962C8B-B14F-4D97-AF65-F5344CB8AC3E}">
        <p14:creationId xmlns:p14="http://schemas.microsoft.com/office/powerpoint/2010/main" val="581968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34963" y="333375"/>
            <a:ext cx="11522076" cy="5560368"/>
          </a:xfrm>
          <a:prstGeom prst="rect">
            <a:avLst/>
          </a:prstGeom>
          <a:noFill/>
        </p:spPr>
        <p:txBody>
          <a:bodyPr wrap="square" rtlCol="0">
            <a:spAutoFit/>
          </a:bodyPr>
          <a:lstStyle/>
          <a:p>
            <a:pPr>
              <a:lnSpc>
                <a:spcPct val="107000"/>
              </a:lnSpc>
              <a:spcBef>
                <a:spcPts val="1200"/>
              </a:spcBef>
              <a:spcAft>
                <a:spcPts val="0"/>
              </a:spcAft>
            </a:pPr>
            <a:r>
              <a:rPr lang="en-IN" sz="3200" b="1" kern="0" dirty="0">
                <a:solidFill>
                  <a:srgbClr val="0D0D0D"/>
                </a:solidFill>
                <a:latin typeface="Helvetica" panose="020B0604020202020204" pitchFamily="34" charset="0"/>
                <a:ea typeface="Times New Roman" panose="02020603050405020304" pitchFamily="18" charset="0"/>
                <a:cs typeface="Times New Roman" panose="02020603050405020304" pitchFamily="18" charset="0"/>
              </a:rPr>
              <a:t>What is Lasso?</a:t>
            </a:r>
            <a:endParaRPr lang="en-IN" sz="3200" b="1" kern="0" dirty="0">
              <a:solidFill>
                <a:srgbClr val="2E74B5"/>
              </a:solidFill>
              <a:latin typeface="Calibri Light" panose="020F0302020204030204" pitchFamily="34" charset="0"/>
              <a:ea typeface="Times New Roman" panose="02020603050405020304" pitchFamily="18" charset="0"/>
              <a:cs typeface="Times New Roman" panose="02020603050405020304" pitchFamily="18" charset="0"/>
            </a:endParaRPr>
          </a:p>
          <a:p>
            <a:pPr marL="800100" lvl="1" indent="-342900">
              <a:lnSpc>
                <a:spcPct val="107000"/>
              </a:lnSpc>
              <a:buFont typeface="Symbol" panose="05050102010706020507" pitchFamily="18" charset="2"/>
              <a:buChar char=""/>
            </a:pPr>
            <a:r>
              <a:rPr lang="en-IN" sz="2000" dirty="0">
                <a:latin typeface="Helvetica" panose="020B0604020202020204" pitchFamily="34" charset="0"/>
                <a:ea typeface="Calibri" panose="020F0502020204030204" pitchFamily="34" charset="0"/>
                <a:cs typeface="Times New Roman" panose="02020603050405020304" pitchFamily="18" charset="0"/>
              </a:rPr>
              <a:t>Lasso stands for Least Absolute Shrinkage and Selection Operator </a:t>
            </a:r>
            <a:r>
              <a:rPr lang="en-IN" sz="2000" dirty="0" smtClean="0">
                <a:latin typeface="Helvetica" panose="020B0604020202020204" pitchFamily="34" charset="0"/>
                <a:ea typeface="Calibri" panose="020F0502020204030204" pitchFamily="34" charset="0"/>
                <a:cs typeface="Times New Roman" panose="02020603050405020304" pitchFamily="18" charset="0"/>
              </a:rPr>
              <a:t>(</a:t>
            </a:r>
            <a:r>
              <a:rPr lang="en-IN" sz="2000" dirty="0" err="1" smtClean="0">
                <a:latin typeface="Helvetica" panose="020B0604020202020204" pitchFamily="34" charset="0"/>
                <a:ea typeface="Calibri" panose="020F0502020204030204" pitchFamily="34" charset="0"/>
                <a:cs typeface="Times New Roman" panose="02020603050405020304" pitchFamily="18" charset="0"/>
              </a:rPr>
              <a:t>Tibshirani</a:t>
            </a:r>
            <a:r>
              <a:rPr lang="en-IN" sz="2000" dirty="0" smtClean="0">
                <a:latin typeface="Helvetica" panose="020B0604020202020204" pitchFamily="34" charset="0"/>
                <a:ea typeface="Calibri" panose="020F0502020204030204" pitchFamily="34" charset="0"/>
                <a:cs typeface="Times New Roman" panose="02020603050405020304" pitchFamily="18" charset="0"/>
              </a:rPr>
              <a:t>, 1996)</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spcAft>
                <a:spcPts val="800"/>
              </a:spcAft>
              <a:buFont typeface="Symbol" panose="05050102010706020507" pitchFamily="18" charset="2"/>
              <a:buChar char=""/>
            </a:pPr>
            <a:r>
              <a:rPr lang="en-IN" sz="2000" dirty="0">
                <a:latin typeface="Helvetica" panose="020B0604020202020204" pitchFamily="34" charset="0"/>
                <a:ea typeface="Calibri" panose="020F0502020204030204" pitchFamily="34" charset="0"/>
                <a:cs typeface="Times New Roman" panose="02020603050405020304" pitchFamily="18" charset="0"/>
              </a:rPr>
              <a:t>It is a regression method that shrinks coefficients and can even set some of them exactly to zero.</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1200"/>
              </a:spcBef>
              <a:spcAft>
                <a:spcPts val="0"/>
              </a:spcAft>
            </a:pPr>
            <a:r>
              <a:rPr lang="en-IN" sz="3200" b="1" kern="0" dirty="0">
                <a:solidFill>
                  <a:srgbClr val="0D0D0D"/>
                </a:solidFill>
                <a:latin typeface="Helvetica" panose="020B0604020202020204" pitchFamily="34" charset="0"/>
                <a:ea typeface="Times New Roman" panose="02020603050405020304" pitchFamily="18" charset="0"/>
                <a:cs typeface="Times New Roman" panose="02020603050405020304" pitchFamily="18" charset="0"/>
              </a:rPr>
              <a:t>Why use it?</a:t>
            </a:r>
            <a:endParaRPr lang="en-IN" sz="3200" b="1" kern="0" dirty="0">
              <a:solidFill>
                <a:srgbClr val="2E74B5"/>
              </a:solidFill>
              <a:latin typeface="Calibri Light" panose="020F0302020204030204" pitchFamily="34" charset="0"/>
              <a:ea typeface="Times New Roman" panose="02020603050405020304" pitchFamily="18" charset="0"/>
              <a:cs typeface="Times New Roman" panose="02020603050405020304" pitchFamily="18" charset="0"/>
            </a:endParaRPr>
          </a:p>
          <a:p>
            <a:pPr marL="800100" lvl="1" indent="-342900">
              <a:lnSpc>
                <a:spcPct val="107000"/>
              </a:lnSpc>
              <a:buFont typeface="Symbol" panose="05050102010706020507" pitchFamily="18" charset="2"/>
              <a:buChar char=""/>
            </a:pPr>
            <a:r>
              <a:rPr lang="en-IN" sz="2000" dirty="0">
                <a:latin typeface="Helvetica" panose="020B0604020202020204" pitchFamily="34" charset="0"/>
                <a:ea typeface="Calibri" panose="020F0502020204030204" pitchFamily="34" charset="0"/>
                <a:cs typeface="Times New Roman" panose="02020603050405020304" pitchFamily="18" charset="0"/>
              </a:rPr>
              <a:t>Helps when there are too many predictors (features).</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buFont typeface="Symbol" panose="05050102010706020507" pitchFamily="18" charset="2"/>
              <a:buChar char=""/>
            </a:pPr>
            <a:r>
              <a:rPr lang="en-IN" sz="2000" dirty="0">
                <a:latin typeface="Helvetica" panose="020B0604020202020204" pitchFamily="34" charset="0"/>
                <a:ea typeface="Calibri" panose="020F0502020204030204" pitchFamily="34" charset="0"/>
                <a:cs typeface="Times New Roman" panose="02020603050405020304" pitchFamily="18" charset="0"/>
              </a:rPr>
              <a:t>Prevents overfitting by simplifying the model.</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spcAft>
                <a:spcPts val="800"/>
              </a:spcAft>
              <a:buFont typeface="Symbol" panose="05050102010706020507" pitchFamily="18" charset="2"/>
              <a:buChar char=""/>
            </a:pPr>
            <a:r>
              <a:rPr lang="en-IN" sz="2000" dirty="0">
                <a:latin typeface="Helvetica" panose="020B0604020202020204" pitchFamily="34" charset="0"/>
                <a:ea typeface="Calibri" panose="020F0502020204030204" pitchFamily="34" charset="0"/>
                <a:cs typeface="Times New Roman" panose="02020603050405020304" pitchFamily="18" charset="0"/>
              </a:rPr>
              <a:t>Unlike Ridge Regression (which only shrinks), Lasso also performs feature selection.</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1200"/>
              </a:spcBef>
              <a:spcAft>
                <a:spcPts val="0"/>
              </a:spcAft>
            </a:pPr>
            <a:r>
              <a:rPr lang="en-IN" sz="3200" b="1" kern="0" dirty="0">
                <a:solidFill>
                  <a:srgbClr val="0D0D0D"/>
                </a:solidFill>
                <a:latin typeface="Helvetica" panose="020B0604020202020204" pitchFamily="34" charset="0"/>
                <a:ea typeface="Times New Roman" panose="02020603050405020304" pitchFamily="18" charset="0"/>
                <a:cs typeface="Times New Roman" panose="02020603050405020304" pitchFamily="18" charset="0"/>
              </a:rPr>
              <a:t>How does it work?</a:t>
            </a:r>
            <a:endParaRPr lang="en-IN" sz="3200" b="1" kern="0" dirty="0">
              <a:solidFill>
                <a:srgbClr val="2E74B5"/>
              </a:solidFill>
              <a:latin typeface="Calibri Light" panose="020F0302020204030204" pitchFamily="34" charset="0"/>
              <a:ea typeface="Times New Roman" panose="02020603050405020304" pitchFamily="18" charset="0"/>
              <a:cs typeface="Times New Roman" panose="02020603050405020304" pitchFamily="18" charset="0"/>
            </a:endParaRPr>
          </a:p>
          <a:p>
            <a:pPr marL="800100" lvl="1" indent="-342900">
              <a:lnSpc>
                <a:spcPct val="107000"/>
              </a:lnSpc>
              <a:buFont typeface="Symbol" panose="05050102010706020507" pitchFamily="18" charset="2"/>
              <a:buChar char=""/>
            </a:pPr>
            <a:r>
              <a:rPr lang="en-IN" sz="2000" dirty="0">
                <a:latin typeface="Helvetica" panose="020B0604020202020204" pitchFamily="34" charset="0"/>
                <a:ea typeface="Calibri" panose="020F0502020204030204" pitchFamily="34" charset="0"/>
                <a:cs typeface="Times New Roman" panose="02020603050405020304" pitchFamily="18" charset="0"/>
              </a:rPr>
              <a:t>Lasso adds a penalty based on the absolute size of coefficients (L1 norm).</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buFont typeface="Symbol" panose="05050102010706020507" pitchFamily="18" charset="2"/>
              <a:buChar char=""/>
            </a:pPr>
            <a:r>
              <a:rPr lang="en-IN" sz="2000" dirty="0">
                <a:latin typeface="Helvetica" panose="020B0604020202020204" pitchFamily="34" charset="0"/>
                <a:ea typeface="Calibri" panose="020F0502020204030204" pitchFamily="34" charset="0"/>
                <a:cs typeface="Times New Roman" panose="02020603050405020304" pitchFamily="18" charset="0"/>
              </a:rPr>
              <a:t>Big coefficients are reduced; unimportant ones can become zero.</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spcAft>
                <a:spcPts val="800"/>
              </a:spcAft>
              <a:buFont typeface="Symbol" panose="05050102010706020507" pitchFamily="18" charset="2"/>
              <a:buChar char=""/>
            </a:pPr>
            <a:r>
              <a:rPr lang="en-IN" sz="2000" dirty="0">
                <a:latin typeface="Helvetica" panose="020B0604020202020204" pitchFamily="34" charset="0"/>
                <a:ea typeface="Calibri" panose="020F0502020204030204" pitchFamily="34" charset="0"/>
                <a:cs typeface="Times New Roman" panose="02020603050405020304" pitchFamily="18" charset="0"/>
              </a:rPr>
              <a:t>This makes the model simpler, more stable, and easier to interpret.</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endParaRPr lang="en-IN" sz="20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0660538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34963" y="341376"/>
                <a:ext cx="11522076" cy="6516624"/>
              </a:xfrm>
            </p:spPr>
            <p:txBody>
              <a:bodyPr>
                <a:noAutofit/>
              </a:bodyPr>
              <a:lstStyle/>
              <a:p>
                <a:pPr>
                  <a:lnSpc>
                    <a:spcPct val="107000"/>
                  </a:lnSpc>
                  <a:spcBef>
                    <a:spcPts val="1200"/>
                  </a:spcBef>
                  <a:buSzPct val="50000"/>
                </a:pPr>
                <a:r>
                  <a:rPr lang="en-IN" sz="2600" b="1" kern="0" dirty="0" smtClean="0">
                    <a:solidFill>
                      <a:srgbClr val="0D0D0D"/>
                    </a:solidFill>
                    <a:latin typeface="Helvetica" panose="020B0604020202020204" pitchFamily="34" charset="0"/>
                    <a:ea typeface="Times New Roman" panose="02020603050405020304" pitchFamily="18" charset="0"/>
                    <a:cs typeface="Times New Roman" panose="02020603050405020304" pitchFamily="18" charset="0"/>
                  </a:rPr>
                  <a:t>Multiple Linear Regression Setup</a:t>
                </a:r>
              </a:p>
              <a:p>
                <a:pPr marL="457200" lvl="1" indent="0">
                  <a:buNone/>
                </a:pPr>
                <a:r>
                  <a:rPr lang="en-IN" sz="2200" dirty="0" smtClean="0">
                    <a:latin typeface="Helvetica" panose="020B0604020202020204" pitchFamily="34" charset="0"/>
                    <a:cs typeface="Helvetica" panose="020B0604020202020204" pitchFamily="34" charset="0"/>
                  </a:rPr>
                  <a:t> </a:t>
                </a:r>
                <a:r>
                  <a:rPr lang="en-IN" sz="1800" dirty="0">
                    <a:latin typeface="Helvetica" panose="020B0604020202020204" pitchFamily="34" charset="0"/>
                    <a:cs typeface="Helvetica" panose="020B0604020202020204" pitchFamily="34" charset="0"/>
                  </a:rPr>
                  <a:t>Model (with p predictors</a:t>
                </a:r>
                <a:r>
                  <a:rPr lang="en-IN" sz="1800" dirty="0" smtClean="0">
                    <a:latin typeface="Helvetica" panose="020B0604020202020204" pitchFamily="34" charset="0"/>
                    <a:cs typeface="Helvetica" panose="020B0604020202020204" pitchFamily="34" charset="0"/>
                  </a:rPr>
                  <a:t>):</a:t>
                </a:r>
              </a:p>
              <a:p>
                <a:pPr marL="457200" lvl="1" indent="0" algn="ctr">
                  <a:buNone/>
                </a:pPr>
                <a:r>
                  <a:rPr lang="en-IN" sz="1800" b="1" dirty="0" err="1" smtClean="0">
                    <a:latin typeface="Cambria Math" panose="02040503050406030204" pitchFamily="18" charset="0"/>
                    <a:ea typeface="Cambria Math" panose="02040503050406030204" pitchFamily="18" charset="0"/>
                    <a:cs typeface="Helvetica" panose="020B0604020202020204" pitchFamily="34" charset="0"/>
                  </a:rPr>
                  <a:t>y</a:t>
                </a:r>
                <a:r>
                  <a:rPr lang="en-IN" sz="1800" b="1" baseline="-25000" dirty="0" err="1" smtClean="0">
                    <a:latin typeface="Cambria Math" panose="02040503050406030204" pitchFamily="18" charset="0"/>
                    <a:ea typeface="Cambria Math" panose="02040503050406030204" pitchFamily="18" charset="0"/>
                    <a:cs typeface="Helvetica" panose="020B0604020202020204" pitchFamily="34" charset="0"/>
                  </a:rPr>
                  <a:t>i</a:t>
                </a:r>
                <a:r>
                  <a:rPr lang="en-IN" sz="1800" b="1" dirty="0" smtClean="0">
                    <a:latin typeface="Cambria Math" panose="02040503050406030204" pitchFamily="18" charset="0"/>
                    <a:ea typeface="Cambria Math" panose="02040503050406030204" pitchFamily="18" charset="0"/>
                    <a:cs typeface="Helvetica" panose="020B0604020202020204" pitchFamily="34" charset="0"/>
                  </a:rPr>
                  <a:t> </a:t>
                </a:r>
                <a:r>
                  <a:rPr lang="en-IN" sz="1800" b="1" dirty="0">
                    <a:latin typeface="Cambria Math" panose="02040503050406030204" pitchFamily="18" charset="0"/>
                    <a:ea typeface="Cambria Math" panose="02040503050406030204" pitchFamily="18" charset="0"/>
                    <a:cs typeface="Helvetica" panose="020B0604020202020204" pitchFamily="34" charset="0"/>
                  </a:rPr>
                  <a:t>= </a:t>
                </a:r>
                <a:r>
                  <a:rPr lang="el-GR" sz="1800" b="1" dirty="0">
                    <a:latin typeface="Cambria Math" panose="02040503050406030204" pitchFamily="18" charset="0"/>
                    <a:ea typeface="Cambria Math" panose="02040503050406030204" pitchFamily="18" charset="0"/>
                    <a:cs typeface="Helvetica" panose="020B0604020202020204" pitchFamily="34" charset="0"/>
                  </a:rPr>
                  <a:t>β</a:t>
                </a:r>
                <a:r>
                  <a:rPr lang="el-GR" sz="1800" b="1" baseline="-25000" dirty="0">
                    <a:latin typeface="Cambria Math" panose="02040503050406030204" pitchFamily="18" charset="0"/>
                    <a:ea typeface="Cambria Math" panose="02040503050406030204" pitchFamily="18" charset="0"/>
                    <a:cs typeface="Helvetica" panose="020B0604020202020204" pitchFamily="34" charset="0"/>
                  </a:rPr>
                  <a:t>0</a:t>
                </a:r>
                <a:r>
                  <a:rPr lang="el-GR" sz="1800" b="1" dirty="0">
                    <a:latin typeface="Cambria Math" panose="02040503050406030204" pitchFamily="18" charset="0"/>
                    <a:ea typeface="Cambria Math" panose="02040503050406030204" pitchFamily="18" charset="0"/>
                    <a:cs typeface="Helvetica" panose="020B0604020202020204" pitchFamily="34" charset="0"/>
                  </a:rPr>
                  <a:t> + β</a:t>
                </a:r>
                <a:r>
                  <a:rPr lang="el-GR" sz="1800" b="1" baseline="-25000" dirty="0">
                    <a:latin typeface="Cambria Math" panose="02040503050406030204" pitchFamily="18" charset="0"/>
                    <a:ea typeface="Cambria Math" panose="02040503050406030204" pitchFamily="18" charset="0"/>
                    <a:cs typeface="Helvetica" panose="020B0604020202020204" pitchFamily="34" charset="0"/>
                  </a:rPr>
                  <a:t>1</a:t>
                </a:r>
                <a:r>
                  <a:rPr lang="en-IN" sz="1800" b="1" dirty="0">
                    <a:latin typeface="Cambria Math" panose="02040503050406030204" pitchFamily="18" charset="0"/>
                    <a:ea typeface="Cambria Math" panose="02040503050406030204" pitchFamily="18" charset="0"/>
                    <a:cs typeface="Helvetica" panose="020B0604020202020204" pitchFamily="34" charset="0"/>
                  </a:rPr>
                  <a:t>x</a:t>
                </a:r>
                <a:r>
                  <a:rPr lang="en-IN" sz="1800" b="1" baseline="-25000" dirty="0">
                    <a:latin typeface="Cambria Math" panose="02040503050406030204" pitchFamily="18" charset="0"/>
                    <a:ea typeface="Cambria Math" panose="02040503050406030204" pitchFamily="18" charset="0"/>
                    <a:cs typeface="Helvetica" panose="020B0604020202020204" pitchFamily="34" charset="0"/>
                  </a:rPr>
                  <a:t>i1</a:t>
                </a:r>
                <a:r>
                  <a:rPr lang="en-IN" sz="1800" b="1" dirty="0">
                    <a:latin typeface="Cambria Math" panose="02040503050406030204" pitchFamily="18" charset="0"/>
                    <a:ea typeface="Cambria Math" panose="02040503050406030204" pitchFamily="18" charset="0"/>
                    <a:cs typeface="Helvetica" panose="020B0604020202020204" pitchFamily="34" charset="0"/>
                  </a:rPr>
                  <a:t> + </a:t>
                </a:r>
                <a:r>
                  <a:rPr lang="el-GR" sz="1800" b="1" dirty="0">
                    <a:latin typeface="Cambria Math" panose="02040503050406030204" pitchFamily="18" charset="0"/>
                    <a:ea typeface="Cambria Math" panose="02040503050406030204" pitchFamily="18" charset="0"/>
                    <a:cs typeface="Helvetica" panose="020B0604020202020204" pitchFamily="34" charset="0"/>
                  </a:rPr>
                  <a:t>β</a:t>
                </a:r>
                <a:r>
                  <a:rPr lang="el-GR" sz="1800" b="1" baseline="-25000" dirty="0">
                    <a:latin typeface="Cambria Math" panose="02040503050406030204" pitchFamily="18" charset="0"/>
                    <a:ea typeface="Cambria Math" panose="02040503050406030204" pitchFamily="18" charset="0"/>
                    <a:cs typeface="Helvetica" panose="020B0604020202020204" pitchFamily="34" charset="0"/>
                  </a:rPr>
                  <a:t>2</a:t>
                </a:r>
                <a:r>
                  <a:rPr lang="en-IN" sz="1800" b="1" dirty="0">
                    <a:latin typeface="Cambria Math" panose="02040503050406030204" pitchFamily="18" charset="0"/>
                    <a:ea typeface="Cambria Math" panose="02040503050406030204" pitchFamily="18" charset="0"/>
                    <a:cs typeface="Helvetica" panose="020B0604020202020204" pitchFamily="34" charset="0"/>
                  </a:rPr>
                  <a:t>x</a:t>
                </a:r>
                <a:r>
                  <a:rPr lang="en-IN" sz="1800" b="1" baseline="-25000" dirty="0">
                    <a:latin typeface="Cambria Math" panose="02040503050406030204" pitchFamily="18" charset="0"/>
                    <a:ea typeface="Cambria Math" panose="02040503050406030204" pitchFamily="18" charset="0"/>
                    <a:cs typeface="Helvetica" panose="020B0604020202020204" pitchFamily="34" charset="0"/>
                  </a:rPr>
                  <a:t>i2</a:t>
                </a:r>
                <a:r>
                  <a:rPr lang="en-IN" sz="1800" b="1" dirty="0">
                    <a:latin typeface="Cambria Math" panose="02040503050406030204" pitchFamily="18" charset="0"/>
                    <a:ea typeface="Cambria Math" panose="02040503050406030204" pitchFamily="18" charset="0"/>
                    <a:cs typeface="Helvetica" panose="020B0604020202020204" pitchFamily="34" charset="0"/>
                  </a:rPr>
                  <a:t> + · · · + </a:t>
                </a:r>
                <a:r>
                  <a:rPr lang="el-GR" sz="1800" b="1" dirty="0">
                    <a:latin typeface="Cambria Math" panose="02040503050406030204" pitchFamily="18" charset="0"/>
                    <a:ea typeface="Cambria Math" panose="02040503050406030204" pitchFamily="18" charset="0"/>
                    <a:cs typeface="Helvetica" panose="020B0604020202020204" pitchFamily="34" charset="0"/>
                  </a:rPr>
                  <a:t>β</a:t>
                </a:r>
                <a:r>
                  <a:rPr lang="en-IN" sz="1800" b="1" baseline="-25000" dirty="0" err="1">
                    <a:latin typeface="Cambria Math" panose="02040503050406030204" pitchFamily="18" charset="0"/>
                    <a:ea typeface="Cambria Math" panose="02040503050406030204" pitchFamily="18" charset="0"/>
                    <a:cs typeface="Helvetica" panose="020B0604020202020204" pitchFamily="34" charset="0"/>
                  </a:rPr>
                  <a:t>p</a:t>
                </a:r>
                <a:r>
                  <a:rPr lang="en-IN" sz="1800" b="1" dirty="0" err="1">
                    <a:latin typeface="Cambria Math" panose="02040503050406030204" pitchFamily="18" charset="0"/>
                    <a:ea typeface="Cambria Math" panose="02040503050406030204" pitchFamily="18" charset="0"/>
                    <a:cs typeface="Helvetica" panose="020B0604020202020204" pitchFamily="34" charset="0"/>
                  </a:rPr>
                  <a:t>x</a:t>
                </a:r>
                <a:r>
                  <a:rPr lang="en-IN" sz="1800" b="1" baseline="-25000" dirty="0" err="1">
                    <a:latin typeface="Cambria Math" panose="02040503050406030204" pitchFamily="18" charset="0"/>
                    <a:ea typeface="Cambria Math" panose="02040503050406030204" pitchFamily="18" charset="0"/>
                    <a:cs typeface="Helvetica" panose="020B0604020202020204" pitchFamily="34" charset="0"/>
                  </a:rPr>
                  <a:t>ip</a:t>
                </a:r>
                <a:r>
                  <a:rPr lang="en-IN" sz="1800" b="1" dirty="0">
                    <a:latin typeface="Cambria Math" panose="02040503050406030204" pitchFamily="18" charset="0"/>
                    <a:ea typeface="Cambria Math" panose="02040503050406030204" pitchFamily="18" charset="0"/>
                    <a:cs typeface="Helvetica" panose="020B0604020202020204" pitchFamily="34" charset="0"/>
                  </a:rPr>
                  <a:t> + </a:t>
                </a:r>
                <a:r>
                  <a:rPr lang="el-GR" sz="1800" b="1" dirty="0">
                    <a:latin typeface="Cambria Math" panose="02040503050406030204" pitchFamily="18" charset="0"/>
                    <a:ea typeface="Cambria Math" panose="02040503050406030204" pitchFamily="18" charset="0"/>
                    <a:cs typeface="Helvetica" panose="020B0604020202020204" pitchFamily="34" charset="0"/>
                  </a:rPr>
                  <a:t>ε</a:t>
                </a:r>
                <a:r>
                  <a:rPr lang="en-IN" sz="1800" b="1" baseline="-25000" dirty="0" err="1">
                    <a:latin typeface="Cambria Math" panose="02040503050406030204" pitchFamily="18" charset="0"/>
                    <a:ea typeface="Cambria Math" panose="02040503050406030204" pitchFamily="18" charset="0"/>
                    <a:cs typeface="Helvetica" panose="020B0604020202020204" pitchFamily="34" charset="0"/>
                  </a:rPr>
                  <a:t>i</a:t>
                </a:r>
                <a:r>
                  <a:rPr lang="en-IN" sz="1800" b="1" dirty="0">
                    <a:latin typeface="Cambria Math" panose="02040503050406030204" pitchFamily="18" charset="0"/>
                    <a:ea typeface="Cambria Math" panose="02040503050406030204" pitchFamily="18" charset="0"/>
                    <a:cs typeface="Helvetica" panose="020B0604020202020204" pitchFamily="34" charset="0"/>
                  </a:rPr>
                  <a:t>, </a:t>
                </a:r>
                <a:r>
                  <a:rPr lang="en-IN" sz="1800" b="1" dirty="0" err="1">
                    <a:latin typeface="Cambria Math" panose="02040503050406030204" pitchFamily="18" charset="0"/>
                    <a:ea typeface="Cambria Math" panose="02040503050406030204" pitchFamily="18" charset="0"/>
                    <a:cs typeface="Helvetica" panose="020B0604020202020204" pitchFamily="34" charset="0"/>
                  </a:rPr>
                  <a:t>i</a:t>
                </a:r>
                <a:r>
                  <a:rPr lang="en-IN" sz="1800" b="1" dirty="0">
                    <a:latin typeface="Cambria Math" panose="02040503050406030204" pitchFamily="18" charset="0"/>
                    <a:ea typeface="Cambria Math" panose="02040503050406030204" pitchFamily="18" charset="0"/>
                    <a:cs typeface="Helvetica" panose="020B0604020202020204" pitchFamily="34" charset="0"/>
                  </a:rPr>
                  <a:t> = 1, 2, . . . , </a:t>
                </a:r>
                <a:r>
                  <a:rPr lang="en-IN" sz="1800" b="1" dirty="0" smtClean="0">
                    <a:latin typeface="Cambria Math" panose="02040503050406030204" pitchFamily="18" charset="0"/>
                    <a:ea typeface="Cambria Math" panose="02040503050406030204" pitchFamily="18" charset="0"/>
                    <a:cs typeface="Helvetica" panose="020B0604020202020204" pitchFamily="34" charset="0"/>
                  </a:rPr>
                  <a:t>n</a:t>
                </a:r>
              </a:p>
              <a:p>
                <a:pPr lvl="1"/>
                <a:r>
                  <a:rPr lang="en-IN" sz="1400" dirty="0" smtClean="0">
                    <a:latin typeface="Helvetica" panose="020B0604020202020204" pitchFamily="34" charset="0"/>
                    <a:cs typeface="Helvetica" panose="020B0604020202020204" pitchFamily="34" charset="0"/>
                  </a:rPr>
                  <a:t> </a:t>
                </a:r>
                <a:r>
                  <a:rPr lang="en-IN" sz="1400" dirty="0" err="1">
                    <a:latin typeface="Helvetica" panose="020B0604020202020204" pitchFamily="34" charset="0"/>
                    <a:cs typeface="Helvetica" panose="020B0604020202020204" pitchFamily="34" charset="0"/>
                  </a:rPr>
                  <a:t>y</a:t>
                </a:r>
                <a:r>
                  <a:rPr lang="en-IN" sz="1400" baseline="-25000" dirty="0" err="1">
                    <a:latin typeface="Helvetica" panose="020B0604020202020204" pitchFamily="34" charset="0"/>
                    <a:cs typeface="Helvetica" panose="020B0604020202020204" pitchFamily="34" charset="0"/>
                  </a:rPr>
                  <a:t>i</a:t>
                </a:r>
                <a:r>
                  <a:rPr lang="en-IN" sz="1400" dirty="0">
                    <a:latin typeface="Helvetica" panose="020B0604020202020204" pitchFamily="34" charset="0"/>
                    <a:cs typeface="Helvetica" panose="020B0604020202020204" pitchFamily="34" charset="0"/>
                  </a:rPr>
                  <a:t>: response for observation </a:t>
                </a:r>
                <a:r>
                  <a:rPr lang="en-IN" sz="1400" dirty="0" err="1">
                    <a:latin typeface="Helvetica" panose="020B0604020202020204" pitchFamily="34" charset="0"/>
                    <a:cs typeface="Helvetica" panose="020B0604020202020204" pitchFamily="34" charset="0"/>
                  </a:rPr>
                  <a:t>i</a:t>
                </a:r>
                <a:r>
                  <a:rPr lang="en-IN" sz="1400" dirty="0">
                    <a:latin typeface="Helvetica" panose="020B0604020202020204" pitchFamily="34" charset="0"/>
                    <a:cs typeface="Helvetica" panose="020B0604020202020204" pitchFamily="34" charset="0"/>
                  </a:rPr>
                  <a:t> </a:t>
                </a:r>
                <a:endParaRPr lang="en-IN" sz="1400" dirty="0" smtClean="0">
                  <a:latin typeface="Helvetica" panose="020B0604020202020204" pitchFamily="34" charset="0"/>
                  <a:cs typeface="Helvetica" panose="020B0604020202020204" pitchFamily="34" charset="0"/>
                </a:endParaRPr>
              </a:p>
              <a:p>
                <a:pPr lvl="1"/>
                <a:r>
                  <a:rPr lang="en-IN" sz="1400" dirty="0" smtClean="0">
                    <a:latin typeface="Helvetica" panose="020B0604020202020204" pitchFamily="34" charset="0"/>
                    <a:cs typeface="Helvetica" panose="020B0604020202020204" pitchFamily="34" charset="0"/>
                  </a:rPr>
                  <a:t> </a:t>
                </a:r>
                <a:r>
                  <a:rPr lang="en-IN" sz="1400" dirty="0" err="1">
                    <a:latin typeface="Helvetica" panose="020B0604020202020204" pitchFamily="34" charset="0"/>
                    <a:cs typeface="Helvetica" panose="020B0604020202020204" pitchFamily="34" charset="0"/>
                  </a:rPr>
                  <a:t>x</a:t>
                </a:r>
                <a:r>
                  <a:rPr lang="en-IN" sz="1400" baseline="-25000" dirty="0" err="1">
                    <a:latin typeface="Helvetica" panose="020B0604020202020204" pitchFamily="34" charset="0"/>
                    <a:cs typeface="Helvetica" panose="020B0604020202020204" pitchFamily="34" charset="0"/>
                  </a:rPr>
                  <a:t>ij</a:t>
                </a:r>
                <a:r>
                  <a:rPr lang="en-IN" sz="1400" dirty="0">
                    <a:latin typeface="Helvetica" panose="020B0604020202020204" pitchFamily="34" charset="0"/>
                    <a:cs typeface="Helvetica" panose="020B0604020202020204" pitchFamily="34" charset="0"/>
                  </a:rPr>
                  <a:t> : value of predictor j for </a:t>
                </a:r>
                <a:r>
                  <a:rPr lang="en-IN" sz="1400" dirty="0" smtClean="0">
                    <a:latin typeface="Helvetica" panose="020B0604020202020204" pitchFamily="34" charset="0"/>
                    <a:cs typeface="Helvetica" panose="020B0604020202020204" pitchFamily="34" charset="0"/>
                  </a:rPr>
                  <a:t>observation </a:t>
                </a:r>
                <a:r>
                  <a:rPr lang="en-IN" sz="1400" dirty="0" err="1" smtClean="0">
                    <a:latin typeface="Helvetica" panose="020B0604020202020204" pitchFamily="34" charset="0"/>
                    <a:cs typeface="Helvetica" panose="020B0604020202020204" pitchFamily="34" charset="0"/>
                  </a:rPr>
                  <a:t>i</a:t>
                </a:r>
                <a:endParaRPr lang="en-IN" sz="1400" dirty="0" smtClean="0">
                  <a:latin typeface="Helvetica" panose="020B0604020202020204" pitchFamily="34" charset="0"/>
                  <a:cs typeface="Helvetica" panose="020B0604020202020204" pitchFamily="34" charset="0"/>
                </a:endParaRPr>
              </a:p>
              <a:p>
                <a:pPr lvl="1"/>
                <a:r>
                  <a:rPr lang="el-GR" sz="1400" dirty="0" smtClean="0">
                    <a:latin typeface="Helvetica" panose="020B0604020202020204" pitchFamily="34" charset="0"/>
                    <a:cs typeface="Helvetica" panose="020B0604020202020204" pitchFamily="34" charset="0"/>
                  </a:rPr>
                  <a:t>β</a:t>
                </a:r>
                <a:r>
                  <a:rPr lang="en-IN" sz="1400" baseline="-25000" dirty="0">
                    <a:latin typeface="Helvetica" panose="020B0604020202020204" pitchFamily="34" charset="0"/>
                    <a:cs typeface="Helvetica" panose="020B0604020202020204" pitchFamily="34" charset="0"/>
                  </a:rPr>
                  <a:t>j</a:t>
                </a:r>
                <a:r>
                  <a:rPr lang="en-IN" sz="1400" dirty="0">
                    <a:latin typeface="Helvetica" panose="020B0604020202020204" pitchFamily="34" charset="0"/>
                    <a:cs typeface="Helvetica" panose="020B0604020202020204" pitchFamily="34" charset="0"/>
                  </a:rPr>
                  <a:t> : regression </a:t>
                </a:r>
                <a:r>
                  <a:rPr lang="en-IN" sz="1400" dirty="0" smtClean="0">
                    <a:latin typeface="Helvetica" panose="020B0604020202020204" pitchFamily="34" charset="0"/>
                    <a:cs typeface="Helvetica" panose="020B0604020202020204" pitchFamily="34" charset="0"/>
                  </a:rPr>
                  <a:t>coefficients</a:t>
                </a:r>
              </a:p>
              <a:p>
                <a:pPr lvl="1"/>
                <a:r>
                  <a:rPr lang="el-GR" sz="1400" dirty="0" smtClean="0">
                    <a:latin typeface="Helvetica" panose="020B0604020202020204" pitchFamily="34" charset="0"/>
                    <a:cs typeface="Helvetica" panose="020B0604020202020204" pitchFamily="34" charset="0"/>
                  </a:rPr>
                  <a:t>ε</a:t>
                </a:r>
                <a:r>
                  <a:rPr lang="en-IN" sz="1400" baseline="-25000" dirty="0">
                    <a:latin typeface="Helvetica" panose="020B0604020202020204" pitchFamily="34" charset="0"/>
                    <a:cs typeface="Helvetica" panose="020B0604020202020204" pitchFamily="34" charset="0"/>
                  </a:rPr>
                  <a:t>i</a:t>
                </a:r>
                <a:r>
                  <a:rPr lang="en-IN" sz="1400" dirty="0">
                    <a:latin typeface="Helvetica" panose="020B0604020202020204" pitchFamily="34" charset="0"/>
                    <a:cs typeface="Helvetica" panose="020B0604020202020204" pitchFamily="34" charset="0"/>
                  </a:rPr>
                  <a:t>: </a:t>
                </a:r>
                <a:r>
                  <a:rPr lang="en-IN" sz="1400" dirty="0" smtClean="0">
                    <a:latin typeface="Helvetica" panose="020B0604020202020204" pitchFamily="34" charset="0"/>
                    <a:cs typeface="Helvetica" panose="020B0604020202020204" pitchFamily="34" charset="0"/>
                  </a:rPr>
                  <a:t>error term</a:t>
                </a:r>
              </a:p>
              <a:p>
                <a:r>
                  <a:rPr lang="en-IN" sz="2600" b="1" dirty="0" smtClean="0">
                    <a:latin typeface="Helvetica" panose="020B0604020202020204" pitchFamily="34" charset="0"/>
                    <a:cs typeface="Helvetica" panose="020B0604020202020204" pitchFamily="34" charset="0"/>
                  </a:rPr>
                  <a:t>Matrix Form </a:t>
                </a:r>
                <a:endParaRPr lang="en-IN" sz="2600" b="1" dirty="0">
                  <a:latin typeface="Helvetica" panose="020B0604020202020204" pitchFamily="34" charset="0"/>
                  <a:cs typeface="Helvetica" panose="020B0604020202020204" pitchFamily="34" charset="0"/>
                </a:endParaRPr>
              </a:p>
              <a:p>
                <a:pPr algn="ctr"/>
                <a14:m>
                  <m:oMath xmlns:m="http://schemas.openxmlformats.org/officeDocument/2006/math">
                    <m:bar>
                      <m:barPr>
                        <m:ctrlPr>
                          <a:rPr lang="en-IN" sz="1800" b="1" i="1" dirty="0" smtClean="0">
                            <a:latin typeface="Cambria Math" panose="02040503050406030204" pitchFamily="18" charset="0"/>
                            <a:ea typeface="Cambria Math" panose="02040503050406030204" pitchFamily="18" charset="0"/>
                            <a:cs typeface="Helvetica" panose="020B0604020202020204" pitchFamily="34" charset="0"/>
                          </a:rPr>
                        </m:ctrlPr>
                      </m:barPr>
                      <m:e>
                        <m:r>
                          <a:rPr lang="en-IN" sz="1800" b="1" i="1" dirty="0">
                            <a:latin typeface="Cambria Math" panose="02040503050406030204" pitchFamily="18" charset="0"/>
                            <a:ea typeface="Cambria Math" panose="02040503050406030204" pitchFamily="18" charset="0"/>
                            <a:cs typeface="Helvetica" panose="020B0604020202020204" pitchFamily="34" charset="0"/>
                          </a:rPr>
                          <m:t>𝒚</m:t>
                        </m:r>
                      </m:e>
                    </m:bar>
                  </m:oMath>
                </a14:m>
                <a:r>
                  <a:rPr lang="en-IN" sz="1800" b="1" dirty="0">
                    <a:latin typeface="Helvetica" panose="020B0604020202020204" pitchFamily="34" charset="0"/>
                    <a:ea typeface="Cambria Math" panose="02040503050406030204" pitchFamily="18" charset="0"/>
                    <a:cs typeface="Helvetica" panose="020B0604020202020204" pitchFamily="34" charset="0"/>
                  </a:rPr>
                  <a:t> = X</a:t>
                </a:r>
                <a14:m>
                  <m:oMath xmlns:m="http://schemas.openxmlformats.org/officeDocument/2006/math">
                    <m:bar>
                      <m:barPr>
                        <m:ctrlPr>
                          <a:rPr lang="el-GR" sz="1800" b="1" i="1" dirty="0" smtClean="0">
                            <a:latin typeface="Cambria Math" panose="02040503050406030204" pitchFamily="18" charset="0"/>
                            <a:ea typeface="Cambria Math" panose="02040503050406030204" pitchFamily="18" charset="0"/>
                            <a:cs typeface="Helvetica" panose="020B0604020202020204" pitchFamily="34" charset="0"/>
                          </a:rPr>
                        </m:ctrlPr>
                      </m:barPr>
                      <m:e>
                        <m:r>
                          <a:rPr lang="el-GR" sz="1800" b="1" i="1" dirty="0">
                            <a:latin typeface="Cambria Math" panose="02040503050406030204" pitchFamily="18" charset="0"/>
                            <a:ea typeface="Cambria Math" panose="02040503050406030204" pitchFamily="18" charset="0"/>
                            <a:cs typeface="Helvetica" panose="020B0604020202020204" pitchFamily="34" charset="0"/>
                          </a:rPr>
                          <m:t>𝜷</m:t>
                        </m:r>
                      </m:e>
                    </m:bar>
                  </m:oMath>
                </a14:m>
                <a:r>
                  <a:rPr lang="el-GR" sz="1800" b="1" dirty="0">
                    <a:latin typeface="Helvetica" panose="020B0604020202020204" pitchFamily="34" charset="0"/>
                    <a:ea typeface="Cambria Math" panose="02040503050406030204" pitchFamily="18" charset="0"/>
                    <a:cs typeface="Helvetica" panose="020B0604020202020204" pitchFamily="34" charset="0"/>
                  </a:rPr>
                  <a:t> + </a:t>
                </a:r>
                <a14:m>
                  <m:oMath xmlns:m="http://schemas.openxmlformats.org/officeDocument/2006/math">
                    <m:bar>
                      <m:barPr>
                        <m:ctrlPr>
                          <a:rPr lang="el-GR" sz="1800" b="1" i="1" dirty="0" smtClean="0">
                            <a:latin typeface="Cambria Math" panose="02040503050406030204" pitchFamily="18" charset="0"/>
                            <a:ea typeface="Cambria Math" panose="02040503050406030204" pitchFamily="18" charset="0"/>
                            <a:cs typeface="Helvetica" panose="020B0604020202020204" pitchFamily="34" charset="0"/>
                          </a:rPr>
                        </m:ctrlPr>
                      </m:barPr>
                      <m:e>
                        <m:r>
                          <a:rPr lang="el-GR" sz="1800" b="1" i="1" dirty="0">
                            <a:latin typeface="Cambria Math" panose="02040503050406030204" pitchFamily="18" charset="0"/>
                            <a:ea typeface="Cambria Math" panose="02040503050406030204" pitchFamily="18" charset="0"/>
                            <a:cs typeface="Helvetica" panose="020B0604020202020204" pitchFamily="34" charset="0"/>
                          </a:rPr>
                          <m:t>𝜺</m:t>
                        </m:r>
                      </m:e>
                    </m:bar>
                  </m:oMath>
                </a14:m>
                <a:endParaRPr lang="en-IN" sz="2600" b="1" dirty="0" smtClean="0">
                  <a:latin typeface="Helvetica" panose="020B0604020202020204" pitchFamily="34" charset="0"/>
                  <a:cs typeface="Helvetica" panose="020B0604020202020204" pitchFamily="34" charset="0"/>
                </a:endParaRPr>
              </a:p>
              <a:p>
                <a:pPr lvl="1"/>
                <a14:m>
                  <m:oMath xmlns:m="http://schemas.openxmlformats.org/officeDocument/2006/math">
                    <m:bar>
                      <m:barPr>
                        <m:ctrlPr>
                          <a:rPr lang="en-IN" sz="1400" i="1" dirty="0" smtClean="0">
                            <a:latin typeface="Cambria Math" panose="02040503050406030204" pitchFamily="18" charset="0"/>
                            <a:cs typeface="Helvetica" panose="020B0604020202020204" pitchFamily="34" charset="0"/>
                          </a:rPr>
                        </m:ctrlPr>
                      </m:barPr>
                      <m:e>
                        <m:r>
                          <a:rPr lang="en-IN" sz="1400" i="1" dirty="0">
                            <a:latin typeface="Cambria Math" panose="02040503050406030204" pitchFamily="18" charset="0"/>
                            <a:cs typeface="Helvetica" panose="020B0604020202020204" pitchFamily="34" charset="0"/>
                          </a:rPr>
                          <m:t>𝑦</m:t>
                        </m:r>
                      </m:e>
                    </m:bar>
                  </m:oMath>
                </a14:m>
                <a:r>
                  <a:rPr lang="en-IN" sz="1400" dirty="0">
                    <a:latin typeface="Helvetica" panose="020B0604020202020204" pitchFamily="34" charset="0"/>
                    <a:cs typeface="Helvetica" panose="020B0604020202020204" pitchFamily="34" charset="0"/>
                  </a:rPr>
                  <a:t> → n × 1 response vector </a:t>
                </a:r>
              </a:p>
              <a:p>
                <a:pPr lvl="1"/>
                <a:r>
                  <a:rPr lang="en-IN" sz="1400" dirty="0">
                    <a:latin typeface="Helvetica" panose="020B0604020202020204" pitchFamily="34" charset="0"/>
                    <a:cs typeface="Helvetica" panose="020B0604020202020204" pitchFamily="34" charset="0"/>
                  </a:rPr>
                  <a:t>X → n × p design matrix (predictors) </a:t>
                </a:r>
              </a:p>
              <a:p>
                <a:pPr lvl="1"/>
                <a14:m>
                  <m:oMath xmlns:m="http://schemas.openxmlformats.org/officeDocument/2006/math">
                    <m:bar>
                      <m:barPr>
                        <m:ctrlPr>
                          <a:rPr lang="el-GR" sz="1400" i="1" dirty="0" smtClean="0">
                            <a:latin typeface="Cambria Math" panose="02040503050406030204" pitchFamily="18" charset="0"/>
                            <a:cs typeface="Helvetica" panose="020B0604020202020204" pitchFamily="34" charset="0"/>
                          </a:rPr>
                        </m:ctrlPr>
                      </m:barPr>
                      <m:e>
                        <m:r>
                          <a:rPr lang="el-GR" sz="1400" i="1" dirty="0">
                            <a:latin typeface="Cambria Math" panose="02040503050406030204" pitchFamily="18" charset="0"/>
                            <a:cs typeface="Helvetica" panose="020B0604020202020204" pitchFamily="34" charset="0"/>
                          </a:rPr>
                          <m:t>𝛽</m:t>
                        </m:r>
                      </m:e>
                    </m:bar>
                  </m:oMath>
                </a14:m>
                <a:r>
                  <a:rPr lang="el-GR" sz="1400" dirty="0" smtClean="0">
                    <a:latin typeface="Helvetica" panose="020B0604020202020204" pitchFamily="34" charset="0"/>
                    <a:cs typeface="Helvetica" panose="020B0604020202020204" pitchFamily="34" charset="0"/>
                  </a:rPr>
                  <a:t>→ </a:t>
                </a:r>
                <a:r>
                  <a:rPr lang="en-IN" sz="1400" dirty="0">
                    <a:latin typeface="Helvetica" panose="020B0604020202020204" pitchFamily="34" charset="0"/>
                    <a:cs typeface="Helvetica" panose="020B0604020202020204" pitchFamily="34" charset="0"/>
                  </a:rPr>
                  <a:t>p × 1 vector of coefficients </a:t>
                </a:r>
              </a:p>
              <a:p>
                <a:pPr lvl="1"/>
                <a14:m>
                  <m:oMath xmlns:m="http://schemas.openxmlformats.org/officeDocument/2006/math">
                    <m:bar>
                      <m:barPr>
                        <m:ctrlPr>
                          <a:rPr lang="el-GR" sz="1400" i="1" smtClean="0">
                            <a:latin typeface="Cambria Math" panose="02040503050406030204" pitchFamily="18" charset="0"/>
                            <a:cs typeface="Helvetica" panose="020B0604020202020204" pitchFamily="34" charset="0"/>
                          </a:rPr>
                        </m:ctrlPr>
                      </m:barPr>
                      <m:e>
                        <m:r>
                          <m:rPr>
                            <m:nor/>
                          </m:rPr>
                          <a:rPr lang="el-GR" sz="1400" dirty="0">
                            <a:latin typeface="Helvetica" panose="020B0604020202020204" pitchFamily="34" charset="0"/>
                            <a:cs typeface="Helvetica" panose="020B0604020202020204" pitchFamily="34" charset="0"/>
                          </a:rPr>
                          <m:t>ε</m:t>
                        </m:r>
                      </m:e>
                    </m:bar>
                  </m:oMath>
                </a14:m>
                <a:r>
                  <a:rPr lang="el-GR" sz="1400" dirty="0" smtClean="0">
                    <a:latin typeface="Helvetica" panose="020B0604020202020204" pitchFamily="34" charset="0"/>
                    <a:cs typeface="Helvetica" panose="020B0604020202020204" pitchFamily="34" charset="0"/>
                  </a:rPr>
                  <a:t> </a:t>
                </a:r>
                <a:r>
                  <a:rPr lang="el-GR" sz="1400" dirty="0">
                    <a:latin typeface="Helvetica" panose="020B0604020202020204" pitchFamily="34" charset="0"/>
                    <a:cs typeface="Helvetica" panose="020B0604020202020204" pitchFamily="34" charset="0"/>
                  </a:rPr>
                  <a:t>→ </a:t>
                </a:r>
                <a:r>
                  <a:rPr lang="en-IN" sz="1400" dirty="0">
                    <a:latin typeface="Helvetica" panose="020B0604020202020204" pitchFamily="34" charset="0"/>
                    <a:cs typeface="Helvetica" panose="020B0604020202020204" pitchFamily="34" charset="0"/>
                  </a:rPr>
                  <a:t>error </a:t>
                </a:r>
                <a:r>
                  <a:rPr lang="en-IN" sz="1400" dirty="0" smtClean="0">
                    <a:latin typeface="Helvetica" panose="020B0604020202020204" pitchFamily="34" charset="0"/>
                    <a:cs typeface="Helvetica" panose="020B0604020202020204" pitchFamily="34" charset="0"/>
                  </a:rPr>
                  <a:t>vector</a:t>
                </a:r>
              </a:p>
              <a:p>
                <a:r>
                  <a:rPr lang="en-IN" sz="2600" b="1" dirty="0" smtClean="0">
                    <a:latin typeface="Helvetica" panose="020B0604020202020204" pitchFamily="34" charset="0"/>
                    <a:cs typeface="Helvetica" panose="020B0604020202020204" pitchFamily="34" charset="0"/>
                  </a:rPr>
                  <a:t>OLS </a:t>
                </a:r>
                <a:r>
                  <a:rPr lang="en-IN" sz="2600" b="1" dirty="0">
                    <a:latin typeface="Helvetica" panose="020B0604020202020204" pitchFamily="34" charset="0"/>
                    <a:cs typeface="Helvetica" panose="020B0604020202020204" pitchFamily="34" charset="0"/>
                  </a:rPr>
                  <a:t>estimator</a:t>
                </a:r>
              </a:p>
              <a:p>
                <a:pPr marL="457200" lvl="1" indent="0">
                  <a:buNone/>
                </a:pPr>
                <a:r>
                  <a:rPr lang="en-IN" sz="1800" dirty="0">
                    <a:latin typeface="Helvetica" panose="020B0604020202020204" pitchFamily="34" charset="0"/>
                    <a:cs typeface="Helvetica" panose="020B0604020202020204" pitchFamily="34" charset="0"/>
                  </a:rPr>
                  <a:t>OLS finds coefficients by minimizing the Residual Sum of Squares (RSS</a:t>
                </a:r>
                <a:r>
                  <a:rPr lang="en-IN" sz="1800" dirty="0" smtClean="0">
                    <a:latin typeface="Helvetica" panose="020B0604020202020204" pitchFamily="34" charset="0"/>
                    <a:cs typeface="Helvetica" panose="020B0604020202020204" pitchFamily="34" charset="0"/>
                  </a:rPr>
                  <a:t>):</a:t>
                </a:r>
              </a:p>
              <a:p>
                <a:pPr algn="ctr">
                  <a:lnSpc>
                    <a:spcPct val="150000"/>
                  </a:lnSpc>
                </a:pPr>
                <a14:m>
                  <m:oMath xmlns:m="http://schemas.openxmlformats.org/officeDocument/2006/math">
                    <m:acc>
                      <m:accPr>
                        <m:chr m:val="̂"/>
                        <m:ctrlPr>
                          <a:rPr lang="en-IN" sz="1800" b="1" i="1">
                            <a:latin typeface="Cambria Math" panose="02040503050406030204" pitchFamily="18" charset="0"/>
                            <a:ea typeface="Cambria Math" panose="02040503050406030204" pitchFamily="18" charset="0"/>
                          </a:rPr>
                        </m:ctrlPr>
                      </m:accPr>
                      <m:e>
                        <m:r>
                          <a:rPr lang="en-IN" sz="1800" b="1" i="0">
                            <a:latin typeface="Cambria Math" panose="02040503050406030204" pitchFamily="18" charset="0"/>
                            <a:ea typeface="Cambria Math" panose="02040503050406030204" pitchFamily="18" charset="0"/>
                          </a:rPr>
                          <m:t>𝛃</m:t>
                        </m:r>
                      </m:e>
                    </m:acc>
                    <m:r>
                      <a:rPr lang="en-IN" sz="1800" b="1" i="0" baseline="-25000">
                        <a:latin typeface="Cambria Math" panose="02040503050406030204" pitchFamily="18" charset="0"/>
                        <a:ea typeface="Cambria Math" panose="02040503050406030204" pitchFamily="18" charset="0"/>
                      </a:rPr>
                      <m:t>𝐎𝐋𝐒</m:t>
                    </m:r>
                    <m:r>
                      <a:rPr lang="en-IN" sz="1800" b="1" i="1">
                        <a:latin typeface="Cambria Math" panose="02040503050406030204" pitchFamily="18" charset="0"/>
                        <a:ea typeface="Cambria Math" panose="02040503050406030204" pitchFamily="18" charset="0"/>
                      </a:rPr>
                      <m:t> = </m:t>
                    </m:r>
                    <m:func>
                      <m:funcPr>
                        <m:ctrlPr>
                          <a:rPr lang="en-IN" sz="1800" b="1" i="1">
                            <a:latin typeface="Cambria Math" panose="02040503050406030204" pitchFamily="18" charset="0"/>
                            <a:ea typeface="Cambria Math" panose="02040503050406030204" pitchFamily="18" charset="0"/>
                          </a:rPr>
                        </m:ctrlPr>
                      </m:funcPr>
                      <m:fName>
                        <m:r>
                          <a:rPr lang="en-IN" sz="1800" b="1" i="0">
                            <a:latin typeface="Cambria Math" panose="02040503050406030204" pitchFamily="18" charset="0"/>
                            <a:ea typeface="Cambria Math" panose="02040503050406030204" pitchFamily="18" charset="0"/>
                          </a:rPr>
                          <m:t>𝐦𝐢𝐧</m:t>
                        </m:r>
                      </m:fName>
                      <m:e>
                        <m:r>
                          <a:rPr lang="en-IN" sz="1800" b="1" i="1">
                            <a:latin typeface="Cambria Math" panose="02040503050406030204" pitchFamily="18" charset="0"/>
                            <a:ea typeface="Cambria Math" panose="02040503050406030204" pitchFamily="18" charset="0"/>
                          </a:rPr>
                          <m:t>|</m:t>
                        </m:r>
                        <m:d>
                          <m:dPr>
                            <m:begChr m:val="|"/>
                            <m:endChr m:val="|"/>
                            <m:ctrlPr>
                              <a:rPr lang="en-IN" sz="1800" b="1" i="1">
                                <a:latin typeface="Cambria Math" panose="02040503050406030204" pitchFamily="18" charset="0"/>
                                <a:ea typeface="Cambria Math" panose="02040503050406030204" pitchFamily="18" charset="0"/>
                              </a:rPr>
                            </m:ctrlPr>
                          </m:dPr>
                          <m:e>
                            <m:r>
                              <a:rPr lang="en-IN" sz="1800" b="1" i="1">
                                <a:latin typeface="Cambria Math" panose="02040503050406030204" pitchFamily="18" charset="0"/>
                                <a:ea typeface="Cambria Math" panose="02040503050406030204" pitchFamily="18" charset="0"/>
                              </a:rPr>
                              <m:t> </m:t>
                            </m:r>
                            <m:r>
                              <a:rPr lang="en-IN" sz="1800" b="1" i="1">
                                <a:latin typeface="Cambria Math" panose="02040503050406030204" pitchFamily="18" charset="0"/>
                                <a:ea typeface="Cambria Math" panose="02040503050406030204" pitchFamily="18" charset="0"/>
                              </a:rPr>
                              <m:t>𝒚𝒊</m:t>
                            </m:r>
                            <m:r>
                              <a:rPr lang="en-IN" sz="1800" b="1" i="1">
                                <a:latin typeface="Cambria Math" panose="02040503050406030204" pitchFamily="18" charset="0"/>
                                <a:ea typeface="Cambria Math" panose="02040503050406030204" pitchFamily="18" charset="0"/>
                              </a:rPr>
                              <m:t>−  </m:t>
                            </m:r>
                            <m:acc>
                              <m:accPr>
                                <m:chr m:val="̂"/>
                                <m:ctrlPr>
                                  <a:rPr lang="en-IN" sz="1800" b="1" i="1">
                                    <a:latin typeface="Cambria Math" panose="02040503050406030204" pitchFamily="18" charset="0"/>
                                    <a:ea typeface="Cambria Math" panose="02040503050406030204" pitchFamily="18" charset="0"/>
                                  </a:rPr>
                                </m:ctrlPr>
                              </m:accPr>
                              <m:e>
                                <m:r>
                                  <a:rPr lang="en-IN" sz="1800" b="1" i="1">
                                    <a:latin typeface="Cambria Math" panose="02040503050406030204" pitchFamily="18" charset="0"/>
                                    <a:ea typeface="Cambria Math" panose="02040503050406030204" pitchFamily="18" charset="0"/>
                                  </a:rPr>
                                  <m:t>𝒚</m:t>
                                </m:r>
                              </m:e>
                            </m:acc>
                            <m:r>
                              <a:rPr lang="en-IN" sz="1800" b="1" i="1" baseline="-25000">
                                <a:latin typeface="Cambria Math" panose="02040503050406030204" pitchFamily="18" charset="0"/>
                                <a:ea typeface="Cambria Math" panose="02040503050406030204" pitchFamily="18" charset="0"/>
                              </a:rPr>
                              <m:t>𝒊</m:t>
                            </m:r>
                            <m:r>
                              <a:rPr lang="en-IN" sz="1800" b="1" i="1" baseline="-25000">
                                <a:latin typeface="Cambria Math" panose="02040503050406030204" pitchFamily="18" charset="0"/>
                                <a:ea typeface="Cambria Math" panose="02040503050406030204" pitchFamily="18" charset="0"/>
                              </a:rPr>
                              <m:t> </m:t>
                            </m:r>
                          </m:e>
                        </m:d>
                        <m:r>
                          <a:rPr lang="en-IN" sz="1800" b="1" i="1">
                            <a:latin typeface="Cambria Math" panose="02040503050406030204" pitchFamily="18" charset="0"/>
                            <a:ea typeface="Cambria Math" panose="02040503050406030204" pitchFamily="18" charset="0"/>
                          </a:rPr>
                          <m:t>|</m:t>
                        </m:r>
                        <m:r>
                          <a:rPr lang="en-IN" sz="1800" b="1" i="1" baseline="30000">
                            <a:latin typeface="Cambria Math" panose="02040503050406030204" pitchFamily="18" charset="0"/>
                            <a:ea typeface="Cambria Math" panose="02040503050406030204" pitchFamily="18" charset="0"/>
                          </a:rPr>
                          <m:t>𝟐</m:t>
                        </m:r>
                        <m:r>
                          <a:rPr lang="en-IN" sz="1800" b="1" i="1" baseline="-25000">
                            <a:latin typeface="Cambria Math" panose="02040503050406030204" pitchFamily="18" charset="0"/>
                            <a:ea typeface="Cambria Math" panose="02040503050406030204" pitchFamily="18" charset="0"/>
                          </a:rPr>
                          <m:t>𝟐</m:t>
                        </m:r>
                      </m:e>
                    </m:func>
                    <m:r>
                      <a:rPr lang="en-IN" sz="1800" b="1" i="1">
                        <a:latin typeface="Cambria Math" panose="02040503050406030204" pitchFamily="18" charset="0"/>
                      </a:rPr>
                      <m:t> </m:t>
                    </m:r>
                  </m:oMath>
                </a14:m>
                <a:r>
                  <a:rPr lang="el-GR" sz="1800" b="1" i="1" dirty="0" smtClean="0">
                    <a:latin typeface="Cambria Math" panose="02040503050406030204" pitchFamily="18" charset="0"/>
                    <a:ea typeface="Cambria Math" panose="02040503050406030204" pitchFamily="18" charset="0"/>
                    <a:cs typeface="Helvetica" panose="020B0604020202020204" pitchFamily="34" charset="0"/>
                  </a:rPr>
                  <a:t>=</a:t>
                </a:r>
                <a:endParaRPr lang="en-IN" sz="1800" b="1" i="1" dirty="0">
                  <a:latin typeface="Cambria Math" panose="02040503050406030204" pitchFamily="18" charset="0"/>
                  <a:ea typeface="Cambria Math" panose="02040503050406030204" pitchFamily="18" charset="0"/>
                  <a:cs typeface="Helvetica" panose="020B0604020202020204" pitchFamily="34" charset="0"/>
                </a:endParaRPr>
              </a:p>
              <a:p>
                <a:pPr algn="ctr"/>
                <a:endParaRPr lang="en-IN" sz="1800" b="1" i="1" dirty="0" smtClean="0">
                  <a:latin typeface="Helvetica" panose="020B0604020202020204" pitchFamily="34" charset="0"/>
                  <a:cs typeface="Helvetica" panose="020B0604020202020204" pitchFamily="34" charset="0"/>
                </a:endParaRPr>
              </a:p>
              <a:p>
                <a:pPr algn="ctr"/>
                <a14:m>
                  <m:oMath xmlns:m="http://schemas.openxmlformats.org/officeDocument/2006/math">
                    <m:acc>
                      <m:accPr>
                        <m:chr m:val="̂"/>
                        <m:ctrlPr>
                          <a:rPr lang="en-IN" sz="1800" b="1" i="1">
                            <a:latin typeface="Cambria Math" panose="02040503050406030204" pitchFamily="18" charset="0"/>
                            <a:ea typeface="Cambria Math" panose="02040503050406030204" pitchFamily="18" charset="0"/>
                          </a:rPr>
                        </m:ctrlPr>
                      </m:accPr>
                      <m:e>
                        <m:r>
                          <m:rPr>
                            <m:nor/>
                          </m:rPr>
                          <a:rPr lang="en-IN" sz="1800" b="1">
                            <a:latin typeface="Cambria Math" panose="02040503050406030204" pitchFamily="18" charset="0"/>
                            <a:ea typeface="Cambria Math" panose="02040503050406030204" pitchFamily="18" charset="0"/>
                          </a:rPr>
                          <m:t>β</m:t>
                        </m:r>
                      </m:e>
                    </m:acc>
                  </m:oMath>
                </a14:m>
                <a:r>
                  <a:rPr lang="en-IN" sz="1800" b="1" baseline="-25000" dirty="0">
                    <a:latin typeface="Cambria Math" panose="02040503050406030204" pitchFamily="18" charset="0"/>
                    <a:ea typeface="Cambria Math" panose="02040503050406030204" pitchFamily="18" charset="0"/>
                    <a:cs typeface="Helvetica" panose="020B0604020202020204" pitchFamily="34" charset="0"/>
                  </a:rPr>
                  <a:t>OLS</a:t>
                </a:r>
                <a:r>
                  <a:rPr lang="en-IN" sz="1800" b="1" i="1" dirty="0">
                    <a:latin typeface="Cambria Math" panose="02040503050406030204" pitchFamily="18" charset="0"/>
                    <a:ea typeface="Cambria Math" panose="02040503050406030204" pitchFamily="18" charset="0"/>
                    <a:cs typeface="Helvetica" panose="020B0604020202020204" pitchFamily="34" charset="0"/>
                  </a:rPr>
                  <a:t> </a:t>
                </a:r>
                <a:r>
                  <a:rPr lang="en-IN" sz="1800" b="1" i="1" dirty="0" smtClean="0">
                    <a:latin typeface="Cambria Math" panose="02040503050406030204" pitchFamily="18" charset="0"/>
                    <a:ea typeface="Cambria Math" panose="02040503050406030204" pitchFamily="18" charset="0"/>
                    <a:cs typeface="Helvetica" panose="020B0604020202020204" pitchFamily="34" charset="0"/>
                  </a:rPr>
                  <a:t>= </a:t>
                </a:r>
                <a:r>
                  <a:rPr lang="en-IN" sz="1800" b="1" dirty="0" smtClean="0">
                    <a:latin typeface="Cambria Math" panose="02040503050406030204" pitchFamily="18" charset="0"/>
                    <a:ea typeface="Cambria Math" panose="02040503050406030204" pitchFamily="18" charset="0"/>
                    <a:cs typeface="Helvetica" panose="020B0604020202020204" pitchFamily="34" charset="0"/>
                  </a:rPr>
                  <a:t>(X</a:t>
                </a:r>
                <a:r>
                  <a:rPr lang="en-IN" sz="1800" b="1" baseline="30000" dirty="0" smtClean="0">
                    <a:latin typeface="Cambria Math" panose="02040503050406030204" pitchFamily="18" charset="0"/>
                    <a:ea typeface="Cambria Math" panose="02040503050406030204" pitchFamily="18" charset="0"/>
                    <a:cs typeface="Helvetica" panose="020B0604020202020204" pitchFamily="34" charset="0"/>
                  </a:rPr>
                  <a:t>T</a:t>
                </a:r>
                <a:r>
                  <a:rPr lang="en-IN" sz="1800" b="1" dirty="0" smtClean="0">
                    <a:latin typeface="Cambria Math" panose="02040503050406030204" pitchFamily="18" charset="0"/>
                    <a:ea typeface="Cambria Math" panose="02040503050406030204" pitchFamily="18" charset="0"/>
                    <a:cs typeface="Helvetica" panose="020B0604020202020204" pitchFamily="34" charset="0"/>
                  </a:rPr>
                  <a:t>X)</a:t>
                </a:r>
                <a:r>
                  <a:rPr lang="en-IN" sz="1800" b="1" baseline="30000" dirty="0" smtClean="0">
                    <a:latin typeface="Cambria Math" panose="02040503050406030204" pitchFamily="18" charset="0"/>
                    <a:ea typeface="Cambria Math" panose="02040503050406030204" pitchFamily="18" charset="0"/>
                    <a:cs typeface="Helvetica" panose="020B0604020202020204" pitchFamily="34" charset="0"/>
                  </a:rPr>
                  <a:t>-1</a:t>
                </a:r>
                <a:r>
                  <a:rPr lang="en-IN" sz="1800" b="1" dirty="0" smtClean="0">
                    <a:latin typeface="Cambria Math" panose="02040503050406030204" pitchFamily="18" charset="0"/>
                    <a:ea typeface="Cambria Math" panose="02040503050406030204" pitchFamily="18" charset="0"/>
                    <a:cs typeface="Helvetica" panose="020B0604020202020204" pitchFamily="34" charset="0"/>
                  </a:rPr>
                  <a:t>X</a:t>
                </a:r>
                <a:r>
                  <a:rPr lang="en-IN" sz="1800" b="1" baseline="30000" dirty="0" smtClean="0">
                    <a:latin typeface="Cambria Math" panose="02040503050406030204" pitchFamily="18" charset="0"/>
                    <a:ea typeface="Cambria Math" panose="02040503050406030204" pitchFamily="18" charset="0"/>
                    <a:cs typeface="Helvetica" panose="020B0604020202020204" pitchFamily="34" charset="0"/>
                  </a:rPr>
                  <a:t>T</a:t>
                </a:r>
                <a:r>
                  <a:rPr lang="en-IN" sz="1800" b="1" dirty="0" smtClean="0">
                    <a:latin typeface="Cambria Math" panose="02040503050406030204" pitchFamily="18" charset="0"/>
                    <a:ea typeface="Cambria Math" panose="02040503050406030204" pitchFamily="18" charset="0"/>
                    <a:cs typeface="Helvetica" panose="020B0604020202020204" pitchFamily="34" charset="0"/>
                  </a:rPr>
                  <a:t>Y</a:t>
                </a:r>
                <a:endParaRPr lang="en-IN" sz="1800" b="1" dirty="0">
                  <a:latin typeface="Helvetica" panose="020B0604020202020204" pitchFamily="34" charset="0"/>
                  <a:cs typeface="Helvetica"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34963" y="341376"/>
                <a:ext cx="11522076" cy="6516624"/>
              </a:xfrm>
              <a:blipFill>
                <a:blip r:embed="rId2"/>
                <a:stretch>
                  <a:fillRect l="-952" t="-93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6681216" y="5169408"/>
                <a:ext cx="2865120" cy="84856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limLoc m:val="undOvr"/>
                          <m:grow m:val="on"/>
                          <m:ctrlPr>
                            <a:rPr lang="en-IN" b="1" i="1" smtClean="0">
                              <a:latin typeface="Cambria Math" panose="02040503050406030204" pitchFamily="18" charset="0"/>
                            </a:rPr>
                          </m:ctrlPr>
                        </m:naryPr>
                        <m:sub>
                          <m:r>
                            <a:rPr lang="en-IN" b="1" i="1">
                              <a:latin typeface="Cambria Math" panose="02040503050406030204" pitchFamily="18" charset="0"/>
                            </a:rPr>
                            <m:t>𝒊</m:t>
                          </m:r>
                          <m:r>
                            <a:rPr lang="en-IN" b="1" i="1">
                              <a:latin typeface="Cambria Math" panose="02040503050406030204" pitchFamily="18" charset="0"/>
                            </a:rPr>
                            <m:t>=</m:t>
                          </m:r>
                          <m:r>
                            <a:rPr lang="en-IN" b="1" i="1">
                              <a:latin typeface="Cambria Math" panose="02040503050406030204" pitchFamily="18" charset="0"/>
                            </a:rPr>
                            <m:t>𝟏</m:t>
                          </m:r>
                        </m:sub>
                        <m:sup>
                          <m:r>
                            <a:rPr lang="en-IN" b="1" i="1">
                              <a:latin typeface="Cambria Math" panose="02040503050406030204" pitchFamily="18" charset="0"/>
                            </a:rPr>
                            <m:t>𝒏</m:t>
                          </m:r>
                        </m:sup>
                        <m:e>
                          <m:d>
                            <m:dPr>
                              <m:ctrlPr>
                                <a:rPr lang="en-IN" b="1" i="1" smtClean="0">
                                  <a:latin typeface="Cambria Math" panose="02040503050406030204" pitchFamily="18" charset="0"/>
                                </a:rPr>
                              </m:ctrlPr>
                            </m:dPr>
                            <m:e>
                              <m:r>
                                <a:rPr lang="en-IN" b="1" i="0">
                                  <a:latin typeface="Cambria Math" panose="02040503050406030204" pitchFamily="18" charset="0"/>
                                </a:rPr>
                                <m:t>𝐲</m:t>
                              </m:r>
                              <m:r>
                                <a:rPr lang="en-IN" b="1" i="0" baseline="-25000">
                                  <a:latin typeface="Cambria Math" panose="02040503050406030204" pitchFamily="18" charset="0"/>
                                </a:rPr>
                                <m:t>𝐢</m:t>
                              </m:r>
                              <m:r>
                                <a:rPr lang="en-IN" b="1" i="0">
                                  <a:latin typeface="Cambria Math" panose="02040503050406030204" pitchFamily="18" charset="0"/>
                                </a:rPr>
                                <m:t>−</m:t>
                              </m:r>
                              <m:r>
                                <a:rPr lang="en-IN" b="1" i="0" smtClean="0">
                                  <a:latin typeface="Cambria Math" panose="02040503050406030204" pitchFamily="18" charset="0"/>
                                </a:rPr>
                                <m:t> </m:t>
                              </m:r>
                              <m:acc>
                                <m:accPr>
                                  <m:chr m:val="̂"/>
                                  <m:ctrlPr>
                                    <a:rPr lang="en-IN" b="1" i="1" smtClean="0">
                                      <a:latin typeface="Cambria Math" panose="02040503050406030204" pitchFamily="18" charset="0"/>
                                    </a:rPr>
                                  </m:ctrlPr>
                                </m:accPr>
                                <m:e>
                                  <m:r>
                                    <a:rPr lang="en-IN" b="1" i="1" smtClean="0">
                                      <a:latin typeface="Cambria Math" panose="02040503050406030204" pitchFamily="18" charset="0"/>
                                    </a:rPr>
                                    <m:t>𝒚</m:t>
                                  </m:r>
                                  <m:r>
                                    <a:rPr lang="en-IN" b="1" i="1" baseline="-25000" smtClean="0">
                                      <a:latin typeface="Cambria Math" panose="02040503050406030204" pitchFamily="18" charset="0"/>
                                    </a:rPr>
                                    <m:t>𝒊</m:t>
                                  </m:r>
                                </m:e>
                              </m:acc>
                              <m:r>
                                <a:rPr lang="en-IN" b="1" i="0" smtClean="0">
                                  <a:latin typeface="Cambria Math" panose="02040503050406030204" pitchFamily="18" charset="0"/>
                                </a:rPr>
                                <m:t> </m:t>
                              </m:r>
                            </m:e>
                          </m:d>
                          <m:r>
                            <a:rPr lang="en-IN" b="1" i="0" baseline="30000">
                              <a:latin typeface="Cambria Math" panose="02040503050406030204" pitchFamily="18" charset="0"/>
                            </a:rPr>
                            <m:t>𝟐</m:t>
                          </m:r>
                        </m:e>
                      </m:nary>
                    </m:oMath>
                  </m:oMathPara>
                </a14:m>
                <a:endParaRPr lang="en-IN" b="1" dirty="0"/>
              </a:p>
            </p:txBody>
          </p:sp>
        </mc:Choice>
        <mc:Fallback xmlns="">
          <p:sp>
            <p:nvSpPr>
              <p:cNvPr id="4" name="TextBox 3"/>
              <p:cNvSpPr txBox="1">
                <a:spLocks noRot="1" noChangeAspect="1" noMove="1" noResize="1" noEditPoints="1" noAdjustHandles="1" noChangeArrowheads="1" noChangeShapeType="1" noTextEdit="1"/>
              </p:cNvSpPr>
              <p:nvPr/>
            </p:nvSpPr>
            <p:spPr>
              <a:xfrm>
                <a:off x="6681216" y="5169408"/>
                <a:ext cx="2865120" cy="848566"/>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 name="TextBox 1"/>
              <p:cNvSpPr txBox="1"/>
              <p:nvPr/>
            </p:nvSpPr>
            <p:spPr>
              <a:xfrm>
                <a:off x="5535168" y="5624468"/>
                <a:ext cx="390144"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sz="1400" b="1" i="0">
                          <a:latin typeface="Cambria Math" panose="02040503050406030204" pitchFamily="18" charset="0"/>
                          <a:ea typeface="Cambria Math" panose="02040503050406030204" pitchFamily="18" charset="0"/>
                        </a:rPr>
                        <m:t>𝛃</m:t>
                      </m:r>
                    </m:oMath>
                  </m:oMathPara>
                </a14:m>
                <a:endParaRPr lang="en-IN" sz="1400" dirty="0"/>
              </a:p>
            </p:txBody>
          </p:sp>
        </mc:Choice>
        <mc:Fallback xmlns="">
          <p:sp>
            <p:nvSpPr>
              <p:cNvPr id="2" name="TextBox 1"/>
              <p:cNvSpPr txBox="1">
                <a:spLocks noRot="1" noChangeAspect="1" noMove="1" noResize="1" noEditPoints="1" noAdjustHandles="1" noChangeArrowheads="1" noChangeShapeType="1" noTextEdit="1"/>
              </p:cNvSpPr>
              <p:nvPr/>
            </p:nvSpPr>
            <p:spPr>
              <a:xfrm>
                <a:off x="5535168" y="5624468"/>
                <a:ext cx="390144" cy="307777"/>
              </a:xfrm>
              <a:prstGeom prst="rect">
                <a:avLst/>
              </a:prstGeom>
              <a:blipFill>
                <a:blip r:embed="rId4"/>
                <a:stretch>
                  <a:fillRect b="-8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8991918" y="5409025"/>
                <a:ext cx="2865120" cy="369332"/>
              </a:xfrm>
              <a:prstGeom prst="rect">
                <a:avLst/>
              </a:prstGeom>
              <a:noFill/>
            </p:spPr>
            <p:txBody>
              <a:bodyPr wrap="square" rtlCol="0">
                <a:spAutoFit/>
              </a:bodyPr>
              <a:lstStyle/>
              <a:p>
                <a:r>
                  <a:rPr lang="en-IN" sz="1600" b="1" dirty="0" smtClean="0">
                    <a:latin typeface="Helvetica" panose="020B0604020202020204" pitchFamily="34" charset="0"/>
                    <a:cs typeface="Helvetica" panose="020B0604020202020204" pitchFamily="34" charset="0"/>
                  </a:rPr>
                  <a:t>, where</a:t>
                </a:r>
                <a:r>
                  <a:rPr lang="en-IN" b="1" dirty="0" smtClean="0"/>
                  <a:t> </a:t>
                </a:r>
                <a14:m>
                  <m:oMath xmlns:m="http://schemas.openxmlformats.org/officeDocument/2006/math">
                    <m:acc>
                      <m:accPr>
                        <m:chr m:val="̂"/>
                        <m:ctrlPr>
                          <a:rPr lang="en-IN" b="1" i="1" smtClean="0">
                            <a:latin typeface="Cambria Math" panose="02040503050406030204" pitchFamily="18" charset="0"/>
                          </a:rPr>
                        </m:ctrlPr>
                      </m:accPr>
                      <m:e>
                        <m:r>
                          <a:rPr lang="en-IN" b="1" i="1" smtClean="0">
                            <a:latin typeface="Cambria Math" panose="02040503050406030204" pitchFamily="18" charset="0"/>
                          </a:rPr>
                          <m:t> </m:t>
                        </m:r>
                        <m:r>
                          <a:rPr lang="en-IN" b="1" i="1">
                            <a:latin typeface="Cambria Math" panose="02040503050406030204" pitchFamily="18" charset="0"/>
                          </a:rPr>
                          <m:t>𝒚</m:t>
                        </m:r>
                        <m:r>
                          <a:rPr lang="en-IN" b="1" i="1" baseline="-25000">
                            <a:latin typeface="Cambria Math" panose="02040503050406030204" pitchFamily="18" charset="0"/>
                          </a:rPr>
                          <m:t>𝒊</m:t>
                        </m:r>
                      </m:e>
                    </m:acc>
                  </m:oMath>
                </a14:m>
                <a:r>
                  <a:rPr lang="en-IN" b="1" dirty="0" smtClean="0"/>
                  <a:t> = </a:t>
                </a:r>
                <a:r>
                  <a:rPr lang="en-IN" b="1" dirty="0" smtClean="0">
                    <a:latin typeface="Cambria Math" panose="02040503050406030204" pitchFamily="18" charset="0"/>
                    <a:ea typeface="Cambria Math" panose="02040503050406030204" pitchFamily="18" charset="0"/>
                  </a:rPr>
                  <a:t>X</a:t>
                </a:r>
                <a:r>
                  <a:rPr lang="en-IN" b="1" baseline="-25000" dirty="0" smtClean="0">
                    <a:latin typeface="Cambria Math" panose="02040503050406030204" pitchFamily="18" charset="0"/>
                    <a:ea typeface="Cambria Math" panose="02040503050406030204" pitchFamily="18" charset="0"/>
                  </a:rPr>
                  <a:t>T </a:t>
                </a:r>
                <a:r>
                  <a:rPr lang="el-GR" b="1" dirty="0" smtClean="0">
                    <a:latin typeface="Cambria Math" panose="02040503050406030204" pitchFamily="18" charset="0"/>
                    <a:ea typeface="Cambria Math" panose="02040503050406030204" pitchFamily="18" charset="0"/>
                    <a:cs typeface="Helvetica" panose="020B0604020202020204" pitchFamily="34" charset="0"/>
                  </a:rPr>
                  <a:t>β</a:t>
                </a:r>
                <a:r>
                  <a:rPr lang="en-IN" b="1" dirty="0" smtClean="0">
                    <a:latin typeface="Cambria Math" panose="02040503050406030204" pitchFamily="18" charset="0"/>
                    <a:ea typeface="Cambria Math" panose="02040503050406030204" pitchFamily="18" charset="0"/>
                  </a:rPr>
                  <a:t> </a:t>
                </a:r>
                <a:endParaRPr lang="en-IN" b="1" dirty="0">
                  <a:latin typeface="Cambria Math" panose="02040503050406030204" pitchFamily="18" charset="0"/>
                  <a:ea typeface="Cambria Math" panose="02040503050406030204" pitchFamily="18"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8991918" y="5409025"/>
                <a:ext cx="2865120" cy="369332"/>
              </a:xfrm>
              <a:prstGeom prst="rect">
                <a:avLst/>
              </a:prstGeom>
              <a:blipFill>
                <a:blip r:embed="rId5"/>
                <a:stretch>
                  <a:fillRect l="-1064" t="-11475" b="-24590"/>
                </a:stretch>
              </a:blipFill>
            </p:spPr>
            <p:txBody>
              <a:bodyPr/>
              <a:lstStyle/>
              <a:p>
                <a:r>
                  <a:rPr lang="en-IN">
                    <a:noFill/>
                  </a:rPr>
                  <a:t> </a:t>
                </a:r>
              </a:p>
            </p:txBody>
          </p:sp>
        </mc:Fallback>
      </mc:AlternateContent>
    </p:spTree>
    <p:extLst>
      <p:ext uri="{BB962C8B-B14F-4D97-AF65-F5344CB8AC3E}">
        <p14:creationId xmlns:p14="http://schemas.microsoft.com/office/powerpoint/2010/main" val="1468627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34963" y="333376"/>
                <a:ext cx="11522075" cy="5843588"/>
              </a:xfrm>
            </p:spPr>
            <p:txBody>
              <a:bodyPr/>
              <a:lstStyle/>
              <a:p>
                <a:pPr>
                  <a:lnSpc>
                    <a:spcPct val="107000"/>
                  </a:lnSpc>
                  <a:spcBef>
                    <a:spcPts val="1200"/>
                  </a:spcBef>
                  <a:buSzPct val="50000"/>
                </a:pPr>
                <a:r>
                  <a:rPr lang="en-IN" sz="2600" b="1" kern="0" dirty="0" smtClean="0">
                    <a:solidFill>
                      <a:srgbClr val="0D0D0D"/>
                    </a:solidFill>
                    <a:latin typeface="Helvetica" panose="020B0604020202020204" pitchFamily="34" charset="0"/>
                    <a:ea typeface="Times New Roman" panose="02020603050405020304" pitchFamily="18" charset="0"/>
                    <a:cs typeface="Times New Roman" panose="02020603050405020304" pitchFamily="18" charset="0"/>
                  </a:rPr>
                  <a:t>Lasso Regression</a:t>
                </a:r>
                <a:endParaRPr lang="en-IN" sz="1800" dirty="0">
                  <a:latin typeface="Helvetica" panose="020B0604020202020204" pitchFamily="34" charset="0"/>
                  <a:cs typeface="Helvetica" panose="020B0604020202020204" pitchFamily="34" charset="0"/>
                </a:endParaRPr>
              </a:p>
              <a:p>
                <a:pPr marL="457200" lvl="1" indent="0">
                  <a:buNone/>
                </a:pPr>
                <a:r>
                  <a:rPr lang="en-IN" sz="1800" dirty="0" smtClean="0">
                    <a:latin typeface="Helvetica" panose="020B0604020202020204" pitchFamily="34" charset="0"/>
                    <a:cs typeface="Helvetica" panose="020B0604020202020204" pitchFamily="34" charset="0"/>
                  </a:rPr>
                  <a:t>Instead of only minimizing RSS, Lasso adds an L1 penalty:</a:t>
                </a:r>
              </a:p>
              <a:p>
                <a:pPr algn="ctr"/>
                <a14:m>
                  <m:oMath xmlns:m="http://schemas.openxmlformats.org/officeDocument/2006/math">
                    <m:acc>
                      <m:accPr>
                        <m:chr m:val="̂"/>
                        <m:ctrlPr>
                          <a:rPr lang="en-IN" sz="1800" b="1" i="1">
                            <a:latin typeface="Cambria Math" panose="02040503050406030204" pitchFamily="18" charset="0"/>
                            <a:ea typeface="Cambria Math" panose="02040503050406030204" pitchFamily="18" charset="0"/>
                          </a:rPr>
                        </m:ctrlPr>
                      </m:accPr>
                      <m:e>
                        <m:r>
                          <m:rPr>
                            <m:nor/>
                          </m:rPr>
                          <a:rPr lang="en-IN" sz="1800" b="1">
                            <a:latin typeface="Cambria Math" panose="02040503050406030204" pitchFamily="18" charset="0"/>
                            <a:ea typeface="Cambria Math" panose="02040503050406030204" pitchFamily="18" charset="0"/>
                          </a:rPr>
                          <m:t>β</m:t>
                        </m:r>
                      </m:e>
                    </m:acc>
                    <m:r>
                      <a:rPr lang="en-IN" sz="1800" b="1" i="0" baseline="-25000" smtClean="0">
                        <a:latin typeface="Cambria Math" panose="02040503050406030204" pitchFamily="18" charset="0"/>
                        <a:ea typeface="Cambria Math" panose="02040503050406030204" pitchFamily="18" charset="0"/>
                      </a:rPr>
                      <m:t>𝐋𝐚𝐬𝐬𝐨</m:t>
                    </m:r>
                  </m:oMath>
                </a14:m>
                <a:r>
                  <a:rPr lang="en-IN" sz="1800" b="1" i="1" dirty="0" smtClean="0">
                    <a:latin typeface="Cambria Math" panose="02040503050406030204" pitchFamily="18" charset="0"/>
                    <a:ea typeface="Cambria Math" panose="02040503050406030204" pitchFamily="18" charset="0"/>
                    <a:cs typeface="Helvetica" panose="020B0604020202020204" pitchFamily="34" charset="0"/>
                  </a:rPr>
                  <a:t>= </a:t>
                </a:r>
                <a14:m>
                  <m:oMath xmlns:m="http://schemas.openxmlformats.org/officeDocument/2006/math">
                    <m:func>
                      <m:funcPr>
                        <m:ctrlPr>
                          <a:rPr lang="en-IN" sz="1800" b="1" i="1">
                            <a:latin typeface="Cambria Math" panose="02040503050406030204" pitchFamily="18" charset="0"/>
                            <a:ea typeface="Cambria Math" panose="02040503050406030204" pitchFamily="18" charset="0"/>
                          </a:rPr>
                        </m:ctrlPr>
                      </m:funcPr>
                      <m:fName>
                        <m:r>
                          <a:rPr lang="en-IN" sz="1800" b="1" i="0">
                            <a:latin typeface="Cambria Math" panose="02040503050406030204" pitchFamily="18" charset="0"/>
                            <a:ea typeface="Cambria Math" panose="02040503050406030204" pitchFamily="18" charset="0"/>
                          </a:rPr>
                          <m:t>𝐦𝐢𝐧</m:t>
                        </m:r>
                      </m:fName>
                      <m:e>
                        <m:r>
                          <a:rPr lang="en-IN" sz="1800" b="1" i="0" smtClean="0">
                            <a:latin typeface="Cambria Math" panose="02040503050406030204" pitchFamily="18" charset="0"/>
                            <a:ea typeface="Cambria Math" panose="02040503050406030204" pitchFamily="18" charset="0"/>
                          </a:rPr>
                          <m:t>(</m:t>
                        </m:r>
                        <m:r>
                          <a:rPr lang="en-IN" sz="1800" b="1" i="0">
                            <a:latin typeface="Cambria Math" panose="02040503050406030204" pitchFamily="18" charset="0"/>
                            <a:ea typeface="Cambria Math" panose="02040503050406030204" pitchFamily="18" charset="0"/>
                          </a:rPr>
                          <m:t>|</m:t>
                        </m:r>
                        <m:d>
                          <m:dPr>
                            <m:begChr m:val="|"/>
                            <m:endChr m:val="|"/>
                            <m:ctrlPr>
                              <a:rPr lang="en-IN" sz="1800" b="1" i="1">
                                <a:latin typeface="Cambria Math" panose="02040503050406030204" pitchFamily="18" charset="0"/>
                                <a:ea typeface="Cambria Math" panose="02040503050406030204" pitchFamily="18" charset="0"/>
                              </a:rPr>
                            </m:ctrlPr>
                          </m:dPr>
                          <m:e>
                            <m:r>
                              <a:rPr lang="en-IN" sz="1800" b="1" i="0" smtClean="0">
                                <a:latin typeface="Cambria Math" panose="02040503050406030204" pitchFamily="18" charset="0"/>
                                <a:ea typeface="Cambria Math" panose="02040503050406030204" pitchFamily="18" charset="0"/>
                              </a:rPr>
                              <m:t> </m:t>
                            </m:r>
                            <m:r>
                              <a:rPr lang="en-IN" sz="1800" b="1" i="0">
                                <a:latin typeface="Cambria Math" panose="02040503050406030204" pitchFamily="18" charset="0"/>
                                <a:ea typeface="Cambria Math" panose="02040503050406030204" pitchFamily="18" charset="0"/>
                              </a:rPr>
                              <m:t>𝐲</m:t>
                            </m:r>
                            <m:r>
                              <a:rPr lang="en-IN" sz="1800" b="1" i="0">
                                <a:latin typeface="Cambria Math" panose="02040503050406030204" pitchFamily="18" charset="0"/>
                                <a:ea typeface="Cambria Math" panose="02040503050406030204" pitchFamily="18" charset="0"/>
                              </a:rPr>
                              <m:t>−</m:t>
                            </m:r>
                            <m:acc>
                              <m:accPr>
                                <m:chr m:val="̂"/>
                                <m:ctrlPr>
                                  <a:rPr lang="en-IN" sz="1800" b="1" i="1">
                                    <a:latin typeface="Cambria Math" panose="02040503050406030204" pitchFamily="18" charset="0"/>
                                    <a:ea typeface="Cambria Math" panose="02040503050406030204" pitchFamily="18" charset="0"/>
                                  </a:rPr>
                                </m:ctrlPr>
                              </m:accPr>
                              <m:e>
                                <m:r>
                                  <a:rPr lang="en-IN" sz="1800" b="1" i="1">
                                    <a:latin typeface="Cambria Math" panose="02040503050406030204" pitchFamily="18" charset="0"/>
                                    <a:ea typeface="Cambria Math" panose="02040503050406030204" pitchFamily="18" charset="0"/>
                                  </a:rPr>
                                  <m:t>𝒚</m:t>
                                </m:r>
                              </m:e>
                            </m:acc>
                            <m:r>
                              <m:rPr>
                                <m:sty m:val="p"/>
                              </m:rPr>
                              <a:rPr lang="en-IN" sz="1800" b="1" baseline="-25000">
                                <a:latin typeface="Cambria Math" panose="02040503050406030204" pitchFamily="18" charset="0"/>
                                <a:ea typeface="Cambria Math" panose="02040503050406030204" pitchFamily="18" charset="0"/>
                              </a:rPr>
                              <m:t>i</m:t>
                            </m:r>
                            <m:r>
                              <a:rPr lang="en-IN" sz="1800" b="1" i="0" baseline="-25000" smtClean="0">
                                <a:latin typeface="Cambria Math" panose="02040503050406030204" pitchFamily="18" charset="0"/>
                                <a:ea typeface="Cambria Math" panose="02040503050406030204" pitchFamily="18" charset="0"/>
                              </a:rPr>
                              <m:t> </m:t>
                            </m:r>
                          </m:e>
                        </m:d>
                        <m:r>
                          <a:rPr lang="en-IN" sz="1800" b="1" i="0">
                            <a:latin typeface="Cambria Math" panose="02040503050406030204" pitchFamily="18" charset="0"/>
                            <a:ea typeface="Cambria Math" panose="02040503050406030204" pitchFamily="18" charset="0"/>
                          </a:rPr>
                          <m:t>|</m:t>
                        </m:r>
                        <m:r>
                          <a:rPr lang="en-IN" sz="1800" b="1" i="0" baseline="30000">
                            <a:latin typeface="Cambria Math" panose="02040503050406030204" pitchFamily="18" charset="0"/>
                            <a:ea typeface="Cambria Math" panose="02040503050406030204" pitchFamily="18" charset="0"/>
                          </a:rPr>
                          <m:t>𝟐</m:t>
                        </m:r>
                        <m:r>
                          <a:rPr lang="en-IN" sz="1800" b="1" i="0" baseline="-25000">
                            <a:latin typeface="Cambria Math" panose="02040503050406030204" pitchFamily="18" charset="0"/>
                            <a:ea typeface="Cambria Math" panose="02040503050406030204" pitchFamily="18" charset="0"/>
                          </a:rPr>
                          <m:t>𝟐</m:t>
                        </m:r>
                      </m:e>
                    </m:func>
                  </m:oMath>
                </a14:m>
                <a:r>
                  <a:rPr lang="en-IN" b="1" dirty="0">
                    <a:latin typeface="Cambria Math" panose="02040503050406030204" pitchFamily="18" charset="0"/>
                    <a:ea typeface="Cambria Math" panose="02040503050406030204" pitchFamily="18" charset="0"/>
                    <a:cs typeface="Helvetica" panose="020B0604020202020204" pitchFamily="34" charset="0"/>
                  </a:rPr>
                  <a:t> </a:t>
                </a:r>
                <a:r>
                  <a:rPr lang="en-IN" sz="1800" b="1" dirty="0" smtClean="0">
                    <a:latin typeface="Cambria Math" panose="02040503050406030204" pitchFamily="18" charset="0"/>
                    <a:ea typeface="Cambria Math" panose="02040503050406030204" pitchFamily="18" charset="0"/>
                    <a:cs typeface="Helvetica" panose="020B0604020202020204" pitchFamily="34" charset="0"/>
                  </a:rPr>
                  <a:t>+ </a:t>
                </a:r>
                <a:r>
                  <a:rPr lang="el-GR" sz="1800" b="1" dirty="0" smtClean="0">
                    <a:latin typeface="Cambria Math" panose="02040503050406030204" pitchFamily="18" charset="0"/>
                    <a:ea typeface="Cambria Math" panose="02040503050406030204" pitchFamily="18" charset="0"/>
                    <a:cs typeface="Helvetica" panose="020B0604020202020204" pitchFamily="34" charset="0"/>
                  </a:rPr>
                  <a:t>λ</a:t>
                </a:r>
                <a:r>
                  <a:rPr lang="en-IN" sz="1800" b="1" dirty="0" smtClean="0">
                    <a:latin typeface="Cambria Math" panose="02040503050406030204" pitchFamily="18" charset="0"/>
                    <a:ea typeface="Cambria Math" panose="02040503050406030204" pitchFamily="18" charset="0"/>
                    <a:cs typeface="Helvetica" panose="020B0604020202020204" pitchFamily="34" charset="0"/>
                  </a:rPr>
                  <a:t> ∥</a:t>
                </a:r>
                <a:r>
                  <a:rPr lang="el-GR" sz="1800" b="1" dirty="0" smtClean="0">
                    <a:latin typeface="Cambria Math" panose="02040503050406030204" pitchFamily="18" charset="0"/>
                    <a:ea typeface="Cambria Math" panose="02040503050406030204" pitchFamily="18" charset="0"/>
                    <a:cs typeface="Helvetica" panose="020B0604020202020204" pitchFamily="34" charset="0"/>
                  </a:rPr>
                  <a:t>β</a:t>
                </a:r>
                <a:r>
                  <a:rPr lang="en-IN" sz="1800" b="1" dirty="0" smtClean="0">
                    <a:latin typeface="Cambria Math" panose="02040503050406030204" pitchFamily="18" charset="0"/>
                    <a:ea typeface="Cambria Math" panose="02040503050406030204" pitchFamily="18" charset="0"/>
                    <a:cs typeface="Helvetica" panose="020B0604020202020204" pitchFamily="34" charset="0"/>
                  </a:rPr>
                  <a:t> </a:t>
                </a:r>
                <a:r>
                  <a:rPr lang="el-GR" sz="1800" b="1" dirty="0" smtClean="0">
                    <a:latin typeface="Cambria Math" panose="02040503050406030204" pitchFamily="18" charset="0"/>
                    <a:ea typeface="Cambria Math" panose="02040503050406030204" pitchFamily="18" charset="0"/>
                    <a:cs typeface="Helvetica" panose="020B0604020202020204" pitchFamily="34" charset="0"/>
                  </a:rPr>
                  <a:t>∥</a:t>
                </a:r>
                <a:r>
                  <a:rPr lang="el-GR" sz="1800" b="1" baseline="-25000" dirty="0">
                    <a:latin typeface="Cambria Math" panose="02040503050406030204" pitchFamily="18" charset="0"/>
                    <a:ea typeface="Cambria Math" panose="02040503050406030204" pitchFamily="18" charset="0"/>
                    <a:cs typeface="Helvetica" panose="020B0604020202020204" pitchFamily="34" charset="0"/>
                  </a:rPr>
                  <a:t>1</a:t>
                </a:r>
                <a:r>
                  <a:rPr lang="el-GR" sz="1800" b="1" dirty="0">
                    <a:latin typeface="Cambria Math" panose="02040503050406030204" pitchFamily="18" charset="0"/>
                    <a:ea typeface="Cambria Math" panose="02040503050406030204" pitchFamily="18" charset="0"/>
                    <a:cs typeface="Helvetica" panose="020B0604020202020204" pitchFamily="34" charset="0"/>
                  </a:rPr>
                  <a:t> </a:t>
                </a:r>
                <a:r>
                  <a:rPr lang="en-IN" sz="1800" dirty="0" smtClean="0">
                    <a:latin typeface="Cambria Math" panose="02040503050406030204" pitchFamily="18" charset="0"/>
                    <a:ea typeface="Cambria Math" panose="02040503050406030204" pitchFamily="18" charset="0"/>
                    <a:cs typeface="Helvetica" panose="020B0604020202020204" pitchFamily="34" charset="0"/>
                  </a:rPr>
                  <a:t>)</a:t>
                </a:r>
              </a:p>
              <a:p>
                <a:pPr algn="ctr"/>
                <a:endParaRPr lang="en-IN" sz="1800" dirty="0" smtClean="0">
                  <a:latin typeface="Helvetica" panose="020B0604020202020204" pitchFamily="34" charset="0"/>
                  <a:ea typeface="Cambria Math" panose="02040503050406030204" pitchFamily="18" charset="0"/>
                  <a:cs typeface="Helvetica" panose="020B0604020202020204" pitchFamily="34" charset="0"/>
                </a:endParaRPr>
              </a:p>
              <a:p>
                <a:pPr lvl="1"/>
                <a:r>
                  <a:rPr lang="en-IN" sz="1800" dirty="0" smtClean="0">
                    <a:latin typeface="Helvetica" panose="020B0604020202020204" pitchFamily="34" charset="0"/>
                    <a:cs typeface="Helvetica" panose="020B0604020202020204" pitchFamily="34" charset="0"/>
                  </a:rPr>
                  <a:t>Where ∥</a:t>
                </a:r>
                <a:r>
                  <a:rPr lang="el-GR" sz="1800" dirty="0">
                    <a:latin typeface="Helvetica" panose="020B0604020202020204" pitchFamily="34" charset="0"/>
                    <a:cs typeface="Helvetica" panose="020B0604020202020204" pitchFamily="34" charset="0"/>
                  </a:rPr>
                  <a:t>β∥</a:t>
                </a:r>
                <a:r>
                  <a:rPr lang="el-GR" sz="1800" baseline="-25000" dirty="0">
                    <a:latin typeface="Helvetica" panose="020B0604020202020204" pitchFamily="34" charset="0"/>
                    <a:cs typeface="Helvetica" panose="020B0604020202020204" pitchFamily="34" charset="0"/>
                  </a:rPr>
                  <a:t>1</a:t>
                </a:r>
                <a:r>
                  <a:rPr lang="el-GR" sz="1800" dirty="0">
                    <a:latin typeface="Helvetica" panose="020B0604020202020204" pitchFamily="34" charset="0"/>
                    <a:cs typeface="Helvetica" panose="020B0604020202020204" pitchFamily="34" charset="0"/>
                  </a:rPr>
                  <a:t> = </a:t>
                </a:r>
                <a:r>
                  <a:rPr lang="en-IN" sz="1800" dirty="0" smtClean="0">
                    <a:latin typeface="Helvetica" panose="020B0604020202020204" pitchFamily="34" charset="0"/>
                    <a:cs typeface="Helvetica" panose="020B0604020202020204" pitchFamily="34" charset="0"/>
                  </a:rPr>
                  <a:t>              (</a:t>
                </a:r>
                <a:r>
                  <a:rPr lang="en-IN" sz="1800" dirty="0">
                    <a:latin typeface="Helvetica" panose="020B0604020202020204" pitchFamily="34" charset="0"/>
                    <a:cs typeface="Helvetica" panose="020B0604020202020204" pitchFamily="34" charset="0"/>
                  </a:rPr>
                  <a:t>L1 norm</a:t>
                </a:r>
                <a:r>
                  <a:rPr lang="en-IN" sz="1800" dirty="0" smtClean="0">
                    <a:latin typeface="Helvetica" panose="020B0604020202020204" pitchFamily="34" charset="0"/>
                    <a:cs typeface="Helvetica" panose="020B0604020202020204" pitchFamily="34" charset="0"/>
                  </a:rPr>
                  <a:t>)</a:t>
                </a:r>
              </a:p>
              <a:p>
                <a:endParaRPr lang="en-IN" sz="1800" dirty="0" smtClean="0">
                  <a:latin typeface="Helvetica" panose="020B0604020202020204" pitchFamily="34" charset="0"/>
                  <a:cs typeface="Helvetica" panose="020B0604020202020204" pitchFamily="34" charset="0"/>
                </a:endParaRPr>
              </a:p>
              <a:p>
                <a:pPr lvl="1"/>
                <a:r>
                  <a:rPr lang="el-GR" sz="1800" dirty="0" smtClean="0">
                    <a:latin typeface="Helvetica" panose="020B0604020202020204" pitchFamily="34" charset="0"/>
                    <a:cs typeface="Helvetica" panose="020B0604020202020204" pitchFamily="34" charset="0"/>
                  </a:rPr>
                  <a:t>λ </a:t>
                </a:r>
                <a:r>
                  <a:rPr lang="el-GR" sz="1800" dirty="0">
                    <a:latin typeface="Helvetica" panose="020B0604020202020204" pitchFamily="34" charset="0"/>
                    <a:cs typeface="Helvetica" panose="020B0604020202020204" pitchFamily="34" charset="0"/>
                  </a:rPr>
                  <a:t>≥ 0 </a:t>
                </a:r>
                <a:r>
                  <a:rPr lang="en-IN" sz="1800" dirty="0">
                    <a:latin typeface="Helvetica" panose="020B0604020202020204" pitchFamily="34" charset="0"/>
                    <a:cs typeface="Helvetica" panose="020B0604020202020204" pitchFamily="34" charset="0"/>
                  </a:rPr>
                  <a:t>is the tuning parameter (controls the shrinkage</a:t>
                </a:r>
                <a:r>
                  <a:rPr lang="en-IN" sz="1800" dirty="0" smtClean="0">
                    <a:latin typeface="Helvetica" panose="020B0604020202020204" pitchFamily="34" charset="0"/>
                    <a:cs typeface="Helvetica" panose="020B0604020202020204" pitchFamily="34" charset="0"/>
                  </a:rPr>
                  <a:t>). </a:t>
                </a:r>
                <a:r>
                  <a:rPr lang="el-GR" sz="1800" dirty="0" smtClean="0">
                    <a:latin typeface="Helvetica" panose="020B0604020202020204" pitchFamily="34" charset="0"/>
                    <a:cs typeface="Helvetica" panose="020B0604020202020204" pitchFamily="34" charset="0"/>
                  </a:rPr>
                  <a:t>λ</a:t>
                </a:r>
                <a:endParaRPr lang="en-IN" sz="1800" dirty="0" smtClean="0">
                  <a:latin typeface="Helvetica" panose="020B0604020202020204" pitchFamily="34" charset="0"/>
                  <a:cs typeface="Helvetica" panose="020B0604020202020204" pitchFamily="34" charset="0"/>
                </a:endParaRPr>
              </a:p>
              <a:p>
                <a:pPr>
                  <a:lnSpc>
                    <a:spcPct val="107000"/>
                  </a:lnSpc>
                  <a:spcBef>
                    <a:spcPts val="1200"/>
                  </a:spcBef>
                  <a:buSzPct val="50000"/>
                </a:pPr>
                <a:r>
                  <a:rPr lang="en-IN" sz="2600" b="1" kern="0" dirty="0">
                    <a:solidFill>
                      <a:srgbClr val="0D0D0D"/>
                    </a:solidFill>
                    <a:latin typeface="Helvetica" panose="020B0604020202020204" pitchFamily="34" charset="0"/>
                    <a:ea typeface="Times New Roman" panose="02020603050405020304" pitchFamily="18" charset="0"/>
                    <a:cs typeface="Times New Roman" panose="02020603050405020304" pitchFamily="18" charset="0"/>
                  </a:rPr>
                  <a:t>Effect of Penalty</a:t>
                </a:r>
              </a:p>
              <a:p>
                <a:pPr lvl="1"/>
                <a:r>
                  <a:rPr lang="en-IN" sz="1800" dirty="0" smtClean="0">
                    <a:latin typeface="Helvetica" panose="020B0604020202020204" pitchFamily="34" charset="0"/>
                    <a:cs typeface="Helvetica" panose="020B0604020202020204" pitchFamily="34" charset="0"/>
                  </a:rPr>
                  <a:t>Large </a:t>
                </a:r>
                <a:r>
                  <a:rPr lang="el-GR" sz="1800" dirty="0" smtClean="0">
                    <a:latin typeface="Helvetica" panose="020B0604020202020204" pitchFamily="34" charset="0"/>
                    <a:cs typeface="Helvetica" panose="020B0604020202020204" pitchFamily="34" charset="0"/>
                  </a:rPr>
                  <a:t>λ </a:t>
                </a:r>
                <a:r>
                  <a:rPr lang="el-GR" sz="1800" dirty="0">
                    <a:latin typeface="Helvetica" panose="020B0604020202020204" pitchFamily="34" charset="0"/>
                    <a:cs typeface="Helvetica" panose="020B0604020202020204" pitchFamily="34" charset="0"/>
                  </a:rPr>
                  <a:t>→ </a:t>
                </a:r>
                <a:r>
                  <a:rPr lang="en-IN" sz="1800" dirty="0">
                    <a:latin typeface="Helvetica" panose="020B0604020202020204" pitchFamily="34" charset="0"/>
                    <a:cs typeface="Helvetica" panose="020B0604020202020204" pitchFamily="34" charset="0"/>
                  </a:rPr>
                  <a:t>stronger penalty → more coefficients shrink to 0. </a:t>
                </a:r>
                <a:endParaRPr lang="en-IN" sz="1800" dirty="0" smtClean="0">
                  <a:latin typeface="Helvetica" panose="020B0604020202020204" pitchFamily="34" charset="0"/>
                  <a:cs typeface="Helvetica" panose="020B0604020202020204" pitchFamily="34" charset="0"/>
                </a:endParaRPr>
              </a:p>
              <a:p>
                <a:pPr lvl="1"/>
                <a:r>
                  <a:rPr lang="en-IN" sz="1800" dirty="0" smtClean="0">
                    <a:latin typeface="Helvetica" panose="020B0604020202020204" pitchFamily="34" charset="0"/>
                    <a:cs typeface="Helvetica" panose="020B0604020202020204" pitchFamily="34" charset="0"/>
                  </a:rPr>
                  <a:t>Small </a:t>
                </a:r>
                <a:r>
                  <a:rPr lang="el-GR" sz="1800" dirty="0">
                    <a:latin typeface="Helvetica" panose="020B0604020202020204" pitchFamily="34" charset="0"/>
                    <a:cs typeface="Helvetica" panose="020B0604020202020204" pitchFamily="34" charset="0"/>
                  </a:rPr>
                  <a:t>λ → </a:t>
                </a:r>
                <a:r>
                  <a:rPr lang="en-IN" sz="1800" dirty="0">
                    <a:latin typeface="Helvetica" panose="020B0604020202020204" pitchFamily="34" charset="0"/>
                    <a:cs typeface="Helvetica" panose="020B0604020202020204" pitchFamily="34" charset="0"/>
                  </a:rPr>
                  <a:t>closer </a:t>
                </a:r>
                <a:r>
                  <a:rPr lang="en-IN" sz="1800" dirty="0" smtClean="0">
                    <a:latin typeface="Helvetica" panose="020B0604020202020204" pitchFamily="34" charset="0"/>
                    <a:cs typeface="Helvetica" panose="020B0604020202020204" pitchFamily="34" charset="0"/>
                  </a:rPr>
                  <a:t>to OLS</a:t>
                </a:r>
                <a:r>
                  <a:rPr lang="en-IN" sz="1800" dirty="0">
                    <a:latin typeface="Helvetica" panose="020B0604020202020204" pitchFamily="34" charset="0"/>
                    <a:cs typeface="Helvetica" panose="020B0604020202020204" pitchFamily="34" charset="0"/>
                  </a:rPr>
                  <a:t>. </a:t>
                </a:r>
                <a:endParaRPr lang="en-IN" sz="1800" dirty="0" smtClean="0">
                  <a:latin typeface="Helvetica" panose="020B0604020202020204" pitchFamily="34" charset="0"/>
                  <a:cs typeface="Helvetica" panose="020B0604020202020204" pitchFamily="34" charset="0"/>
                </a:endParaRPr>
              </a:p>
              <a:p>
                <a:pPr lvl="1"/>
                <a:r>
                  <a:rPr lang="en-IN" sz="1800" dirty="0" smtClean="0">
                    <a:latin typeface="Helvetica" panose="020B0604020202020204" pitchFamily="34" charset="0"/>
                    <a:cs typeface="Helvetica" panose="020B0604020202020204" pitchFamily="34" charset="0"/>
                  </a:rPr>
                  <a:t>This </a:t>
                </a:r>
                <a:r>
                  <a:rPr lang="en-IN" sz="1800" dirty="0">
                    <a:latin typeface="Helvetica" panose="020B0604020202020204" pitchFamily="34" charset="0"/>
                    <a:cs typeface="Helvetica" panose="020B0604020202020204" pitchFamily="34" charset="0"/>
                  </a:rPr>
                  <a:t>is why Lasso performs shrinkage + feature selection.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34963" y="333376"/>
                <a:ext cx="11522075" cy="5843588"/>
              </a:xfrm>
              <a:blipFill>
                <a:blip r:embed="rId2"/>
                <a:stretch>
                  <a:fillRect l="-952" t="-114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5132832" y="1473589"/>
                <a:ext cx="390144"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sz="1400" b="1" i="0">
                          <a:latin typeface="Cambria Math" panose="02040503050406030204" pitchFamily="18" charset="0"/>
                          <a:ea typeface="Cambria Math" panose="02040503050406030204" pitchFamily="18" charset="0"/>
                        </a:rPr>
                        <m:t>𝛃</m:t>
                      </m:r>
                    </m:oMath>
                  </m:oMathPara>
                </a14:m>
                <a:endParaRPr lang="en-IN" sz="1400" dirty="0"/>
              </a:p>
            </p:txBody>
          </p:sp>
        </mc:Choice>
        <mc:Fallback xmlns="">
          <p:sp>
            <p:nvSpPr>
              <p:cNvPr id="4" name="TextBox 3"/>
              <p:cNvSpPr txBox="1">
                <a:spLocks noRot="1" noChangeAspect="1" noMove="1" noResize="1" noEditPoints="1" noAdjustHandles="1" noChangeArrowheads="1" noChangeShapeType="1" noTextEdit="1"/>
              </p:cNvSpPr>
              <p:nvPr/>
            </p:nvSpPr>
            <p:spPr>
              <a:xfrm>
                <a:off x="5132832" y="1473589"/>
                <a:ext cx="390144" cy="307777"/>
              </a:xfrm>
              <a:prstGeom prst="rect">
                <a:avLst/>
              </a:prstGeom>
              <a:blipFill>
                <a:blip r:embed="rId3"/>
                <a:stretch>
                  <a:fillRect b="-8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 name="TextBox 1"/>
              <p:cNvSpPr txBox="1"/>
              <p:nvPr/>
            </p:nvSpPr>
            <p:spPr>
              <a:xfrm>
                <a:off x="1840992" y="1770508"/>
                <a:ext cx="2328672" cy="87985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limLoc m:val="undOvr"/>
                          <m:grow m:val="on"/>
                          <m:ctrlPr>
                            <a:rPr lang="en-IN" i="1">
                              <a:latin typeface="Cambria Math" panose="02040503050406030204" pitchFamily="18" charset="0"/>
                              <a:ea typeface="Cambria Math" panose="02040503050406030204" pitchFamily="18" charset="0"/>
                            </a:rPr>
                          </m:ctrlPr>
                        </m:naryPr>
                        <m:sub>
                          <m:r>
                            <a:rPr lang="en-IN" i="1">
                              <a:latin typeface="Cambria Math" panose="02040503050406030204" pitchFamily="18" charset="0"/>
                              <a:ea typeface="Cambria Math" panose="02040503050406030204" pitchFamily="18" charset="0"/>
                            </a:rPr>
                            <m:t>𝑗</m:t>
                          </m:r>
                          <m:r>
                            <a:rPr lang="en-IN" i="1">
                              <a:latin typeface="Cambria Math" panose="02040503050406030204" pitchFamily="18" charset="0"/>
                              <a:ea typeface="Cambria Math" panose="02040503050406030204" pitchFamily="18" charset="0"/>
                            </a:rPr>
                            <m:t>=1</m:t>
                          </m:r>
                        </m:sub>
                        <m:sup>
                          <m:r>
                            <a:rPr lang="en-IN" i="1">
                              <a:latin typeface="Cambria Math" panose="02040503050406030204" pitchFamily="18" charset="0"/>
                              <a:ea typeface="Cambria Math" panose="02040503050406030204" pitchFamily="18" charset="0"/>
                            </a:rPr>
                            <m:t>𝑝</m:t>
                          </m:r>
                        </m:sup>
                        <m:e>
                          <m:d>
                            <m:dPr>
                              <m:begChr m:val="|"/>
                              <m:endChr m:val="|"/>
                              <m:ctrlPr>
                                <a:rPr lang="en-IN" i="1">
                                  <a:latin typeface="Cambria Math" panose="02040503050406030204" pitchFamily="18" charset="0"/>
                                  <a:ea typeface="Cambria Math" panose="02040503050406030204" pitchFamily="18" charset="0"/>
                                </a:rPr>
                              </m:ctrlPr>
                            </m:dPr>
                            <m:e>
                              <m:sSub>
                                <m:sSubPr>
                                  <m:ctrlPr>
                                    <a:rPr lang="en-IN" i="1">
                                      <a:latin typeface="Cambria Math" panose="02040503050406030204" pitchFamily="18" charset="0"/>
                                      <a:ea typeface="Cambria Math" panose="02040503050406030204" pitchFamily="18" charset="0"/>
                                    </a:rPr>
                                  </m:ctrlPr>
                                </m:sSubPr>
                                <m:e>
                                  <m:r>
                                    <a:rPr lang="en-IN" i="1">
                                      <a:latin typeface="Cambria Math" panose="02040503050406030204" pitchFamily="18" charset="0"/>
                                      <a:ea typeface="Cambria Math" panose="02040503050406030204" pitchFamily="18" charset="0"/>
                                    </a:rPr>
                                    <m:t>𝛽</m:t>
                                  </m:r>
                                </m:e>
                                <m:sub>
                                  <m:r>
                                    <a:rPr lang="en-IN" i="1">
                                      <a:latin typeface="Cambria Math" panose="02040503050406030204" pitchFamily="18" charset="0"/>
                                      <a:ea typeface="Cambria Math" panose="02040503050406030204" pitchFamily="18" charset="0"/>
                                    </a:rPr>
                                    <m:t>𝑗</m:t>
                                  </m:r>
                                </m:sub>
                              </m:sSub>
                            </m:e>
                          </m:d>
                        </m:e>
                      </m:nary>
                    </m:oMath>
                  </m:oMathPara>
                </a14:m>
                <a:endParaRPr lang="en-IN" dirty="0">
                  <a:latin typeface="Cambria Math" panose="02040503050406030204" pitchFamily="18" charset="0"/>
                  <a:ea typeface="Cambria Math" panose="02040503050406030204" pitchFamily="18" charset="0"/>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1840992" y="1770508"/>
                <a:ext cx="2328672" cy="879856"/>
              </a:xfrm>
              <a:prstGeom prst="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25583862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4963" y="702707"/>
            <a:ext cx="11522075" cy="6002893"/>
          </a:xfrm>
          <a:prstGeom prst="rect">
            <a:avLst/>
          </a:prstGeom>
          <a:effectLst>
            <a:innerShdw blurRad="114300">
              <a:prstClr val="black"/>
            </a:innerShdw>
          </a:effectLst>
        </p:spPr>
      </p:pic>
      <p:sp>
        <p:nvSpPr>
          <p:cNvPr id="3" name="TextBox 2"/>
          <p:cNvSpPr txBox="1"/>
          <p:nvPr/>
        </p:nvSpPr>
        <p:spPr>
          <a:xfrm>
            <a:off x="334963" y="333375"/>
            <a:ext cx="9265920" cy="369332"/>
          </a:xfrm>
          <a:prstGeom prst="rect">
            <a:avLst/>
          </a:prstGeom>
          <a:noFill/>
        </p:spPr>
        <p:txBody>
          <a:bodyPr wrap="square" rtlCol="0">
            <a:spAutoFit/>
          </a:bodyPr>
          <a:lstStyle/>
          <a:p>
            <a:r>
              <a:rPr lang="en-IN" dirty="0" smtClean="0">
                <a:latin typeface="Helvetica" panose="020B0604020202020204" pitchFamily="34" charset="0"/>
                <a:cs typeface="Helvetica" panose="020B0604020202020204" pitchFamily="34" charset="0"/>
              </a:rPr>
              <a:t>Moving further, we study the effect of regularisation on the earlier dataset.</a:t>
            </a:r>
            <a:endParaRPr lang="en-IN"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7478697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4963" y="692150"/>
            <a:ext cx="11522075" cy="6013450"/>
          </a:xfrm>
          <a:prstGeom prst="rect">
            <a:avLst/>
          </a:prstGeom>
          <a:effectLst>
            <a:innerShdw blurRad="114300">
              <a:prstClr val="black"/>
            </a:innerShdw>
          </a:effectLst>
        </p:spPr>
      </p:pic>
    </p:spTree>
    <p:extLst>
      <p:ext uri="{BB962C8B-B14F-4D97-AF65-F5344CB8AC3E}">
        <p14:creationId xmlns:p14="http://schemas.microsoft.com/office/powerpoint/2010/main" val="174757571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4963" y="692150"/>
            <a:ext cx="11522075" cy="6013450"/>
          </a:xfrm>
          <a:prstGeom prst="rect">
            <a:avLst/>
          </a:prstGeom>
          <a:effectLst>
            <a:innerShdw blurRad="114300">
              <a:prstClr val="black"/>
            </a:innerShdw>
          </a:effectLst>
        </p:spPr>
      </p:pic>
    </p:spTree>
    <p:extLst>
      <p:ext uri="{BB962C8B-B14F-4D97-AF65-F5344CB8AC3E}">
        <p14:creationId xmlns:p14="http://schemas.microsoft.com/office/powerpoint/2010/main" val="397892709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4963" y="692150"/>
            <a:ext cx="11522075" cy="6013450"/>
          </a:xfrm>
          <a:prstGeom prst="rect">
            <a:avLst/>
          </a:prstGeom>
          <a:effectLst>
            <a:innerShdw blurRad="114300">
              <a:prstClr val="black"/>
            </a:innerShdw>
          </a:effectLst>
        </p:spPr>
      </p:pic>
    </p:spTree>
    <p:extLst>
      <p:ext uri="{BB962C8B-B14F-4D97-AF65-F5344CB8AC3E}">
        <p14:creationId xmlns:p14="http://schemas.microsoft.com/office/powerpoint/2010/main" val="59082058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4963" y="692150"/>
            <a:ext cx="11522075" cy="6013450"/>
          </a:xfrm>
          <a:prstGeom prst="rect">
            <a:avLst/>
          </a:prstGeom>
          <a:effectLst>
            <a:innerShdw blurRad="114300">
              <a:prstClr val="black"/>
            </a:innerShdw>
          </a:effectLst>
        </p:spPr>
      </p:pic>
    </p:spTree>
    <p:extLst>
      <p:ext uri="{BB962C8B-B14F-4D97-AF65-F5344CB8AC3E}">
        <p14:creationId xmlns:p14="http://schemas.microsoft.com/office/powerpoint/2010/main" val="217320461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34963" y="333376"/>
            <a:ext cx="11522075" cy="6372224"/>
          </a:xfrm>
          <a:effectLst>
            <a:innerShdw blurRad="114300">
              <a:prstClr val="black"/>
            </a:innerShdw>
          </a:effectLst>
        </p:spPr>
      </p:pic>
    </p:spTree>
    <p:extLst>
      <p:ext uri="{BB962C8B-B14F-4D97-AF65-F5344CB8AC3E}">
        <p14:creationId xmlns:p14="http://schemas.microsoft.com/office/powerpoint/2010/main" val="167946235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683000" y="1325562"/>
            <a:ext cx="8174038" cy="5380037"/>
          </a:xfrm>
          <a:effectLst>
            <a:innerShdw blurRad="114300">
              <a:prstClr val="black"/>
            </a:innerShdw>
          </a:effectLst>
        </p:spPr>
      </p:pic>
      <p:sp>
        <p:nvSpPr>
          <p:cNvPr id="2" name="Title 1"/>
          <p:cNvSpPr>
            <a:spLocks noGrp="1"/>
          </p:cNvSpPr>
          <p:nvPr>
            <p:ph type="title"/>
          </p:nvPr>
        </p:nvSpPr>
        <p:spPr>
          <a:xfrm>
            <a:off x="334963" y="0"/>
            <a:ext cx="10515600" cy="1325563"/>
          </a:xfrm>
        </p:spPr>
        <p:txBody>
          <a:bodyPr>
            <a:normAutofit/>
          </a:bodyPr>
          <a:lstStyle/>
          <a:p>
            <a:r>
              <a:rPr lang="en-IN" sz="4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Feature Selection</a:t>
            </a:r>
          </a:p>
        </p:txBody>
      </p:sp>
      <p:sp>
        <p:nvSpPr>
          <p:cNvPr id="7" name="TextBox 6"/>
          <p:cNvSpPr txBox="1"/>
          <p:nvPr/>
        </p:nvSpPr>
        <p:spPr>
          <a:xfrm>
            <a:off x="334963" y="1325563"/>
            <a:ext cx="3348037" cy="5355312"/>
          </a:xfrm>
          <a:prstGeom prst="rect">
            <a:avLst/>
          </a:prstGeom>
          <a:noFill/>
        </p:spPr>
        <p:txBody>
          <a:bodyPr wrap="square" rtlCol="0">
            <a:spAutoFit/>
          </a:bodyPr>
          <a:lstStyle/>
          <a:p>
            <a:r>
              <a:rPr lang="en-IN" dirty="0" smtClean="0">
                <a:latin typeface="Helvetica" panose="020B0604020202020204" pitchFamily="34" charset="0"/>
                <a:cs typeface="Helvetica" panose="020B0604020202020204" pitchFamily="34" charset="0"/>
              </a:rPr>
              <a:t>Feature selection is a technique which is used to determine the </a:t>
            </a:r>
            <a:r>
              <a:rPr lang="en-IN" b="1" dirty="0" smtClean="0">
                <a:latin typeface="Helvetica" panose="020B0604020202020204" pitchFamily="34" charset="0"/>
                <a:cs typeface="Helvetica" panose="020B0604020202020204" pitchFamily="34" charset="0"/>
              </a:rPr>
              <a:t>explanatory variables(features) which have maximum effect on the response variable.</a:t>
            </a:r>
          </a:p>
          <a:p>
            <a:endParaRPr lang="en-IN" dirty="0">
              <a:latin typeface="Helvetica" panose="020B0604020202020204" pitchFamily="34" charset="0"/>
              <a:cs typeface="Helvetica" panose="020B0604020202020204" pitchFamily="34" charset="0"/>
            </a:endParaRPr>
          </a:p>
          <a:p>
            <a:r>
              <a:rPr lang="en-IN" dirty="0" smtClean="0">
                <a:latin typeface="Helvetica" panose="020B0604020202020204" pitchFamily="34" charset="0"/>
                <a:cs typeface="Helvetica" panose="020B0604020202020204" pitchFamily="34" charset="0"/>
              </a:rPr>
              <a:t>This is quite a necessary thing when you have a </a:t>
            </a:r>
            <a:r>
              <a:rPr lang="en-IN" b="1" dirty="0" smtClean="0">
                <a:latin typeface="Helvetica" panose="020B0604020202020204" pitchFamily="34" charset="0"/>
                <a:cs typeface="Helvetica" panose="020B0604020202020204" pitchFamily="34" charset="0"/>
              </a:rPr>
              <a:t>high dimensional data</a:t>
            </a:r>
            <a:r>
              <a:rPr lang="en-IN" dirty="0" smtClean="0">
                <a:latin typeface="Helvetica" panose="020B0604020202020204" pitchFamily="34" charset="0"/>
                <a:cs typeface="Helvetica" panose="020B0604020202020204" pitchFamily="34" charset="0"/>
              </a:rPr>
              <a:t>. You retain only the variables which actually affect the outcome and remove the uncorrelated variable while forming a model.</a:t>
            </a:r>
          </a:p>
          <a:p>
            <a:endParaRPr lang="en-IN" dirty="0">
              <a:latin typeface="Helvetica" panose="020B0604020202020204" pitchFamily="34" charset="0"/>
              <a:cs typeface="Helvetica" panose="020B0604020202020204" pitchFamily="34" charset="0"/>
            </a:endParaRPr>
          </a:p>
          <a:p>
            <a:r>
              <a:rPr lang="en-IN" dirty="0" smtClean="0">
                <a:latin typeface="Helvetica" panose="020B0604020202020204" pitchFamily="34" charset="0"/>
                <a:cs typeface="Helvetica" panose="020B0604020202020204" pitchFamily="34" charset="0"/>
              </a:rPr>
              <a:t>But how does Lasso Regression help in this? The simple answer would be - it can make the slope exactly 0.</a:t>
            </a:r>
            <a:endParaRPr lang="en-IN"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40123815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noChangeAspect="1"/>
          </p:cNvGraphicFramePr>
          <p:nvPr>
            <p:ph idx="1"/>
            <p:extLst>
              <p:ext uri="{D42A27DB-BD31-4B8C-83A1-F6EECF244321}">
                <p14:modId xmlns:p14="http://schemas.microsoft.com/office/powerpoint/2010/main" val="3681714154"/>
              </p:ext>
            </p:extLst>
          </p:nvPr>
        </p:nvGraphicFramePr>
        <p:xfrm>
          <a:off x="334963" y="1386626"/>
          <a:ext cx="11522075" cy="5160477"/>
        </p:xfrm>
        <a:graphic>
          <a:graphicData uri="http://schemas.openxmlformats.org/presentationml/2006/ole">
            <mc:AlternateContent xmlns:mc="http://schemas.openxmlformats.org/markup-compatibility/2006">
              <mc:Choice xmlns:v="urn:schemas-microsoft-com:vml" Requires="v">
                <p:oleObj spid="_x0000_s1068" name="Worksheet" r:id="rId3" imgW="7191495" imgH="3210050" progId="Excel.Sheet.12">
                  <p:embed/>
                </p:oleObj>
              </mc:Choice>
              <mc:Fallback>
                <p:oleObj name="Worksheet" r:id="rId3" imgW="7191495" imgH="3210050" progId="Excel.Sheet.12">
                  <p:embed/>
                  <p:pic>
                    <p:nvPicPr>
                      <p:cNvPr id="0" name=""/>
                      <p:cNvPicPr/>
                      <p:nvPr/>
                    </p:nvPicPr>
                    <p:blipFill>
                      <a:blip r:embed="rId4"/>
                      <a:stretch>
                        <a:fillRect/>
                      </a:stretch>
                    </p:blipFill>
                    <p:spPr>
                      <a:xfrm>
                        <a:off x="334963" y="1386626"/>
                        <a:ext cx="11522075" cy="5160477"/>
                      </a:xfrm>
                      <a:prstGeom prst="rect">
                        <a:avLst/>
                      </a:prstGeom>
                    </p:spPr>
                  </p:pic>
                </p:oleObj>
              </mc:Fallback>
            </mc:AlternateContent>
          </a:graphicData>
        </a:graphic>
      </p:graphicFrame>
      <p:sp>
        <p:nvSpPr>
          <p:cNvPr id="8" name="TextBox 7"/>
          <p:cNvSpPr txBox="1"/>
          <p:nvPr/>
        </p:nvSpPr>
        <p:spPr>
          <a:xfrm>
            <a:off x="334962" y="463296"/>
            <a:ext cx="11625389" cy="923330"/>
          </a:xfrm>
          <a:prstGeom prst="rect">
            <a:avLst/>
          </a:prstGeom>
          <a:noFill/>
        </p:spPr>
        <p:txBody>
          <a:bodyPr wrap="square" rtlCol="0">
            <a:spAutoFit/>
          </a:bodyPr>
          <a:lstStyle/>
          <a:p>
            <a:r>
              <a:rPr lang="en-IN" dirty="0" smtClean="0">
                <a:latin typeface="Helvetica" panose="020B0604020202020204" pitchFamily="34" charset="0"/>
                <a:cs typeface="Helvetica" panose="020B0604020202020204" pitchFamily="34" charset="0"/>
              </a:rPr>
              <a:t>To demonstrate an example of feature selection using the Lasso Regression, we take example of this </a:t>
            </a:r>
            <a:r>
              <a:rPr lang="en-IN" b="1" dirty="0" smtClean="0">
                <a:latin typeface="Helvetica" panose="020B0604020202020204" pitchFamily="34" charset="0"/>
                <a:cs typeface="Helvetica" panose="020B0604020202020204" pitchFamily="34" charset="0"/>
              </a:rPr>
              <a:t>Diabetes dataset.</a:t>
            </a:r>
            <a:r>
              <a:rPr lang="en-IN" dirty="0" smtClean="0">
                <a:latin typeface="Helvetica" panose="020B0604020202020204" pitchFamily="34" charset="0"/>
                <a:cs typeface="Helvetica" panose="020B0604020202020204" pitchFamily="34" charset="0"/>
              </a:rPr>
              <a:t> The data is of 442 diabetes patients. 15 of them are shown here. The predictor variables are standardised.</a:t>
            </a:r>
            <a:endParaRPr lang="en-IN" dirty="0">
              <a:latin typeface="Helvetica" panose="020B0604020202020204" pitchFamily="34" charset="0"/>
              <a:cs typeface="Helvetica" panose="020B0604020202020204" pitchFamily="34" charset="0"/>
            </a:endParaRPr>
          </a:p>
        </p:txBody>
      </p:sp>
      <p:sp>
        <p:nvSpPr>
          <p:cNvPr id="9" name="TextBox 8"/>
          <p:cNvSpPr txBox="1"/>
          <p:nvPr/>
        </p:nvSpPr>
        <p:spPr>
          <a:xfrm>
            <a:off x="9309343" y="6578642"/>
            <a:ext cx="2651008" cy="253916"/>
          </a:xfrm>
          <a:prstGeom prst="rect">
            <a:avLst/>
          </a:prstGeom>
          <a:noFill/>
        </p:spPr>
        <p:txBody>
          <a:bodyPr wrap="square" rtlCol="0">
            <a:spAutoFit/>
          </a:bodyPr>
          <a:lstStyle/>
          <a:p>
            <a:r>
              <a:rPr lang="en-IN" sz="1050" dirty="0" smtClean="0">
                <a:latin typeface="Helvetica" panose="020B0604020202020204" pitchFamily="34" charset="0"/>
                <a:cs typeface="Helvetica" panose="020B0604020202020204" pitchFamily="34" charset="0"/>
              </a:rPr>
              <a:t>Source: North Carolina State University</a:t>
            </a:r>
            <a:endParaRPr lang="en-IN" sz="105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40969076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34964" y="737915"/>
            <a:ext cx="11522074" cy="5967686"/>
          </a:xfrm>
          <a:effectLst>
            <a:innerShdw blurRad="114300">
              <a:prstClr val="black"/>
            </a:innerShdw>
          </a:effectLst>
        </p:spPr>
      </p:pic>
      <p:sp>
        <p:nvSpPr>
          <p:cNvPr id="5" name="TextBox 4"/>
          <p:cNvSpPr txBox="1"/>
          <p:nvPr/>
        </p:nvSpPr>
        <p:spPr>
          <a:xfrm>
            <a:off x="334963" y="337804"/>
            <a:ext cx="5437632" cy="400110"/>
          </a:xfrm>
          <a:prstGeom prst="rect">
            <a:avLst/>
          </a:prstGeom>
          <a:noFill/>
        </p:spPr>
        <p:txBody>
          <a:bodyPr wrap="square" rtlCol="0">
            <a:spAutoFit/>
          </a:bodyPr>
          <a:lstStyle/>
          <a:p>
            <a:pPr marL="342900" indent="-342900">
              <a:buFont typeface="+mj-lt"/>
              <a:buAutoNum type="arabicPeriod"/>
            </a:pPr>
            <a:r>
              <a:rPr lang="en-IN" sz="2000" b="1" dirty="0" smtClean="0">
                <a:latin typeface="Helvetica" panose="020B0604020202020204" pitchFamily="34" charset="0"/>
                <a:cs typeface="Helvetica" panose="020B0604020202020204" pitchFamily="34" charset="0"/>
              </a:rPr>
              <a:t>How are coefficients affected?</a:t>
            </a:r>
            <a:endParaRPr lang="en-IN" sz="2000" b="1"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04460719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5" name="TextBox 4"/>
          <p:cNvSpPr txBox="1"/>
          <p:nvPr/>
        </p:nvSpPr>
        <p:spPr>
          <a:xfrm>
            <a:off x="334963" y="337804"/>
            <a:ext cx="5437632" cy="400110"/>
          </a:xfrm>
          <a:prstGeom prst="rect">
            <a:avLst/>
          </a:prstGeom>
          <a:noFill/>
        </p:spPr>
        <p:txBody>
          <a:bodyPr wrap="square" rtlCol="0">
            <a:spAutoFit/>
          </a:bodyPr>
          <a:lstStyle/>
          <a:p>
            <a:r>
              <a:rPr lang="en-IN" sz="2000" b="1" dirty="0" smtClean="0">
                <a:latin typeface="Helvetica" panose="020B0604020202020204" pitchFamily="34" charset="0"/>
                <a:cs typeface="Helvetica" panose="020B0604020202020204" pitchFamily="34" charset="0"/>
              </a:rPr>
              <a:t>2. Higher coefficients are affected more.</a:t>
            </a:r>
            <a:endParaRPr lang="en-IN" sz="2000" b="1" dirty="0">
              <a:latin typeface="Helvetica" panose="020B0604020202020204" pitchFamily="34" charset="0"/>
              <a:cs typeface="Helvetica" panose="020B0604020202020204"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val="1935640498"/>
              </p:ext>
            </p:extLst>
          </p:nvPr>
        </p:nvGraphicFramePr>
        <p:xfrm>
          <a:off x="334963" y="728661"/>
          <a:ext cx="11522071" cy="5976938"/>
        </p:xfrm>
        <a:graphic>
          <a:graphicData uri="http://schemas.openxmlformats.org/drawingml/2006/table">
            <a:tbl>
              <a:tblPr firstRow="1" bandRow="1">
                <a:tableStyleId>{073A0DAA-6AF3-43AB-8588-CEC1D06C72B9}</a:tableStyleId>
              </a:tblPr>
              <a:tblGrid>
                <a:gridCol w="1047461">
                  <a:extLst>
                    <a:ext uri="{9D8B030D-6E8A-4147-A177-3AD203B41FA5}">
                      <a16:colId xmlns:a16="http://schemas.microsoft.com/office/drawing/2014/main" val="893128370"/>
                    </a:ext>
                  </a:extLst>
                </a:gridCol>
                <a:gridCol w="1047461">
                  <a:extLst>
                    <a:ext uri="{9D8B030D-6E8A-4147-A177-3AD203B41FA5}">
                      <a16:colId xmlns:a16="http://schemas.microsoft.com/office/drawing/2014/main" val="2337055899"/>
                    </a:ext>
                  </a:extLst>
                </a:gridCol>
                <a:gridCol w="1047461">
                  <a:extLst>
                    <a:ext uri="{9D8B030D-6E8A-4147-A177-3AD203B41FA5}">
                      <a16:colId xmlns:a16="http://schemas.microsoft.com/office/drawing/2014/main" val="2442129363"/>
                    </a:ext>
                  </a:extLst>
                </a:gridCol>
                <a:gridCol w="1047461">
                  <a:extLst>
                    <a:ext uri="{9D8B030D-6E8A-4147-A177-3AD203B41FA5}">
                      <a16:colId xmlns:a16="http://schemas.microsoft.com/office/drawing/2014/main" val="3583047799"/>
                    </a:ext>
                  </a:extLst>
                </a:gridCol>
                <a:gridCol w="1047461">
                  <a:extLst>
                    <a:ext uri="{9D8B030D-6E8A-4147-A177-3AD203B41FA5}">
                      <a16:colId xmlns:a16="http://schemas.microsoft.com/office/drawing/2014/main" val="3584466374"/>
                    </a:ext>
                  </a:extLst>
                </a:gridCol>
                <a:gridCol w="1047461">
                  <a:extLst>
                    <a:ext uri="{9D8B030D-6E8A-4147-A177-3AD203B41FA5}">
                      <a16:colId xmlns:a16="http://schemas.microsoft.com/office/drawing/2014/main" val="3996450158"/>
                    </a:ext>
                  </a:extLst>
                </a:gridCol>
                <a:gridCol w="1047461">
                  <a:extLst>
                    <a:ext uri="{9D8B030D-6E8A-4147-A177-3AD203B41FA5}">
                      <a16:colId xmlns:a16="http://schemas.microsoft.com/office/drawing/2014/main" val="286096763"/>
                    </a:ext>
                  </a:extLst>
                </a:gridCol>
                <a:gridCol w="1047461">
                  <a:extLst>
                    <a:ext uri="{9D8B030D-6E8A-4147-A177-3AD203B41FA5}">
                      <a16:colId xmlns:a16="http://schemas.microsoft.com/office/drawing/2014/main" val="4202899270"/>
                    </a:ext>
                  </a:extLst>
                </a:gridCol>
                <a:gridCol w="1047461">
                  <a:extLst>
                    <a:ext uri="{9D8B030D-6E8A-4147-A177-3AD203B41FA5}">
                      <a16:colId xmlns:a16="http://schemas.microsoft.com/office/drawing/2014/main" val="3360961679"/>
                    </a:ext>
                  </a:extLst>
                </a:gridCol>
                <a:gridCol w="1047461">
                  <a:extLst>
                    <a:ext uri="{9D8B030D-6E8A-4147-A177-3AD203B41FA5}">
                      <a16:colId xmlns:a16="http://schemas.microsoft.com/office/drawing/2014/main" val="3079095926"/>
                    </a:ext>
                  </a:extLst>
                </a:gridCol>
                <a:gridCol w="1047461">
                  <a:extLst>
                    <a:ext uri="{9D8B030D-6E8A-4147-A177-3AD203B41FA5}">
                      <a16:colId xmlns:a16="http://schemas.microsoft.com/office/drawing/2014/main" val="1182479214"/>
                    </a:ext>
                  </a:extLst>
                </a:gridCol>
              </a:tblGrid>
              <a:tr h="543358">
                <a:tc>
                  <a:txBody>
                    <a:bodyPr/>
                    <a:lstStyle/>
                    <a:p>
                      <a:pPr algn="ctr" fontAlgn="t"/>
                      <a:r>
                        <a:rPr lang="en-IN" sz="1400" u="none" strike="noStrike" dirty="0">
                          <a:effectLst/>
                          <a:latin typeface="Cambria Math" panose="02040503050406030204" pitchFamily="18" charset="0"/>
                          <a:ea typeface="Cambria Math" panose="02040503050406030204" pitchFamily="18" charset="0"/>
                        </a:rPr>
                        <a:t>lambda</a:t>
                      </a:r>
                      <a:endParaRPr lang="en-IN" sz="1400" b="1"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t"/>
                      <a:r>
                        <a:rPr lang="en-IN" sz="1400" u="none" strike="noStrike">
                          <a:effectLst/>
                          <a:latin typeface="Cambria Math" panose="02040503050406030204" pitchFamily="18" charset="0"/>
                          <a:ea typeface="Cambria Math" panose="02040503050406030204" pitchFamily="18" charset="0"/>
                        </a:rPr>
                        <a:t>age</a:t>
                      </a:r>
                      <a:endParaRPr lang="en-IN" sz="14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t"/>
                      <a:r>
                        <a:rPr lang="en-IN" sz="1400" u="none" strike="noStrike">
                          <a:effectLst/>
                          <a:latin typeface="Cambria Math" panose="02040503050406030204" pitchFamily="18" charset="0"/>
                          <a:ea typeface="Cambria Math" panose="02040503050406030204" pitchFamily="18" charset="0"/>
                        </a:rPr>
                        <a:t>sex</a:t>
                      </a:r>
                      <a:endParaRPr lang="en-IN" sz="14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t"/>
                      <a:r>
                        <a:rPr lang="en-IN" sz="1400" u="none" strike="noStrike">
                          <a:effectLst/>
                          <a:latin typeface="Cambria Math" panose="02040503050406030204" pitchFamily="18" charset="0"/>
                          <a:ea typeface="Cambria Math" panose="02040503050406030204" pitchFamily="18" charset="0"/>
                        </a:rPr>
                        <a:t>bmi</a:t>
                      </a:r>
                      <a:endParaRPr lang="en-IN" sz="14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t"/>
                      <a:r>
                        <a:rPr lang="en-IN" sz="1400" u="none" strike="noStrike">
                          <a:effectLst/>
                          <a:latin typeface="Cambria Math" panose="02040503050406030204" pitchFamily="18" charset="0"/>
                          <a:ea typeface="Cambria Math" panose="02040503050406030204" pitchFamily="18" charset="0"/>
                        </a:rPr>
                        <a:t>bp</a:t>
                      </a:r>
                      <a:endParaRPr lang="en-IN" sz="14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t"/>
                      <a:r>
                        <a:rPr lang="en-IN" sz="1400" u="none" strike="noStrike">
                          <a:effectLst/>
                          <a:latin typeface="Cambria Math" panose="02040503050406030204" pitchFamily="18" charset="0"/>
                          <a:ea typeface="Cambria Math" panose="02040503050406030204" pitchFamily="18" charset="0"/>
                        </a:rPr>
                        <a:t>s1</a:t>
                      </a:r>
                      <a:endParaRPr lang="en-IN" sz="14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t"/>
                      <a:r>
                        <a:rPr lang="en-IN" sz="1400" u="none" strike="noStrike">
                          <a:effectLst/>
                          <a:latin typeface="Cambria Math" panose="02040503050406030204" pitchFamily="18" charset="0"/>
                          <a:ea typeface="Cambria Math" panose="02040503050406030204" pitchFamily="18" charset="0"/>
                        </a:rPr>
                        <a:t>s2</a:t>
                      </a:r>
                      <a:endParaRPr lang="en-IN" sz="14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t"/>
                      <a:r>
                        <a:rPr lang="en-IN" sz="1400" u="none" strike="noStrike">
                          <a:effectLst/>
                          <a:latin typeface="Cambria Math" panose="02040503050406030204" pitchFamily="18" charset="0"/>
                          <a:ea typeface="Cambria Math" panose="02040503050406030204" pitchFamily="18" charset="0"/>
                        </a:rPr>
                        <a:t>s3</a:t>
                      </a:r>
                      <a:endParaRPr lang="en-IN" sz="14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t"/>
                      <a:r>
                        <a:rPr lang="en-IN" sz="1400" u="none" strike="noStrike">
                          <a:effectLst/>
                          <a:latin typeface="Cambria Math" panose="02040503050406030204" pitchFamily="18" charset="0"/>
                          <a:ea typeface="Cambria Math" panose="02040503050406030204" pitchFamily="18" charset="0"/>
                        </a:rPr>
                        <a:t>s4</a:t>
                      </a:r>
                      <a:endParaRPr lang="en-IN" sz="14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t"/>
                      <a:r>
                        <a:rPr lang="en-IN" sz="1400" u="none" strike="noStrike">
                          <a:effectLst/>
                          <a:latin typeface="Cambria Math" panose="02040503050406030204" pitchFamily="18" charset="0"/>
                          <a:ea typeface="Cambria Math" panose="02040503050406030204" pitchFamily="18" charset="0"/>
                        </a:rPr>
                        <a:t>s5</a:t>
                      </a:r>
                      <a:endParaRPr lang="en-IN" sz="14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t"/>
                      <a:r>
                        <a:rPr lang="en-IN" sz="1400" u="none" strike="noStrike">
                          <a:effectLst/>
                          <a:latin typeface="Cambria Math" panose="02040503050406030204" pitchFamily="18" charset="0"/>
                          <a:ea typeface="Cambria Math" panose="02040503050406030204" pitchFamily="18" charset="0"/>
                        </a:rPr>
                        <a:t>s6</a:t>
                      </a:r>
                      <a:endParaRPr lang="en-IN" sz="14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extLst>
                  <a:ext uri="{0D108BD9-81ED-4DB2-BD59-A6C34878D82A}">
                    <a16:rowId xmlns:a16="http://schemas.microsoft.com/office/drawing/2014/main" val="2816963752"/>
                  </a:ext>
                </a:extLst>
              </a:tr>
              <a:tr h="543358">
                <a:tc>
                  <a:txBody>
                    <a:bodyPr/>
                    <a:lstStyle/>
                    <a:p>
                      <a:pPr algn="ctr" fontAlgn="t"/>
                      <a:r>
                        <a:rPr lang="en-IN" sz="1400" b="1" u="none" strike="noStrike" dirty="0">
                          <a:effectLst/>
                          <a:latin typeface="Cambria Math" panose="02040503050406030204" pitchFamily="18" charset="0"/>
                          <a:ea typeface="Cambria Math" panose="02040503050406030204" pitchFamily="18" charset="0"/>
                        </a:rPr>
                        <a:t>0</a:t>
                      </a:r>
                      <a:endParaRPr lang="en-IN" sz="1400" b="1"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dirty="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29.2540</a:t>
                      </a:r>
                      <a:endParaRPr lang="en-IN" sz="1400" b="0" i="0" u="none" strike="noStrike" dirty="0">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-261.7065</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546.2997</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388.3983</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-901.9597</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506.7632</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121.1543</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288.0353</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659.2689</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41.3767</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extLst>
                  <a:ext uri="{0D108BD9-81ED-4DB2-BD59-A6C34878D82A}">
                    <a16:rowId xmlns:a16="http://schemas.microsoft.com/office/drawing/2014/main" val="1534989771"/>
                  </a:ext>
                </a:extLst>
              </a:tr>
              <a:tr h="543358">
                <a:tc>
                  <a:txBody>
                    <a:bodyPr/>
                    <a:lstStyle/>
                    <a:p>
                      <a:pPr algn="ctr" fontAlgn="t"/>
                      <a:r>
                        <a:rPr lang="en-IN" sz="1400" b="1" u="none" strike="noStrike" dirty="0">
                          <a:effectLst/>
                          <a:latin typeface="Cambria Math" panose="02040503050406030204" pitchFamily="18" charset="0"/>
                          <a:ea typeface="Cambria Math" panose="02040503050406030204" pitchFamily="18" charset="0"/>
                        </a:rPr>
                        <a:t>0.0001</a:t>
                      </a:r>
                      <a:endParaRPr lang="en-IN" sz="1400" b="1"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29.2678</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-261.6044</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546.4087</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388.3010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-895.5448</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501.9258</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118.1027</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286.8003</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656.8802</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41.4161</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extLst>
                  <a:ext uri="{0D108BD9-81ED-4DB2-BD59-A6C34878D82A}">
                    <a16:rowId xmlns:a16="http://schemas.microsoft.com/office/drawing/2014/main" val="1345662123"/>
                  </a:ext>
                </a:extLst>
              </a:tr>
              <a:tr h="543358">
                <a:tc>
                  <a:txBody>
                    <a:bodyPr/>
                    <a:lstStyle/>
                    <a:p>
                      <a:pPr algn="ctr" fontAlgn="t"/>
                      <a:r>
                        <a:rPr lang="en-IN" sz="1400" b="1" u="none" strike="noStrike" dirty="0">
                          <a:effectLst/>
                          <a:latin typeface="Cambria Math" panose="02040503050406030204" pitchFamily="18" charset="0"/>
                          <a:ea typeface="Cambria Math" panose="02040503050406030204" pitchFamily="18" charset="0"/>
                        </a:rPr>
                        <a:t>0.001</a:t>
                      </a:r>
                      <a:endParaRPr lang="en-IN" sz="1400" b="1"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29.3920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-260.6857</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547.3894</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387.4250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-837.8318</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458.4046</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90.6468</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275.6888</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635.3892</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41.7704</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extLst>
                  <a:ext uri="{0D108BD9-81ED-4DB2-BD59-A6C34878D82A}">
                    <a16:rowId xmlns:a16="http://schemas.microsoft.com/office/drawing/2014/main" val="2248470605"/>
                  </a:ext>
                </a:extLst>
              </a:tr>
              <a:tr h="543358">
                <a:tc>
                  <a:txBody>
                    <a:bodyPr/>
                    <a:lstStyle/>
                    <a:p>
                      <a:pPr algn="ctr" fontAlgn="t"/>
                      <a:r>
                        <a:rPr lang="en-IN" sz="1400" b="1" u="none" strike="noStrike" dirty="0">
                          <a:effectLst/>
                          <a:latin typeface="Cambria Math" panose="02040503050406030204" pitchFamily="18" charset="0"/>
                          <a:ea typeface="Cambria Math" panose="02040503050406030204" pitchFamily="18" charset="0"/>
                        </a:rPr>
                        <a:t>0.01</a:t>
                      </a:r>
                      <a:endParaRPr lang="en-IN" sz="1400" b="1"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28.2464</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-250.8192</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556.2159</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380.6595</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-468.7395</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166.9934</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-60.2195</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230.9163</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492.6344</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43.9693</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extLst>
                  <a:ext uri="{0D108BD9-81ED-4DB2-BD59-A6C34878D82A}">
                    <a16:rowId xmlns:a16="http://schemas.microsoft.com/office/drawing/2014/main" val="3248101661"/>
                  </a:ext>
                </a:extLst>
              </a:tr>
              <a:tr h="543358">
                <a:tc>
                  <a:txBody>
                    <a:bodyPr/>
                    <a:lstStyle/>
                    <a:p>
                      <a:pPr algn="ctr" fontAlgn="t"/>
                      <a:r>
                        <a:rPr lang="en-IN" sz="1400" b="1" u="none" strike="noStrike" dirty="0">
                          <a:effectLst/>
                          <a:latin typeface="Cambria Math" panose="02040503050406030204" pitchFamily="18" charset="0"/>
                          <a:ea typeface="Cambria Math" panose="02040503050406030204" pitchFamily="18" charset="0"/>
                        </a:rPr>
                        <a:t>0.1</a:t>
                      </a:r>
                      <a:endParaRPr lang="en-IN" sz="1400" b="1"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-173.2711</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558.9381</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dirty="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339.3537</a:t>
                      </a:r>
                      <a:endParaRPr lang="en-IN" sz="1400" b="0" i="0" u="none" strike="noStrike" dirty="0">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-58.7207</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-274.1135</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372.8390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25.5868</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extLst>
                  <a:ext uri="{0D108BD9-81ED-4DB2-BD59-A6C34878D82A}">
                    <a16:rowId xmlns:a16="http://schemas.microsoft.com/office/drawing/2014/main" val="3467809041"/>
                  </a:ext>
                </a:extLst>
              </a:tr>
              <a:tr h="543358">
                <a:tc>
                  <a:txBody>
                    <a:bodyPr/>
                    <a:lstStyle/>
                    <a:p>
                      <a:pPr algn="ctr" fontAlgn="t"/>
                      <a:r>
                        <a:rPr lang="en-IN" sz="1400" b="1" u="none" strike="noStrike" dirty="0">
                          <a:effectLst/>
                          <a:latin typeface="Cambria Math" panose="02040503050406030204" pitchFamily="18" charset="0"/>
                          <a:ea typeface="Cambria Math" panose="02040503050406030204" pitchFamily="18" charset="0"/>
                        </a:rPr>
                        <a:t>1</a:t>
                      </a:r>
                      <a:endParaRPr lang="en-IN" sz="1400" b="1"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443.7034</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51.6011</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201.9665</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extLst>
                  <a:ext uri="{0D108BD9-81ED-4DB2-BD59-A6C34878D82A}">
                    <a16:rowId xmlns:a16="http://schemas.microsoft.com/office/drawing/2014/main" val="2709564744"/>
                  </a:ext>
                </a:extLst>
              </a:tr>
              <a:tr h="543358">
                <a:tc>
                  <a:txBody>
                    <a:bodyPr/>
                    <a:lstStyle/>
                    <a:p>
                      <a:pPr algn="ctr" fontAlgn="t"/>
                      <a:r>
                        <a:rPr lang="en-IN" sz="1400" b="1" u="none" strike="noStrike" dirty="0">
                          <a:effectLst/>
                          <a:latin typeface="Cambria Math" panose="02040503050406030204" pitchFamily="18" charset="0"/>
                          <a:ea typeface="Cambria Math" panose="02040503050406030204" pitchFamily="18" charset="0"/>
                        </a:rPr>
                        <a:t>10</a:t>
                      </a:r>
                      <a:endParaRPr lang="en-IN" sz="1400" b="1"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dirty="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dirty="0">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extLst>
                  <a:ext uri="{0D108BD9-81ED-4DB2-BD59-A6C34878D82A}">
                    <a16:rowId xmlns:a16="http://schemas.microsoft.com/office/drawing/2014/main" val="3936161518"/>
                  </a:ext>
                </a:extLst>
              </a:tr>
              <a:tr h="543358">
                <a:tc>
                  <a:txBody>
                    <a:bodyPr/>
                    <a:lstStyle/>
                    <a:p>
                      <a:pPr algn="ctr" fontAlgn="t"/>
                      <a:r>
                        <a:rPr lang="en-IN" sz="1400" b="1" u="none" strike="noStrike" dirty="0">
                          <a:effectLst/>
                          <a:latin typeface="Cambria Math" panose="02040503050406030204" pitchFamily="18" charset="0"/>
                          <a:ea typeface="Cambria Math" panose="02040503050406030204" pitchFamily="18" charset="0"/>
                        </a:rPr>
                        <a:t>100</a:t>
                      </a:r>
                      <a:endParaRPr lang="en-IN" sz="1400" b="1"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dirty="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dirty="0">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extLst>
                  <a:ext uri="{0D108BD9-81ED-4DB2-BD59-A6C34878D82A}">
                    <a16:rowId xmlns:a16="http://schemas.microsoft.com/office/drawing/2014/main" val="628559967"/>
                  </a:ext>
                </a:extLst>
              </a:tr>
              <a:tr h="543358">
                <a:tc>
                  <a:txBody>
                    <a:bodyPr/>
                    <a:lstStyle/>
                    <a:p>
                      <a:pPr algn="ctr" fontAlgn="t"/>
                      <a:r>
                        <a:rPr lang="en-IN" sz="1400" b="1" u="none" strike="noStrike" dirty="0">
                          <a:effectLst/>
                          <a:latin typeface="Cambria Math" panose="02040503050406030204" pitchFamily="18" charset="0"/>
                          <a:ea typeface="Cambria Math" panose="02040503050406030204" pitchFamily="18" charset="0"/>
                        </a:rPr>
                        <a:t>1000</a:t>
                      </a:r>
                      <a:endParaRPr lang="en-IN" sz="1400" b="1"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dirty="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dirty="0">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extLst>
                  <a:ext uri="{0D108BD9-81ED-4DB2-BD59-A6C34878D82A}">
                    <a16:rowId xmlns:a16="http://schemas.microsoft.com/office/drawing/2014/main" val="1282966547"/>
                  </a:ext>
                </a:extLst>
              </a:tr>
              <a:tr h="543358">
                <a:tc>
                  <a:txBody>
                    <a:bodyPr/>
                    <a:lstStyle/>
                    <a:p>
                      <a:pPr algn="ctr" fontAlgn="t"/>
                      <a:r>
                        <a:rPr lang="en-IN" sz="1400" b="1" u="none" strike="noStrike" dirty="0">
                          <a:effectLst/>
                          <a:latin typeface="Cambria Math" panose="02040503050406030204" pitchFamily="18" charset="0"/>
                          <a:ea typeface="Cambria Math" panose="02040503050406030204" pitchFamily="18" charset="0"/>
                        </a:rPr>
                        <a:t>10000</a:t>
                      </a:r>
                      <a:endParaRPr lang="en-IN" sz="1400" b="1"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dirty="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dirty="0">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dirty="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dirty="0">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dirty="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dirty="0">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dirty="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dirty="0">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400" u="none" strike="noStrike" dirty="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0.0000</a:t>
                      </a:r>
                      <a:endParaRPr lang="en-IN" sz="1400" b="0" i="0" u="none" strike="noStrike" dirty="0">
                        <a:solidFill>
                          <a:srgbClr val="0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marL="9525" marR="9525" marT="9525" marB="0" anchor="ctr"/>
                </a:tc>
                <a:extLst>
                  <a:ext uri="{0D108BD9-81ED-4DB2-BD59-A6C34878D82A}">
                    <a16:rowId xmlns:a16="http://schemas.microsoft.com/office/drawing/2014/main" val="4094357534"/>
                  </a:ext>
                </a:extLst>
              </a:tr>
            </a:tbl>
          </a:graphicData>
        </a:graphic>
      </p:graphicFrame>
      <p:sp>
        <p:nvSpPr>
          <p:cNvPr id="3" name="Content Placeholder 2"/>
          <p:cNvSpPr>
            <a:spLocks noGrp="1"/>
          </p:cNvSpPr>
          <p:nvPr>
            <p:ph idx="1"/>
          </p:nvPr>
        </p:nvSpPr>
        <p:spPr/>
        <p:txBody>
          <a:bodyPr/>
          <a:lstStyle/>
          <a:p>
            <a:endParaRPr lang="en-IN" dirty="0"/>
          </a:p>
        </p:txBody>
      </p:sp>
    </p:spTree>
    <p:extLst>
      <p:ext uri="{BB962C8B-B14F-4D97-AF65-F5344CB8AC3E}">
        <p14:creationId xmlns:p14="http://schemas.microsoft.com/office/powerpoint/2010/main" val="7487179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Box 2"/>
          <p:cNvSpPr txBox="1"/>
          <p:nvPr/>
        </p:nvSpPr>
        <p:spPr>
          <a:xfrm>
            <a:off x="334962" y="333375"/>
            <a:ext cx="9899904" cy="923330"/>
          </a:xfrm>
          <a:prstGeom prst="rect">
            <a:avLst/>
          </a:prstGeom>
          <a:noFill/>
        </p:spPr>
        <p:txBody>
          <a:bodyPr wrap="square" rtlCol="0">
            <a:spAutoFit/>
          </a:bodyPr>
          <a:lstStyle/>
          <a:p>
            <a:r>
              <a:rPr lang="en-IN" dirty="0" smtClean="0">
                <a:latin typeface="Helvetica" panose="020B0604020202020204" pitchFamily="34" charset="0"/>
                <a:cs typeface="Helvetica" panose="020B0604020202020204" pitchFamily="34" charset="0"/>
              </a:rPr>
              <a:t>Here is the graph showcasing the </a:t>
            </a:r>
            <a:r>
              <a:rPr lang="en-IN" b="1" dirty="0" smtClean="0">
                <a:latin typeface="Helvetica" panose="020B0604020202020204" pitchFamily="34" charset="0"/>
                <a:cs typeface="Helvetica" panose="020B0604020202020204" pitchFamily="34" charset="0"/>
              </a:rPr>
              <a:t>drop in coefficients with increase in value of lambda.</a:t>
            </a:r>
            <a:r>
              <a:rPr lang="en-IN" dirty="0" smtClean="0">
                <a:latin typeface="Helvetica" panose="020B0604020202020204" pitchFamily="34" charset="0"/>
                <a:cs typeface="Helvetica" panose="020B0604020202020204" pitchFamily="34" charset="0"/>
              </a:rPr>
              <a:t> This is a clear indication that the parameter having higher magnitude of coefficients are </a:t>
            </a:r>
            <a:r>
              <a:rPr lang="en-IN" b="1" dirty="0" smtClean="0">
                <a:latin typeface="Helvetica" panose="020B0604020202020204" pitchFamily="34" charset="0"/>
                <a:cs typeface="Helvetica" panose="020B0604020202020204" pitchFamily="34" charset="0"/>
              </a:rPr>
              <a:t>penalised </a:t>
            </a:r>
            <a:r>
              <a:rPr lang="en-IN" dirty="0" smtClean="0">
                <a:latin typeface="Helvetica" panose="020B0604020202020204" pitchFamily="34" charset="0"/>
                <a:cs typeface="Helvetica" panose="020B0604020202020204" pitchFamily="34" charset="0"/>
              </a:rPr>
              <a:t>more when Lasso Regression is applied.</a:t>
            </a:r>
            <a:endParaRPr lang="en-IN" dirty="0">
              <a:latin typeface="Helvetica" panose="020B0604020202020204" pitchFamily="34" charset="0"/>
              <a:cs typeface="Helvetica" panose="020B0604020202020204" pitchFamily="34" charset="0"/>
            </a:endParaRPr>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40740" y="1341438"/>
            <a:ext cx="11516297" cy="5364162"/>
          </a:xfrm>
        </p:spPr>
      </p:pic>
    </p:spTree>
    <p:extLst>
      <p:ext uri="{BB962C8B-B14F-4D97-AF65-F5344CB8AC3E}">
        <p14:creationId xmlns:p14="http://schemas.microsoft.com/office/powerpoint/2010/main" val="266378573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147719" y="3423245"/>
            <a:ext cx="5486400" cy="1107996"/>
          </a:xfrm>
          <a:prstGeom prst="rect">
            <a:avLst/>
          </a:prstGeom>
          <a:noFill/>
        </p:spPr>
        <p:txBody>
          <a:bodyPr wrap="square" rtlCol="0">
            <a:spAutoFit/>
          </a:bodyPr>
          <a:lstStyle/>
          <a:p>
            <a:pPr algn="ctr"/>
            <a:r>
              <a:rPr lang="en-IN" sz="6600" b="1" dirty="0" smtClean="0">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BUT WHY?</a:t>
            </a:r>
            <a:endParaRPr lang="en-IN" sz="6600" b="1" dirty="0">
              <a:effectLst>
                <a:outerShdw blurRad="38100" dist="38100" dir="2700000" algn="tl">
                  <a:srgbClr val="000000">
                    <a:alpha val="43137"/>
                  </a:srgbClr>
                </a:outerShdw>
              </a:effectLst>
              <a:latin typeface="Helvetica" panose="020B0604020202020204" pitchFamily="34" charset="0"/>
              <a:cs typeface="Helvetica" panose="020B0604020202020204" pitchFamily="34" charset="0"/>
            </a:endParaRPr>
          </a:p>
        </p:txBody>
      </p:sp>
      <p:sp>
        <p:nvSpPr>
          <p:cNvPr id="6" name="TextBox 5"/>
          <p:cNvSpPr txBox="1"/>
          <p:nvPr/>
        </p:nvSpPr>
        <p:spPr>
          <a:xfrm>
            <a:off x="7924800" y="4872305"/>
            <a:ext cx="3932238" cy="1323439"/>
          </a:xfrm>
          <a:prstGeom prst="rect">
            <a:avLst/>
          </a:prstGeom>
          <a:noFill/>
        </p:spPr>
        <p:txBody>
          <a:bodyPr wrap="square" rtlCol="0">
            <a:spAutoFit/>
          </a:bodyPr>
          <a:lstStyle/>
          <a:p>
            <a:pPr algn="ctr"/>
            <a:r>
              <a:rPr lang="en-IN" sz="2000" dirty="0" smtClean="0">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Why is Lasso Regression is able to turn coefficients to 0 while Ridge regression cannot do that??</a:t>
            </a:r>
            <a:endParaRPr lang="en-IN" sz="2000" dirty="0">
              <a:effectLst>
                <a:outerShdw blurRad="38100" dist="38100" dir="2700000" algn="tl">
                  <a:srgbClr val="000000">
                    <a:alpha val="43137"/>
                  </a:srgbClr>
                </a:outerShdw>
              </a:effectLst>
              <a:latin typeface="Helvetica" panose="020B0604020202020204" pitchFamily="34" charset="0"/>
              <a:cs typeface="Helvetica" panose="020B0604020202020204"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1750125844"/>
              </p:ext>
            </p:extLst>
          </p:nvPr>
        </p:nvGraphicFramePr>
        <p:xfrm>
          <a:off x="9256080" y="328387"/>
          <a:ext cx="2600958" cy="2753795"/>
        </p:xfrm>
        <a:graphic>
          <a:graphicData uri="http://schemas.openxmlformats.org/drawingml/2006/table">
            <a:tbl>
              <a:tblPr firstRow="1" bandRow="1">
                <a:tableStyleId>{073A0DAA-6AF3-43AB-8588-CEC1D06C72B9}</a:tableStyleId>
              </a:tblPr>
              <a:tblGrid>
                <a:gridCol w="866986">
                  <a:extLst>
                    <a:ext uri="{9D8B030D-6E8A-4147-A177-3AD203B41FA5}">
                      <a16:colId xmlns:a16="http://schemas.microsoft.com/office/drawing/2014/main" val="384857644"/>
                    </a:ext>
                  </a:extLst>
                </a:gridCol>
                <a:gridCol w="866986">
                  <a:extLst>
                    <a:ext uri="{9D8B030D-6E8A-4147-A177-3AD203B41FA5}">
                      <a16:colId xmlns:a16="http://schemas.microsoft.com/office/drawing/2014/main" val="1669455226"/>
                    </a:ext>
                  </a:extLst>
                </a:gridCol>
                <a:gridCol w="866986">
                  <a:extLst>
                    <a:ext uri="{9D8B030D-6E8A-4147-A177-3AD203B41FA5}">
                      <a16:colId xmlns:a16="http://schemas.microsoft.com/office/drawing/2014/main" val="4155275573"/>
                    </a:ext>
                  </a:extLst>
                </a:gridCol>
              </a:tblGrid>
              <a:tr h="370296">
                <a:tc>
                  <a:txBody>
                    <a:bodyPr/>
                    <a:lstStyle/>
                    <a:p>
                      <a:pPr algn="ctr" fontAlgn="t"/>
                      <a:r>
                        <a:rPr lang="en-IN" sz="1200" u="none" strike="noStrike" dirty="0">
                          <a:effectLst/>
                        </a:rPr>
                        <a:t>lambda</a:t>
                      </a:r>
                      <a:endParaRPr lang="en-IN" sz="1200" b="1"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tc>
                <a:tc>
                  <a:txBody>
                    <a:bodyPr/>
                    <a:lstStyle/>
                    <a:p>
                      <a:pPr algn="ctr" fontAlgn="t"/>
                      <a:r>
                        <a:rPr lang="en-IN" sz="1200" u="none" strike="noStrike">
                          <a:effectLst/>
                        </a:rPr>
                        <a:t>lasso_non_zero</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tc>
                <a:tc>
                  <a:txBody>
                    <a:bodyPr/>
                    <a:lstStyle/>
                    <a:p>
                      <a:pPr algn="ctr" fontAlgn="t"/>
                      <a:r>
                        <a:rPr lang="en-IN" sz="1200" u="none" strike="noStrike">
                          <a:effectLst/>
                        </a:rPr>
                        <a:t>ridge_non_zero</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tc>
                <a:extLst>
                  <a:ext uri="{0D108BD9-81ED-4DB2-BD59-A6C34878D82A}">
                    <a16:rowId xmlns:a16="http://schemas.microsoft.com/office/drawing/2014/main" val="251148678"/>
                  </a:ext>
                </a:extLst>
              </a:tr>
              <a:tr h="237851">
                <a:tc>
                  <a:txBody>
                    <a:bodyPr/>
                    <a:lstStyle/>
                    <a:p>
                      <a:pPr algn="ctr" fontAlgn="b"/>
                      <a:r>
                        <a:rPr lang="en-IN" sz="1200" u="none" strike="noStrike">
                          <a:effectLst/>
                        </a:rPr>
                        <a:t>0</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10</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10</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extLst>
                  <a:ext uri="{0D108BD9-81ED-4DB2-BD59-A6C34878D82A}">
                    <a16:rowId xmlns:a16="http://schemas.microsoft.com/office/drawing/2014/main" val="213177078"/>
                  </a:ext>
                </a:extLst>
              </a:tr>
              <a:tr h="237851">
                <a:tc>
                  <a:txBody>
                    <a:bodyPr/>
                    <a:lstStyle/>
                    <a:p>
                      <a:pPr algn="ctr" fontAlgn="b"/>
                      <a:r>
                        <a:rPr lang="en-IN" sz="1200" u="none" strike="noStrike">
                          <a:effectLst/>
                        </a:rPr>
                        <a:t>0.0001</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dirty="0">
                          <a:effectLst/>
                        </a:rPr>
                        <a:t>10</a:t>
                      </a:r>
                      <a:endParaRPr lang="en-IN" sz="1200" b="1"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10</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extLst>
                  <a:ext uri="{0D108BD9-81ED-4DB2-BD59-A6C34878D82A}">
                    <a16:rowId xmlns:a16="http://schemas.microsoft.com/office/drawing/2014/main" val="186803719"/>
                  </a:ext>
                </a:extLst>
              </a:tr>
              <a:tr h="237851">
                <a:tc>
                  <a:txBody>
                    <a:bodyPr/>
                    <a:lstStyle/>
                    <a:p>
                      <a:pPr algn="ctr" fontAlgn="b"/>
                      <a:r>
                        <a:rPr lang="en-IN" sz="1200" u="none" strike="noStrike">
                          <a:effectLst/>
                        </a:rPr>
                        <a:t>0.001</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10</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10</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extLst>
                  <a:ext uri="{0D108BD9-81ED-4DB2-BD59-A6C34878D82A}">
                    <a16:rowId xmlns:a16="http://schemas.microsoft.com/office/drawing/2014/main" val="3726912839"/>
                  </a:ext>
                </a:extLst>
              </a:tr>
              <a:tr h="237851">
                <a:tc>
                  <a:txBody>
                    <a:bodyPr/>
                    <a:lstStyle/>
                    <a:p>
                      <a:pPr algn="ctr" fontAlgn="b"/>
                      <a:r>
                        <a:rPr lang="en-IN" sz="1200" u="none" strike="noStrike">
                          <a:effectLst/>
                        </a:rPr>
                        <a:t>0.01</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dirty="0">
                          <a:effectLst/>
                        </a:rPr>
                        <a:t>10</a:t>
                      </a:r>
                      <a:endParaRPr lang="en-IN" sz="1200" b="1"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dirty="0">
                          <a:effectLst/>
                        </a:rPr>
                        <a:t>10</a:t>
                      </a:r>
                      <a:endParaRPr lang="en-IN" sz="1200" b="1"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extLst>
                  <a:ext uri="{0D108BD9-81ED-4DB2-BD59-A6C34878D82A}">
                    <a16:rowId xmlns:a16="http://schemas.microsoft.com/office/drawing/2014/main" val="1267383602"/>
                  </a:ext>
                </a:extLst>
              </a:tr>
              <a:tr h="237851">
                <a:tc>
                  <a:txBody>
                    <a:bodyPr/>
                    <a:lstStyle/>
                    <a:p>
                      <a:pPr algn="ctr" fontAlgn="b"/>
                      <a:r>
                        <a:rPr lang="en-IN" sz="1200" u="none" strike="noStrike">
                          <a:effectLst/>
                        </a:rPr>
                        <a:t>0.1</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7</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10</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extLst>
                  <a:ext uri="{0D108BD9-81ED-4DB2-BD59-A6C34878D82A}">
                    <a16:rowId xmlns:a16="http://schemas.microsoft.com/office/drawing/2014/main" val="977974173"/>
                  </a:ext>
                </a:extLst>
              </a:tr>
              <a:tr h="237851">
                <a:tc>
                  <a:txBody>
                    <a:bodyPr/>
                    <a:lstStyle/>
                    <a:p>
                      <a:pPr algn="ctr" fontAlgn="b"/>
                      <a:r>
                        <a:rPr lang="en-IN" sz="1200" u="none" strike="noStrike">
                          <a:effectLst/>
                        </a:rPr>
                        <a:t>1</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3</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10</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extLst>
                  <a:ext uri="{0D108BD9-81ED-4DB2-BD59-A6C34878D82A}">
                    <a16:rowId xmlns:a16="http://schemas.microsoft.com/office/drawing/2014/main" val="856953433"/>
                  </a:ext>
                </a:extLst>
              </a:tr>
              <a:tr h="237851">
                <a:tc>
                  <a:txBody>
                    <a:bodyPr/>
                    <a:lstStyle/>
                    <a:p>
                      <a:pPr algn="ctr" fontAlgn="b"/>
                      <a:r>
                        <a:rPr lang="en-IN" sz="1200" u="none" strike="noStrike">
                          <a:effectLst/>
                        </a:rPr>
                        <a:t>10</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0</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10</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extLst>
                  <a:ext uri="{0D108BD9-81ED-4DB2-BD59-A6C34878D82A}">
                    <a16:rowId xmlns:a16="http://schemas.microsoft.com/office/drawing/2014/main" val="1886259058"/>
                  </a:ext>
                </a:extLst>
              </a:tr>
              <a:tr h="237851">
                <a:tc>
                  <a:txBody>
                    <a:bodyPr/>
                    <a:lstStyle/>
                    <a:p>
                      <a:pPr algn="ctr" fontAlgn="b"/>
                      <a:r>
                        <a:rPr lang="en-IN" sz="1200" u="none" strike="noStrike">
                          <a:effectLst/>
                        </a:rPr>
                        <a:t>100</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0</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10</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extLst>
                  <a:ext uri="{0D108BD9-81ED-4DB2-BD59-A6C34878D82A}">
                    <a16:rowId xmlns:a16="http://schemas.microsoft.com/office/drawing/2014/main" val="4062253384"/>
                  </a:ext>
                </a:extLst>
              </a:tr>
              <a:tr h="237851">
                <a:tc>
                  <a:txBody>
                    <a:bodyPr/>
                    <a:lstStyle/>
                    <a:p>
                      <a:pPr algn="ctr" fontAlgn="b"/>
                      <a:r>
                        <a:rPr lang="en-IN" sz="1200" u="none" strike="noStrike">
                          <a:effectLst/>
                        </a:rPr>
                        <a:t>1000</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0</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10</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extLst>
                  <a:ext uri="{0D108BD9-81ED-4DB2-BD59-A6C34878D82A}">
                    <a16:rowId xmlns:a16="http://schemas.microsoft.com/office/drawing/2014/main" val="1162372087"/>
                  </a:ext>
                </a:extLst>
              </a:tr>
              <a:tr h="237851">
                <a:tc>
                  <a:txBody>
                    <a:bodyPr/>
                    <a:lstStyle/>
                    <a:p>
                      <a:pPr algn="ctr" fontAlgn="b"/>
                      <a:r>
                        <a:rPr lang="en-IN" sz="1200" u="none" strike="noStrike">
                          <a:effectLst/>
                        </a:rPr>
                        <a:t>10000</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0</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dirty="0">
                          <a:effectLst/>
                        </a:rPr>
                        <a:t>10</a:t>
                      </a:r>
                      <a:endParaRPr lang="en-IN" sz="1200" b="1"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extLst>
                  <a:ext uri="{0D108BD9-81ED-4DB2-BD59-A6C34878D82A}">
                    <a16:rowId xmlns:a16="http://schemas.microsoft.com/office/drawing/2014/main" val="2678323058"/>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417060071"/>
              </p:ext>
            </p:extLst>
          </p:nvPr>
        </p:nvGraphicFramePr>
        <p:xfrm>
          <a:off x="334963" y="333375"/>
          <a:ext cx="7126537" cy="2748812"/>
        </p:xfrm>
        <a:graphic>
          <a:graphicData uri="http://schemas.openxmlformats.org/drawingml/2006/table">
            <a:tbl>
              <a:tblPr firstRow="1" bandRow="1">
                <a:tableStyleId>{073A0DAA-6AF3-43AB-8588-CEC1D06C72B9}</a:tableStyleId>
              </a:tblPr>
              <a:tblGrid>
                <a:gridCol w="647867">
                  <a:extLst>
                    <a:ext uri="{9D8B030D-6E8A-4147-A177-3AD203B41FA5}">
                      <a16:colId xmlns:a16="http://schemas.microsoft.com/office/drawing/2014/main" val="4009469285"/>
                    </a:ext>
                  </a:extLst>
                </a:gridCol>
                <a:gridCol w="647867">
                  <a:extLst>
                    <a:ext uri="{9D8B030D-6E8A-4147-A177-3AD203B41FA5}">
                      <a16:colId xmlns:a16="http://schemas.microsoft.com/office/drawing/2014/main" val="4059553904"/>
                    </a:ext>
                  </a:extLst>
                </a:gridCol>
                <a:gridCol w="647867">
                  <a:extLst>
                    <a:ext uri="{9D8B030D-6E8A-4147-A177-3AD203B41FA5}">
                      <a16:colId xmlns:a16="http://schemas.microsoft.com/office/drawing/2014/main" val="2263925394"/>
                    </a:ext>
                  </a:extLst>
                </a:gridCol>
                <a:gridCol w="647867">
                  <a:extLst>
                    <a:ext uri="{9D8B030D-6E8A-4147-A177-3AD203B41FA5}">
                      <a16:colId xmlns:a16="http://schemas.microsoft.com/office/drawing/2014/main" val="1213609879"/>
                    </a:ext>
                  </a:extLst>
                </a:gridCol>
                <a:gridCol w="647867">
                  <a:extLst>
                    <a:ext uri="{9D8B030D-6E8A-4147-A177-3AD203B41FA5}">
                      <a16:colId xmlns:a16="http://schemas.microsoft.com/office/drawing/2014/main" val="3907358602"/>
                    </a:ext>
                  </a:extLst>
                </a:gridCol>
                <a:gridCol w="647867">
                  <a:extLst>
                    <a:ext uri="{9D8B030D-6E8A-4147-A177-3AD203B41FA5}">
                      <a16:colId xmlns:a16="http://schemas.microsoft.com/office/drawing/2014/main" val="2637647248"/>
                    </a:ext>
                  </a:extLst>
                </a:gridCol>
                <a:gridCol w="647867">
                  <a:extLst>
                    <a:ext uri="{9D8B030D-6E8A-4147-A177-3AD203B41FA5}">
                      <a16:colId xmlns:a16="http://schemas.microsoft.com/office/drawing/2014/main" val="4194158578"/>
                    </a:ext>
                  </a:extLst>
                </a:gridCol>
                <a:gridCol w="647867">
                  <a:extLst>
                    <a:ext uri="{9D8B030D-6E8A-4147-A177-3AD203B41FA5}">
                      <a16:colId xmlns:a16="http://schemas.microsoft.com/office/drawing/2014/main" val="2429764292"/>
                    </a:ext>
                  </a:extLst>
                </a:gridCol>
                <a:gridCol w="647867">
                  <a:extLst>
                    <a:ext uri="{9D8B030D-6E8A-4147-A177-3AD203B41FA5}">
                      <a16:colId xmlns:a16="http://schemas.microsoft.com/office/drawing/2014/main" val="2254415502"/>
                    </a:ext>
                  </a:extLst>
                </a:gridCol>
                <a:gridCol w="647867">
                  <a:extLst>
                    <a:ext uri="{9D8B030D-6E8A-4147-A177-3AD203B41FA5}">
                      <a16:colId xmlns:a16="http://schemas.microsoft.com/office/drawing/2014/main" val="315967163"/>
                    </a:ext>
                  </a:extLst>
                </a:gridCol>
                <a:gridCol w="647867">
                  <a:extLst>
                    <a:ext uri="{9D8B030D-6E8A-4147-A177-3AD203B41FA5}">
                      <a16:colId xmlns:a16="http://schemas.microsoft.com/office/drawing/2014/main" val="3800445014"/>
                    </a:ext>
                  </a:extLst>
                </a:gridCol>
              </a:tblGrid>
              <a:tr h="249892">
                <a:tc>
                  <a:txBody>
                    <a:bodyPr/>
                    <a:lstStyle/>
                    <a:p>
                      <a:pPr algn="ctr" fontAlgn="t"/>
                      <a:r>
                        <a:rPr lang="en-IN" sz="1200" u="none" strike="noStrike" dirty="0">
                          <a:effectLst/>
                        </a:rPr>
                        <a:t>lambda</a:t>
                      </a:r>
                      <a:endParaRPr lang="en-IN" sz="1200" b="1"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tc>
                <a:tc>
                  <a:txBody>
                    <a:bodyPr/>
                    <a:lstStyle/>
                    <a:p>
                      <a:pPr algn="ctr" fontAlgn="t"/>
                      <a:r>
                        <a:rPr lang="en-IN" sz="1200" u="none" strike="noStrike">
                          <a:effectLst/>
                        </a:rPr>
                        <a:t>age</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tc>
                <a:tc>
                  <a:txBody>
                    <a:bodyPr/>
                    <a:lstStyle/>
                    <a:p>
                      <a:pPr algn="ctr" fontAlgn="t"/>
                      <a:r>
                        <a:rPr lang="en-IN" sz="1200" u="none" strike="noStrike">
                          <a:effectLst/>
                        </a:rPr>
                        <a:t>sex</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tc>
                <a:tc>
                  <a:txBody>
                    <a:bodyPr/>
                    <a:lstStyle/>
                    <a:p>
                      <a:pPr algn="ctr" fontAlgn="t"/>
                      <a:r>
                        <a:rPr lang="en-IN" sz="1200" u="none" strike="noStrike">
                          <a:effectLst/>
                        </a:rPr>
                        <a:t>bmi</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tc>
                <a:tc>
                  <a:txBody>
                    <a:bodyPr/>
                    <a:lstStyle/>
                    <a:p>
                      <a:pPr algn="ctr" fontAlgn="t"/>
                      <a:r>
                        <a:rPr lang="en-IN" sz="1200" u="none" strike="noStrike">
                          <a:effectLst/>
                        </a:rPr>
                        <a:t>bp</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tc>
                <a:tc>
                  <a:txBody>
                    <a:bodyPr/>
                    <a:lstStyle/>
                    <a:p>
                      <a:pPr algn="ctr" fontAlgn="t"/>
                      <a:r>
                        <a:rPr lang="en-IN" sz="1200" u="none" strike="noStrike">
                          <a:effectLst/>
                        </a:rPr>
                        <a:t>s1</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tc>
                <a:tc>
                  <a:txBody>
                    <a:bodyPr/>
                    <a:lstStyle/>
                    <a:p>
                      <a:pPr algn="ctr" fontAlgn="t"/>
                      <a:r>
                        <a:rPr lang="en-IN" sz="1200" u="none" strike="noStrike">
                          <a:effectLst/>
                        </a:rPr>
                        <a:t>s2</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tc>
                <a:tc>
                  <a:txBody>
                    <a:bodyPr/>
                    <a:lstStyle/>
                    <a:p>
                      <a:pPr algn="ctr" fontAlgn="t"/>
                      <a:r>
                        <a:rPr lang="en-IN" sz="1200" u="none" strike="noStrike">
                          <a:effectLst/>
                        </a:rPr>
                        <a:t>s3</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tc>
                <a:tc>
                  <a:txBody>
                    <a:bodyPr/>
                    <a:lstStyle/>
                    <a:p>
                      <a:pPr algn="ctr" fontAlgn="t"/>
                      <a:r>
                        <a:rPr lang="en-IN" sz="1200" u="none" strike="noStrike">
                          <a:effectLst/>
                        </a:rPr>
                        <a:t>s4</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tc>
                <a:tc>
                  <a:txBody>
                    <a:bodyPr/>
                    <a:lstStyle/>
                    <a:p>
                      <a:pPr algn="ctr" fontAlgn="t"/>
                      <a:r>
                        <a:rPr lang="en-IN" sz="1200" u="none" strike="noStrike">
                          <a:effectLst/>
                        </a:rPr>
                        <a:t>s5</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tc>
                <a:tc>
                  <a:txBody>
                    <a:bodyPr/>
                    <a:lstStyle/>
                    <a:p>
                      <a:pPr algn="ctr" fontAlgn="t"/>
                      <a:r>
                        <a:rPr lang="en-IN" sz="1200" u="none" strike="noStrike">
                          <a:effectLst/>
                        </a:rPr>
                        <a:t>s6</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tc>
                <a:extLst>
                  <a:ext uri="{0D108BD9-81ED-4DB2-BD59-A6C34878D82A}">
                    <a16:rowId xmlns:a16="http://schemas.microsoft.com/office/drawing/2014/main" val="2699278526"/>
                  </a:ext>
                </a:extLst>
              </a:tr>
              <a:tr h="249892">
                <a:tc>
                  <a:txBody>
                    <a:bodyPr/>
                    <a:lstStyle/>
                    <a:p>
                      <a:pPr algn="ctr" fontAlgn="t"/>
                      <a:r>
                        <a:rPr lang="en-IN" sz="1200" u="none" strike="noStrike" dirty="0">
                          <a:effectLst/>
                        </a:rPr>
                        <a:t>0</a:t>
                      </a:r>
                      <a:endParaRPr lang="en-IN" sz="1200" b="1"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200" u="none" strike="noStrike" dirty="0">
                          <a:effectLst/>
                        </a:rPr>
                        <a:t>29.2540</a:t>
                      </a:r>
                      <a:endParaRPr lang="en-IN"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dirty="0">
                          <a:effectLst/>
                        </a:rPr>
                        <a:t>-261.7065</a:t>
                      </a:r>
                      <a:endParaRPr lang="en-IN"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dirty="0">
                          <a:effectLst/>
                        </a:rPr>
                        <a:t>546.2997</a:t>
                      </a:r>
                      <a:endParaRPr lang="en-IN"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388.3983</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-901.9597</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506.7632</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121.1544</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288.0353</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659.2690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41.3767</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extLst>
                  <a:ext uri="{0D108BD9-81ED-4DB2-BD59-A6C34878D82A}">
                    <a16:rowId xmlns:a16="http://schemas.microsoft.com/office/drawing/2014/main" val="1734937887"/>
                  </a:ext>
                </a:extLst>
              </a:tr>
              <a:tr h="249892">
                <a:tc>
                  <a:txBody>
                    <a:bodyPr/>
                    <a:lstStyle/>
                    <a:p>
                      <a:pPr algn="ctr" fontAlgn="t"/>
                      <a:r>
                        <a:rPr lang="en-IN" sz="1200" u="none" strike="noStrike" dirty="0">
                          <a:effectLst/>
                        </a:rPr>
                        <a:t>0.0001</a:t>
                      </a:r>
                      <a:endParaRPr lang="en-IN" sz="1200" b="1"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200" u="none" strike="noStrike">
                          <a:effectLst/>
                        </a:rPr>
                        <a:t>29.3697</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-261.5919</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546.5051</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388.2367</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-889.7714</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497.2854</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115.7430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286.2985</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654.5041</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41.5448</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extLst>
                  <a:ext uri="{0D108BD9-81ED-4DB2-BD59-A6C34878D82A}">
                    <a16:rowId xmlns:a16="http://schemas.microsoft.com/office/drawing/2014/main" val="3338155967"/>
                  </a:ext>
                </a:extLst>
              </a:tr>
              <a:tr h="249892">
                <a:tc>
                  <a:txBody>
                    <a:bodyPr/>
                    <a:lstStyle/>
                    <a:p>
                      <a:pPr algn="ctr" fontAlgn="t"/>
                      <a:r>
                        <a:rPr lang="en-IN" sz="1200" u="none" strike="noStrike">
                          <a:effectLst/>
                        </a:rPr>
                        <a:t>0.001</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200" u="none" strike="noStrike">
                          <a:effectLst/>
                        </a:rPr>
                        <a:t>30.2800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-260.6340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548.0371</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386.9168</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-794.2892</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423.1046</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73.3631</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272.6458</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617.1613</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42.9048</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extLst>
                  <a:ext uri="{0D108BD9-81ED-4DB2-BD59-A6C34878D82A}">
                    <a16:rowId xmlns:a16="http://schemas.microsoft.com/office/drawing/2014/main" val="1815706526"/>
                  </a:ext>
                </a:extLst>
              </a:tr>
              <a:tr h="249892">
                <a:tc>
                  <a:txBody>
                    <a:bodyPr/>
                    <a:lstStyle/>
                    <a:p>
                      <a:pPr algn="ctr" fontAlgn="t"/>
                      <a:r>
                        <a:rPr lang="en-IN" sz="1200" u="none" strike="noStrike" dirty="0">
                          <a:effectLst/>
                        </a:rPr>
                        <a:t>0.01</a:t>
                      </a:r>
                      <a:endParaRPr lang="en-IN" sz="1200" b="1"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200" u="none" strike="noStrike">
                          <a:effectLst/>
                        </a:rPr>
                        <a:t>34.1673</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-254.0433</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550.8449</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379.1267</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-404.2533</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123.0292</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-99.0417</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215.0326</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463.8426</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50.3515</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extLst>
                  <a:ext uri="{0D108BD9-81ED-4DB2-BD59-A6C34878D82A}">
                    <a16:rowId xmlns:a16="http://schemas.microsoft.com/office/drawing/2014/main" val="1999996633"/>
                  </a:ext>
                </a:extLst>
              </a:tr>
              <a:tr h="249892">
                <a:tc>
                  <a:txBody>
                    <a:bodyPr/>
                    <a:lstStyle/>
                    <a:p>
                      <a:pPr algn="ctr" fontAlgn="t"/>
                      <a:r>
                        <a:rPr lang="en-IN" sz="1200" u="none" strike="noStrike">
                          <a:effectLst/>
                        </a:rPr>
                        <a:t>0.1</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200" u="none" strike="noStrike">
                          <a:effectLst/>
                        </a:rPr>
                        <a:t>39.6635</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-213.8469</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505.9143</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341.7145</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-108.8063</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-70.5758</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-211.9066</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160.1935</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332.7735</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77.6805</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extLst>
                  <a:ext uri="{0D108BD9-81ED-4DB2-BD59-A6C34878D82A}">
                    <a16:rowId xmlns:a16="http://schemas.microsoft.com/office/drawing/2014/main" val="2457705894"/>
                  </a:ext>
                </a:extLst>
              </a:tr>
              <a:tr h="249892">
                <a:tc>
                  <a:txBody>
                    <a:bodyPr/>
                    <a:lstStyle/>
                    <a:p>
                      <a:pPr algn="ctr" fontAlgn="t"/>
                      <a:r>
                        <a:rPr lang="en-IN" sz="1200" u="none" strike="noStrike">
                          <a:effectLst/>
                        </a:rPr>
                        <a:t>1</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200" u="none" strike="noStrike">
                          <a:effectLst/>
                        </a:rPr>
                        <a:t>45.0542</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-71.9474</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280.7163</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195.2127</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-2.2293</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-17.5408</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-148.6889</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120.4672</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198.6144</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106.9347</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extLst>
                  <a:ext uri="{0D108BD9-81ED-4DB2-BD59-A6C34878D82A}">
                    <a16:rowId xmlns:a16="http://schemas.microsoft.com/office/drawing/2014/main" val="2740774753"/>
                  </a:ext>
                </a:extLst>
              </a:tr>
              <a:tr h="249892">
                <a:tc>
                  <a:txBody>
                    <a:bodyPr/>
                    <a:lstStyle/>
                    <a:p>
                      <a:pPr algn="ctr" fontAlgn="t"/>
                      <a:r>
                        <a:rPr lang="en-IN" sz="1200" u="none" strike="noStrike" dirty="0">
                          <a:effectLst/>
                        </a:rPr>
                        <a:t>10</a:t>
                      </a:r>
                      <a:endParaRPr lang="en-IN" sz="1200" b="1"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200" u="none" strike="noStrike">
                          <a:effectLst/>
                        </a:rPr>
                        <a:t>16.2309</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-2.9614</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59.5242</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43.4213</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13.8751</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10.8653</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dirty="0">
                          <a:effectLst/>
                        </a:rPr>
                        <a:t>-37.4958</a:t>
                      </a:r>
                      <a:endParaRPr lang="en-IN"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38.7285</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49.2247</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34.7380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extLst>
                  <a:ext uri="{0D108BD9-81ED-4DB2-BD59-A6C34878D82A}">
                    <a16:rowId xmlns:a16="http://schemas.microsoft.com/office/drawing/2014/main" val="3041431423"/>
                  </a:ext>
                </a:extLst>
              </a:tr>
              <a:tr h="249892">
                <a:tc>
                  <a:txBody>
                    <a:bodyPr/>
                    <a:lstStyle/>
                    <a:p>
                      <a:pPr algn="ctr" fontAlgn="t"/>
                      <a:r>
                        <a:rPr lang="en-IN" sz="1200" u="none" strike="noStrike" dirty="0">
                          <a:effectLst/>
                        </a:rPr>
                        <a:t>100</a:t>
                      </a:r>
                      <a:endParaRPr lang="en-IN" sz="1200" b="1"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200" u="none" strike="noStrike">
                          <a:effectLst/>
                        </a:rPr>
                        <a:t>2.0728</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-0.0038</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6.8999</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5.0851</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2.0697</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1.7437</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-4.5089</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4.9024</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5.9265</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4.3287</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extLst>
                  <a:ext uri="{0D108BD9-81ED-4DB2-BD59-A6C34878D82A}">
                    <a16:rowId xmlns:a16="http://schemas.microsoft.com/office/drawing/2014/main" val="1299972819"/>
                  </a:ext>
                </a:extLst>
              </a:tr>
              <a:tr h="249892">
                <a:tc>
                  <a:txBody>
                    <a:bodyPr/>
                    <a:lstStyle/>
                    <a:p>
                      <a:pPr algn="ctr" fontAlgn="t"/>
                      <a:r>
                        <a:rPr lang="en-IN" sz="1200" u="none" strike="noStrike" dirty="0">
                          <a:effectLst/>
                        </a:rPr>
                        <a:t>1000</a:t>
                      </a:r>
                      <a:endParaRPr lang="en-IN" sz="1200" b="1"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200" u="none" strike="noStrike">
                          <a:effectLst/>
                        </a:rPr>
                        <a:t>0.2130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0.0036</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0.7017</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0.5177</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0.2160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0.1831</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-0.4604</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0.5035</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0.6053</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0.4437</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extLst>
                  <a:ext uri="{0D108BD9-81ED-4DB2-BD59-A6C34878D82A}">
                    <a16:rowId xmlns:a16="http://schemas.microsoft.com/office/drawing/2014/main" val="2548873427"/>
                  </a:ext>
                </a:extLst>
              </a:tr>
              <a:tr h="249892">
                <a:tc>
                  <a:txBody>
                    <a:bodyPr/>
                    <a:lstStyle/>
                    <a:p>
                      <a:pPr algn="ctr" fontAlgn="t"/>
                      <a:r>
                        <a:rPr lang="en-IN" sz="1200" u="none" strike="noStrike" dirty="0">
                          <a:effectLst/>
                        </a:rPr>
                        <a:t>10000</a:t>
                      </a:r>
                      <a:endParaRPr lang="en-IN" sz="1200" b="1"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ctr" fontAlgn="b"/>
                      <a:r>
                        <a:rPr lang="en-IN" sz="1200" u="none" strike="noStrike">
                          <a:effectLst/>
                        </a:rPr>
                        <a:t>0.0214</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0.0004</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0.0703</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0.0519</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0.0217</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0.0184</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dirty="0">
                          <a:effectLst/>
                        </a:rPr>
                        <a:t>-0.0461</a:t>
                      </a:r>
                      <a:endParaRPr lang="en-IN"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0.0505</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a:effectLst/>
                        </a:rPr>
                        <a:t>0.0607</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ctr" fontAlgn="b"/>
                      <a:r>
                        <a:rPr lang="en-IN" sz="1200" u="none" strike="noStrike" dirty="0">
                          <a:effectLst/>
                        </a:rPr>
                        <a:t>0.0445</a:t>
                      </a:r>
                      <a:endParaRPr lang="en-IN"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extLst>
                  <a:ext uri="{0D108BD9-81ED-4DB2-BD59-A6C34878D82A}">
                    <a16:rowId xmlns:a16="http://schemas.microsoft.com/office/drawing/2014/main" val="2138308180"/>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746749996"/>
              </p:ext>
            </p:extLst>
          </p:nvPr>
        </p:nvGraphicFramePr>
        <p:xfrm>
          <a:off x="334963" y="3426143"/>
          <a:ext cx="7126537" cy="3011228"/>
        </p:xfrm>
        <a:graphic>
          <a:graphicData uri="http://schemas.openxmlformats.org/drawingml/2006/table">
            <a:tbl>
              <a:tblPr firstRow="1" bandRow="1">
                <a:tableStyleId>{073A0DAA-6AF3-43AB-8588-CEC1D06C72B9}</a:tableStyleId>
              </a:tblPr>
              <a:tblGrid>
                <a:gridCol w="647867">
                  <a:extLst>
                    <a:ext uri="{9D8B030D-6E8A-4147-A177-3AD203B41FA5}">
                      <a16:colId xmlns:a16="http://schemas.microsoft.com/office/drawing/2014/main" val="893128370"/>
                    </a:ext>
                  </a:extLst>
                </a:gridCol>
                <a:gridCol w="647867">
                  <a:extLst>
                    <a:ext uri="{9D8B030D-6E8A-4147-A177-3AD203B41FA5}">
                      <a16:colId xmlns:a16="http://schemas.microsoft.com/office/drawing/2014/main" val="2337055899"/>
                    </a:ext>
                  </a:extLst>
                </a:gridCol>
                <a:gridCol w="647867">
                  <a:extLst>
                    <a:ext uri="{9D8B030D-6E8A-4147-A177-3AD203B41FA5}">
                      <a16:colId xmlns:a16="http://schemas.microsoft.com/office/drawing/2014/main" val="2442129363"/>
                    </a:ext>
                  </a:extLst>
                </a:gridCol>
                <a:gridCol w="647867">
                  <a:extLst>
                    <a:ext uri="{9D8B030D-6E8A-4147-A177-3AD203B41FA5}">
                      <a16:colId xmlns:a16="http://schemas.microsoft.com/office/drawing/2014/main" val="3583047799"/>
                    </a:ext>
                  </a:extLst>
                </a:gridCol>
                <a:gridCol w="647867">
                  <a:extLst>
                    <a:ext uri="{9D8B030D-6E8A-4147-A177-3AD203B41FA5}">
                      <a16:colId xmlns:a16="http://schemas.microsoft.com/office/drawing/2014/main" val="3584466374"/>
                    </a:ext>
                  </a:extLst>
                </a:gridCol>
                <a:gridCol w="647867">
                  <a:extLst>
                    <a:ext uri="{9D8B030D-6E8A-4147-A177-3AD203B41FA5}">
                      <a16:colId xmlns:a16="http://schemas.microsoft.com/office/drawing/2014/main" val="3996450158"/>
                    </a:ext>
                  </a:extLst>
                </a:gridCol>
                <a:gridCol w="647867">
                  <a:extLst>
                    <a:ext uri="{9D8B030D-6E8A-4147-A177-3AD203B41FA5}">
                      <a16:colId xmlns:a16="http://schemas.microsoft.com/office/drawing/2014/main" val="286096763"/>
                    </a:ext>
                  </a:extLst>
                </a:gridCol>
                <a:gridCol w="647867">
                  <a:extLst>
                    <a:ext uri="{9D8B030D-6E8A-4147-A177-3AD203B41FA5}">
                      <a16:colId xmlns:a16="http://schemas.microsoft.com/office/drawing/2014/main" val="4202899270"/>
                    </a:ext>
                  </a:extLst>
                </a:gridCol>
                <a:gridCol w="647867">
                  <a:extLst>
                    <a:ext uri="{9D8B030D-6E8A-4147-A177-3AD203B41FA5}">
                      <a16:colId xmlns:a16="http://schemas.microsoft.com/office/drawing/2014/main" val="3360961679"/>
                    </a:ext>
                  </a:extLst>
                </a:gridCol>
                <a:gridCol w="647867">
                  <a:extLst>
                    <a:ext uri="{9D8B030D-6E8A-4147-A177-3AD203B41FA5}">
                      <a16:colId xmlns:a16="http://schemas.microsoft.com/office/drawing/2014/main" val="3079095926"/>
                    </a:ext>
                  </a:extLst>
                </a:gridCol>
                <a:gridCol w="647867">
                  <a:extLst>
                    <a:ext uri="{9D8B030D-6E8A-4147-A177-3AD203B41FA5}">
                      <a16:colId xmlns:a16="http://schemas.microsoft.com/office/drawing/2014/main" val="1182479214"/>
                    </a:ext>
                  </a:extLst>
                </a:gridCol>
              </a:tblGrid>
              <a:tr h="273748">
                <a:tc>
                  <a:txBody>
                    <a:bodyPr/>
                    <a:lstStyle/>
                    <a:p>
                      <a:pPr algn="ctr" fontAlgn="t"/>
                      <a:r>
                        <a:rPr lang="en-IN" sz="1200" u="none" strike="noStrike" dirty="0">
                          <a:effectLst/>
                        </a:rPr>
                        <a:t>lambda</a:t>
                      </a:r>
                      <a:endParaRPr lang="en-IN" sz="1200" b="1"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tc>
                <a:tc>
                  <a:txBody>
                    <a:bodyPr/>
                    <a:lstStyle/>
                    <a:p>
                      <a:pPr algn="ctr" fontAlgn="t"/>
                      <a:r>
                        <a:rPr lang="en-IN" sz="1200" u="none" strike="noStrike">
                          <a:effectLst/>
                        </a:rPr>
                        <a:t>age</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tc>
                <a:tc>
                  <a:txBody>
                    <a:bodyPr/>
                    <a:lstStyle/>
                    <a:p>
                      <a:pPr algn="ctr" fontAlgn="t"/>
                      <a:r>
                        <a:rPr lang="en-IN" sz="1200" u="none" strike="noStrike">
                          <a:effectLst/>
                        </a:rPr>
                        <a:t>sex</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tc>
                <a:tc>
                  <a:txBody>
                    <a:bodyPr/>
                    <a:lstStyle/>
                    <a:p>
                      <a:pPr algn="ctr" fontAlgn="t"/>
                      <a:r>
                        <a:rPr lang="en-IN" sz="1200" u="none" strike="noStrike">
                          <a:effectLst/>
                        </a:rPr>
                        <a:t>bmi</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tc>
                <a:tc>
                  <a:txBody>
                    <a:bodyPr/>
                    <a:lstStyle/>
                    <a:p>
                      <a:pPr algn="ctr" fontAlgn="t"/>
                      <a:r>
                        <a:rPr lang="en-IN" sz="1200" u="none" strike="noStrike">
                          <a:effectLst/>
                        </a:rPr>
                        <a:t>bp</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tc>
                <a:tc>
                  <a:txBody>
                    <a:bodyPr/>
                    <a:lstStyle/>
                    <a:p>
                      <a:pPr algn="ctr" fontAlgn="t"/>
                      <a:r>
                        <a:rPr lang="en-IN" sz="1200" u="none" strike="noStrike">
                          <a:effectLst/>
                        </a:rPr>
                        <a:t>s1</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tc>
                <a:tc>
                  <a:txBody>
                    <a:bodyPr/>
                    <a:lstStyle/>
                    <a:p>
                      <a:pPr algn="ctr" fontAlgn="t"/>
                      <a:r>
                        <a:rPr lang="en-IN" sz="1200" u="none" strike="noStrike">
                          <a:effectLst/>
                        </a:rPr>
                        <a:t>s2</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tc>
                <a:tc>
                  <a:txBody>
                    <a:bodyPr/>
                    <a:lstStyle/>
                    <a:p>
                      <a:pPr algn="ctr" fontAlgn="t"/>
                      <a:r>
                        <a:rPr lang="en-IN" sz="1200" u="none" strike="noStrike">
                          <a:effectLst/>
                        </a:rPr>
                        <a:t>s3</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tc>
                <a:tc>
                  <a:txBody>
                    <a:bodyPr/>
                    <a:lstStyle/>
                    <a:p>
                      <a:pPr algn="ctr" fontAlgn="t"/>
                      <a:r>
                        <a:rPr lang="en-IN" sz="1200" u="none" strike="noStrike">
                          <a:effectLst/>
                        </a:rPr>
                        <a:t>s4</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tc>
                <a:tc>
                  <a:txBody>
                    <a:bodyPr/>
                    <a:lstStyle/>
                    <a:p>
                      <a:pPr algn="ctr" fontAlgn="t"/>
                      <a:r>
                        <a:rPr lang="en-IN" sz="1200" u="none" strike="noStrike">
                          <a:effectLst/>
                        </a:rPr>
                        <a:t>s5</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tc>
                <a:tc>
                  <a:txBody>
                    <a:bodyPr/>
                    <a:lstStyle/>
                    <a:p>
                      <a:pPr algn="ctr" fontAlgn="t"/>
                      <a:r>
                        <a:rPr lang="en-IN" sz="1200" u="none" strike="noStrike">
                          <a:effectLst/>
                        </a:rPr>
                        <a:t>s6</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tc>
                <a:extLst>
                  <a:ext uri="{0D108BD9-81ED-4DB2-BD59-A6C34878D82A}">
                    <a16:rowId xmlns:a16="http://schemas.microsoft.com/office/drawing/2014/main" val="2816963752"/>
                  </a:ext>
                </a:extLst>
              </a:tr>
              <a:tr h="273748">
                <a:tc>
                  <a:txBody>
                    <a:bodyPr/>
                    <a:lstStyle/>
                    <a:p>
                      <a:pPr algn="ctr" fontAlgn="t"/>
                      <a:r>
                        <a:rPr lang="en-IN" sz="1200" u="none" strike="noStrike" dirty="0">
                          <a:effectLst/>
                        </a:rPr>
                        <a:t>0</a:t>
                      </a:r>
                      <a:endParaRPr lang="en-IN" sz="1200" b="1"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r" fontAlgn="b"/>
                      <a:r>
                        <a:rPr lang="en-IN" sz="1200" u="none" strike="noStrike">
                          <a:effectLst/>
                        </a:rPr>
                        <a:t>29.2540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-261.7065</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546.2997</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388.3983</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-901.9597</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506.7632</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121.1543</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288.0353</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659.2689</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41.3767</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extLst>
                  <a:ext uri="{0D108BD9-81ED-4DB2-BD59-A6C34878D82A}">
                    <a16:rowId xmlns:a16="http://schemas.microsoft.com/office/drawing/2014/main" val="1534989771"/>
                  </a:ext>
                </a:extLst>
              </a:tr>
              <a:tr h="273748">
                <a:tc>
                  <a:txBody>
                    <a:bodyPr/>
                    <a:lstStyle/>
                    <a:p>
                      <a:pPr algn="ctr" fontAlgn="t"/>
                      <a:r>
                        <a:rPr lang="en-IN" sz="1200" u="none" strike="noStrike" dirty="0">
                          <a:effectLst/>
                        </a:rPr>
                        <a:t>0.0001</a:t>
                      </a:r>
                      <a:endParaRPr lang="en-IN" sz="1200" b="1"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r" fontAlgn="b"/>
                      <a:r>
                        <a:rPr lang="en-IN" sz="1200" u="none" strike="noStrike">
                          <a:effectLst/>
                        </a:rPr>
                        <a:t>29.2678</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-261.6044</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546.4087</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388.3010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-895.5448</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501.9258</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118.1027</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286.8003</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656.8802</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41.4161</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extLst>
                  <a:ext uri="{0D108BD9-81ED-4DB2-BD59-A6C34878D82A}">
                    <a16:rowId xmlns:a16="http://schemas.microsoft.com/office/drawing/2014/main" val="1345662123"/>
                  </a:ext>
                </a:extLst>
              </a:tr>
              <a:tr h="273748">
                <a:tc>
                  <a:txBody>
                    <a:bodyPr/>
                    <a:lstStyle/>
                    <a:p>
                      <a:pPr algn="ctr" fontAlgn="t"/>
                      <a:r>
                        <a:rPr lang="en-IN" sz="1200" u="none" strike="noStrike" dirty="0">
                          <a:effectLst/>
                        </a:rPr>
                        <a:t>0.001</a:t>
                      </a:r>
                      <a:endParaRPr lang="en-IN" sz="1200" b="1"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r" fontAlgn="b"/>
                      <a:r>
                        <a:rPr lang="en-IN" sz="1200" u="none" strike="noStrike">
                          <a:effectLst/>
                        </a:rPr>
                        <a:t>29.3920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-260.6857</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547.3894</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387.4250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-837.8318</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458.4046</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90.6468</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275.6888</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635.3892</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41.7704</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extLst>
                  <a:ext uri="{0D108BD9-81ED-4DB2-BD59-A6C34878D82A}">
                    <a16:rowId xmlns:a16="http://schemas.microsoft.com/office/drawing/2014/main" val="2248470605"/>
                  </a:ext>
                </a:extLst>
              </a:tr>
              <a:tr h="273748">
                <a:tc>
                  <a:txBody>
                    <a:bodyPr/>
                    <a:lstStyle/>
                    <a:p>
                      <a:pPr algn="ctr" fontAlgn="t"/>
                      <a:r>
                        <a:rPr lang="en-IN" sz="1200" u="none" strike="noStrike" dirty="0">
                          <a:effectLst/>
                        </a:rPr>
                        <a:t>0.01</a:t>
                      </a:r>
                      <a:endParaRPr lang="en-IN" sz="1200" b="1"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r" fontAlgn="b"/>
                      <a:r>
                        <a:rPr lang="en-IN" sz="1200" u="none" strike="noStrike">
                          <a:effectLst/>
                        </a:rPr>
                        <a:t>28.2464</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-250.8192</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556.2159</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380.6595</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-468.7395</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166.9934</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-60.2195</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230.9163</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492.6344</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43.9693</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extLst>
                  <a:ext uri="{0D108BD9-81ED-4DB2-BD59-A6C34878D82A}">
                    <a16:rowId xmlns:a16="http://schemas.microsoft.com/office/drawing/2014/main" val="3248101661"/>
                  </a:ext>
                </a:extLst>
              </a:tr>
              <a:tr h="273748">
                <a:tc>
                  <a:txBody>
                    <a:bodyPr/>
                    <a:lstStyle/>
                    <a:p>
                      <a:pPr algn="ctr" fontAlgn="t"/>
                      <a:r>
                        <a:rPr lang="en-IN" sz="1200" u="none" strike="noStrike">
                          <a:effectLst/>
                        </a:rPr>
                        <a:t>0.1</a:t>
                      </a:r>
                      <a:endParaRPr lang="en-IN" sz="1200" b="1"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-173.2711</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558.9381</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339.3537</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-58.7207</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-274.1135</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372.8390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25.5868</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extLst>
                  <a:ext uri="{0D108BD9-81ED-4DB2-BD59-A6C34878D82A}">
                    <a16:rowId xmlns:a16="http://schemas.microsoft.com/office/drawing/2014/main" val="3467809041"/>
                  </a:ext>
                </a:extLst>
              </a:tr>
              <a:tr h="273748">
                <a:tc>
                  <a:txBody>
                    <a:bodyPr/>
                    <a:lstStyle/>
                    <a:p>
                      <a:pPr algn="ctr" fontAlgn="t"/>
                      <a:r>
                        <a:rPr lang="en-IN" sz="1200" u="none" strike="noStrike" dirty="0">
                          <a:effectLst/>
                        </a:rPr>
                        <a:t>1</a:t>
                      </a:r>
                      <a:endParaRPr lang="en-IN" sz="1200" b="1"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443.7034</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51.6011</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201.9665</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extLst>
                  <a:ext uri="{0D108BD9-81ED-4DB2-BD59-A6C34878D82A}">
                    <a16:rowId xmlns:a16="http://schemas.microsoft.com/office/drawing/2014/main" val="2709564744"/>
                  </a:ext>
                </a:extLst>
              </a:tr>
              <a:tr h="273748">
                <a:tc>
                  <a:txBody>
                    <a:bodyPr/>
                    <a:lstStyle/>
                    <a:p>
                      <a:pPr algn="ctr" fontAlgn="t"/>
                      <a:r>
                        <a:rPr lang="en-IN" sz="1200" u="none" strike="noStrike" dirty="0">
                          <a:effectLst/>
                        </a:rPr>
                        <a:t>10</a:t>
                      </a:r>
                      <a:endParaRPr lang="en-IN" sz="1200" b="1"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extLst>
                  <a:ext uri="{0D108BD9-81ED-4DB2-BD59-A6C34878D82A}">
                    <a16:rowId xmlns:a16="http://schemas.microsoft.com/office/drawing/2014/main" val="3936161518"/>
                  </a:ext>
                </a:extLst>
              </a:tr>
              <a:tr h="273748">
                <a:tc>
                  <a:txBody>
                    <a:bodyPr/>
                    <a:lstStyle/>
                    <a:p>
                      <a:pPr algn="ctr" fontAlgn="t"/>
                      <a:r>
                        <a:rPr lang="en-IN" sz="1200" u="none" strike="noStrike" dirty="0">
                          <a:effectLst/>
                        </a:rPr>
                        <a:t>100</a:t>
                      </a:r>
                      <a:endParaRPr lang="en-IN" sz="1200" b="1"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extLst>
                  <a:ext uri="{0D108BD9-81ED-4DB2-BD59-A6C34878D82A}">
                    <a16:rowId xmlns:a16="http://schemas.microsoft.com/office/drawing/2014/main" val="628559967"/>
                  </a:ext>
                </a:extLst>
              </a:tr>
              <a:tr h="273748">
                <a:tc>
                  <a:txBody>
                    <a:bodyPr/>
                    <a:lstStyle/>
                    <a:p>
                      <a:pPr algn="ctr" fontAlgn="t"/>
                      <a:r>
                        <a:rPr lang="en-IN" sz="1200" u="none" strike="noStrike" dirty="0">
                          <a:effectLst/>
                        </a:rPr>
                        <a:t>1000</a:t>
                      </a:r>
                      <a:endParaRPr lang="en-IN" sz="1200" b="1"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extLst>
                  <a:ext uri="{0D108BD9-81ED-4DB2-BD59-A6C34878D82A}">
                    <a16:rowId xmlns:a16="http://schemas.microsoft.com/office/drawing/2014/main" val="1282966547"/>
                  </a:ext>
                </a:extLst>
              </a:tr>
              <a:tr h="273748">
                <a:tc>
                  <a:txBody>
                    <a:bodyPr/>
                    <a:lstStyle/>
                    <a:p>
                      <a:pPr algn="ctr" fontAlgn="t"/>
                      <a:r>
                        <a:rPr lang="en-IN" sz="1200" u="none" strike="noStrike" dirty="0">
                          <a:effectLst/>
                        </a:rPr>
                        <a:t>10000</a:t>
                      </a:r>
                      <a:endParaRPr lang="en-IN" sz="1200" b="1"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ctr"/>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a:effectLst/>
                        </a:rPr>
                        <a:t>0.0000</a:t>
                      </a:r>
                      <a:endParaRPr lang="en-IN" sz="12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tc>
                  <a:txBody>
                    <a:bodyPr/>
                    <a:lstStyle/>
                    <a:p>
                      <a:pPr algn="r" fontAlgn="b"/>
                      <a:r>
                        <a:rPr lang="en-IN" sz="1200" u="none" strike="noStrike" dirty="0">
                          <a:effectLst/>
                        </a:rPr>
                        <a:t>0.0000</a:t>
                      </a:r>
                      <a:endParaRPr lang="en-IN"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b"/>
                </a:tc>
                <a:extLst>
                  <a:ext uri="{0D108BD9-81ED-4DB2-BD59-A6C34878D82A}">
                    <a16:rowId xmlns:a16="http://schemas.microsoft.com/office/drawing/2014/main" val="4094357534"/>
                  </a:ext>
                </a:extLst>
              </a:tr>
            </a:tbl>
          </a:graphicData>
        </a:graphic>
      </p:graphicFrame>
    </p:spTree>
    <p:extLst>
      <p:ext uri="{BB962C8B-B14F-4D97-AF65-F5344CB8AC3E}">
        <p14:creationId xmlns:p14="http://schemas.microsoft.com/office/powerpoint/2010/main" val="349459104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4962" y="0"/>
            <a:ext cx="11522073" cy="1325563"/>
          </a:xfrm>
        </p:spPr>
        <p:txBody>
          <a:bodyPr>
            <a:normAutofit fontScale="90000"/>
          </a:bodyPr>
          <a:lstStyle/>
          <a:p>
            <a:r>
              <a:rPr lang="en-IN" dirty="0"/>
              <a:t/>
            </a:r>
            <a:br>
              <a:rPr lang="en-IN" dirty="0"/>
            </a:br>
            <a:r>
              <a:rPr lang="en-IN" sz="53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Methods for Optimal Lambda Selection in Lasso Regression</a:t>
            </a:r>
          </a:p>
        </p:txBody>
      </p:sp>
      <p:sp>
        <p:nvSpPr>
          <p:cNvPr id="15" name="TextBox 14"/>
          <p:cNvSpPr txBox="1"/>
          <p:nvPr/>
        </p:nvSpPr>
        <p:spPr>
          <a:xfrm>
            <a:off x="334963" y="1592263"/>
            <a:ext cx="5761037" cy="1661993"/>
          </a:xfrm>
          <a:prstGeom prst="rect">
            <a:avLst/>
          </a:prstGeom>
          <a:noFill/>
        </p:spPr>
        <p:txBody>
          <a:bodyPr wrap="square" rtlCol="0">
            <a:spAutoFit/>
          </a:bodyPr>
          <a:lstStyle/>
          <a:p>
            <a:r>
              <a:rPr lang="en-IN" b="1" dirty="0">
                <a:latin typeface="Helvetica" panose="020B0604020202020204" pitchFamily="34" charset="0"/>
                <a:cs typeface="Helvetica" panose="020B0604020202020204" pitchFamily="34" charset="0"/>
              </a:rPr>
              <a:t>1. Cross-Validation (Gold Standard)</a:t>
            </a:r>
          </a:p>
          <a:p>
            <a:pPr marL="742950" lvl="1" indent="-285750">
              <a:buFont typeface="Arial" panose="020B0604020202020204" pitchFamily="34" charset="0"/>
              <a:buChar char="•"/>
            </a:pPr>
            <a:r>
              <a:rPr lang="en-IN" sz="1600" b="1" dirty="0">
                <a:latin typeface="Helvetica" panose="020B0604020202020204" pitchFamily="34" charset="0"/>
                <a:cs typeface="Helvetica" panose="020B0604020202020204" pitchFamily="34" charset="0"/>
              </a:rPr>
              <a:t>Method: </a:t>
            </a:r>
            <a:r>
              <a:rPr lang="en-IN" sz="1600" dirty="0">
                <a:latin typeface="Helvetica" panose="020B0604020202020204" pitchFamily="34" charset="0"/>
                <a:cs typeface="Helvetica" panose="020B0604020202020204" pitchFamily="34" charset="0"/>
              </a:rPr>
              <a:t>K-fold CV to find lambda with minimum mean squared error</a:t>
            </a:r>
          </a:p>
          <a:p>
            <a:pPr lvl="1"/>
            <a:r>
              <a:rPr lang="en-IN" sz="1600" b="1" dirty="0">
                <a:latin typeface="Helvetica" panose="020B0604020202020204" pitchFamily="34" charset="0"/>
                <a:cs typeface="Helvetica" panose="020B0604020202020204" pitchFamily="34" charset="0"/>
              </a:rPr>
              <a:t>✓ Pros: </a:t>
            </a:r>
            <a:r>
              <a:rPr lang="en-IN" sz="1600" dirty="0">
                <a:latin typeface="Helvetica" panose="020B0604020202020204" pitchFamily="34" charset="0"/>
                <a:cs typeface="Helvetica" panose="020B0604020202020204" pitchFamily="34" charset="0"/>
              </a:rPr>
              <a:t>Robust, statistically sound, widely accepted</a:t>
            </a:r>
          </a:p>
          <a:p>
            <a:pPr lvl="1"/>
            <a:r>
              <a:rPr lang="en-IN" sz="1600" b="1" dirty="0">
                <a:latin typeface="Helvetica" panose="020B0604020202020204" pitchFamily="34" charset="0"/>
                <a:cs typeface="Helvetica" panose="020B0604020202020204" pitchFamily="34" charset="0"/>
              </a:rPr>
              <a:t>✗ Cons: </a:t>
            </a:r>
            <a:r>
              <a:rPr lang="en-IN" sz="1600" dirty="0">
                <a:latin typeface="Helvetica" panose="020B0604020202020204" pitchFamily="34" charset="0"/>
                <a:cs typeface="Helvetica" panose="020B0604020202020204" pitchFamily="34" charset="0"/>
              </a:rPr>
              <a:t>Computationally intensive for large datasets</a:t>
            </a:r>
          </a:p>
          <a:p>
            <a:endParaRPr lang="en-IN" dirty="0">
              <a:latin typeface="Helvetica" panose="020B0604020202020204" pitchFamily="34" charset="0"/>
              <a:cs typeface="Helvetica" panose="020B0604020202020204" pitchFamily="34" charset="0"/>
            </a:endParaRPr>
          </a:p>
        </p:txBody>
      </p:sp>
      <p:sp>
        <p:nvSpPr>
          <p:cNvPr id="16" name="TextBox 15"/>
          <p:cNvSpPr txBox="1"/>
          <p:nvPr/>
        </p:nvSpPr>
        <p:spPr>
          <a:xfrm>
            <a:off x="353886" y="3429000"/>
            <a:ext cx="5742113" cy="1877437"/>
          </a:xfrm>
          <a:prstGeom prst="rect">
            <a:avLst/>
          </a:prstGeom>
          <a:noFill/>
        </p:spPr>
        <p:txBody>
          <a:bodyPr wrap="square" rtlCol="0">
            <a:spAutoFit/>
          </a:bodyPr>
          <a:lstStyle/>
          <a:p>
            <a:r>
              <a:rPr lang="en-IN" b="1" dirty="0" smtClean="0">
                <a:latin typeface="Helvetica" panose="020B0604020202020204" pitchFamily="34" charset="0"/>
                <a:cs typeface="Helvetica" panose="020B0604020202020204" pitchFamily="34" charset="0"/>
              </a:rPr>
              <a:t>3. </a:t>
            </a:r>
            <a:r>
              <a:rPr lang="en-IN" b="1" dirty="0">
                <a:latin typeface="Helvetica" panose="020B0604020202020204" pitchFamily="34" charset="0"/>
                <a:cs typeface="Helvetica" panose="020B0604020202020204" pitchFamily="34" charset="0"/>
              </a:rPr>
              <a:t>Information Criteria (AIC/BIC)</a:t>
            </a:r>
          </a:p>
          <a:p>
            <a:pPr marL="742950" lvl="1" indent="-285750">
              <a:buFont typeface="Arial" panose="020B0604020202020204" pitchFamily="34" charset="0"/>
              <a:buChar char="•"/>
            </a:pPr>
            <a:r>
              <a:rPr lang="en-IN" sz="1600" dirty="0">
                <a:latin typeface="Helvetica" panose="020B0604020202020204" pitchFamily="34" charset="0"/>
                <a:cs typeface="Helvetica" panose="020B0604020202020204" pitchFamily="34" charset="0"/>
              </a:rPr>
              <a:t>Method: Uses theoretical criteria balancing fit and complexity</a:t>
            </a:r>
          </a:p>
          <a:p>
            <a:pPr lvl="1"/>
            <a:r>
              <a:rPr lang="en-IN" sz="1600" b="1" dirty="0">
                <a:latin typeface="Helvetica" panose="020B0604020202020204" pitchFamily="34" charset="0"/>
                <a:cs typeface="Helvetica" panose="020B0604020202020204" pitchFamily="34" charset="0"/>
              </a:rPr>
              <a:t>✓ Pros: </a:t>
            </a:r>
            <a:r>
              <a:rPr lang="en-IN" sz="1600" dirty="0">
                <a:latin typeface="Helvetica" panose="020B0604020202020204" pitchFamily="34" charset="0"/>
                <a:cs typeface="Helvetica" panose="020B0604020202020204" pitchFamily="34" charset="0"/>
              </a:rPr>
              <a:t>No cross-validation needed, single training pass</a:t>
            </a:r>
          </a:p>
          <a:p>
            <a:pPr lvl="1"/>
            <a:r>
              <a:rPr lang="en-IN" sz="1600" b="1" dirty="0">
                <a:latin typeface="Helvetica" panose="020B0604020202020204" pitchFamily="34" charset="0"/>
                <a:cs typeface="Helvetica" panose="020B0604020202020204" pitchFamily="34" charset="0"/>
              </a:rPr>
              <a:t>✗ Cons: </a:t>
            </a:r>
            <a:r>
              <a:rPr lang="en-IN" sz="1600" dirty="0">
                <a:latin typeface="Helvetica" panose="020B0604020202020204" pitchFamily="34" charset="0"/>
                <a:cs typeface="Helvetica" panose="020B0604020202020204" pitchFamily="34" charset="0"/>
              </a:rPr>
              <a:t>Can be conservative, may not optimize prediction error</a:t>
            </a:r>
          </a:p>
          <a:p>
            <a:endParaRPr lang="en-IN" dirty="0"/>
          </a:p>
        </p:txBody>
      </p:sp>
      <p:sp>
        <p:nvSpPr>
          <p:cNvPr id="17" name="TextBox 16"/>
          <p:cNvSpPr txBox="1"/>
          <p:nvPr/>
        </p:nvSpPr>
        <p:spPr>
          <a:xfrm>
            <a:off x="6105780" y="1592263"/>
            <a:ext cx="5751258" cy="1908215"/>
          </a:xfrm>
          <a:prstGeom prst="rect">
            <a:avLst/>
          </a:prstGeom>
          <a:noFill/>
        </p:spPr>
        <p:txBody>
          <a:bodyPr wrap="square" rtlCol="0">
            <a:spAutoFit/>
          </a:bodyPr>
          <a:lstStyle/>
          <a:p>
            <a:r>
              <a:rPr lang="en-IN" b="1" dirty="0" smtClean="0">
                <a:latin typeface="Helvetica" panose="020B0604020202020204" pitchFamily="34" charset="0"/>
                <a:cs typeface="Helvetica" panose="020B0604020202020204" pitchFamily="34" charset="0"/>
              </a:rPr>
              <a:t>2. </a:t>
            </a:r>
            <a:r>
              <a:rPr lang="en-IN" b="1" dirty="0">
                <a:latin typeface="Helvetica" panose="020B0604020202020204" pitchFamily="34" charset="0"/>
                <a:cs typeface="Helvetica" panose="020B0604020202020204" pitchFamily="34" charset="0"/>
              </a:rPr>
              <a:t>Validation Set Approach</a:t>
            </a:r>
          </a:p>
          <a:p>
            <a:pPr marL="742950" lvl="1" indent="-285750">
              <a:buFont typeface="Arial" panose="020B0604020202020204" pitchFamily="34" charset="0"/>
              <a:buChar char="•"/>
            </a:pPr>
            <a:r>
              <a:rPr lang="en-IN" sz="1600" b="1" dirty="0">
                <a:latin typeface="Helvetica" panose="020B0604020202020204" pitchFamily="34" charset="0"/>
                <a:cs typeface="Helvetica" panose="020B0604020202020204" pitchFamily="34" charset="0"/>
              </a:rPr>
              <a:t>Method: </a:t>
            </a:r>
            <a:r>
              <a:rPr lang="en-IN" sz="1600" dirty="0">
                <a:latin typeface="Helvetica" panose="020B0604020202020204" pitchFamily="34" charset="0"/>
                <a:cs typeface="Helvetica" panose="020B0604020202020204" pitchFamily="34" charset="0"/>
              </a:rPr>
              <a:t>Holdout validation set to test different lambdas</a:t>
            </a:r>
          </a:p>
          <a:p>
            <a:pPr lvl="1"/>
            <a:r>
              <a:rPr lang="en-IN" sz="1600" b="1" dirty="0">
                <a:latin typeface="Helvetica" panose="020B0604020202020204" pitchFamily="34" charset="0"/>
                <a:cs typeface="Helvetica" panose="020B0604020202020204" pitchFamily="34" charset="0"/>
              </a:rPr>
              <a:t>✓ Pros: </a:t>
            </a:r>
            <a:r>
              <a:rPr lang="en-IN" sz="1600" dirty="0">
                <a:latin typeface="Helvetica" panose="020B0604020202020204" pitchFamily="34" charset="0"/>
                <a:cs typeface="Helvetica" panose="020B0604020202020204" pitchFamily="34" charset="0"/>
              </a:rPr>
              <a:t>Simple implementation, computationally efficient</a:t>
            </a:r>
          </a:p>
          <a:p>
            <a:pPr lvl="1"/>
            <a:r>
              <a:rPr lang="en-IN" sz="1600" b="1" dirty="0">
                <a:latin typeface="Helvetica" panose="020B0604020202020204" pitchFamily="34" charset="0"/>
                <a:cs typeface="Helvetica" panose="020B0604020202020204" pitchFamily="34" charset="0"/>
              </a:rPr>
              <a:t>✗ Cons</a:t>
            </a:r>
            <a:r>
              <a:rPr lang="en-IN" sz="1600" dirty="0">
                <a:latin typeface="Helvetica" panose="020B0604020202020204" pitchFamily="34" charset="0"/>
                <a:cs typeface="Helvetica" panose="020B0604020202020204" pitchFamily="34" charset="0"/>
              </a:rPr>
              <a:t>: Wastes data, results depend on </a:t>
            </a:r>
            <a:r>
              <a:rPr lang="en-IN" sz="1600" dirty="0" smtClean="0">
                <a:latin typeface="Helvetica" panose="020B0604020202020204" pitchFamily="34" charset="0"/>
                <a:cs typeface="Helvetica" panose="020B0604020202020204" pitchFamily="34" charset="0"/>
              </a:rPr>
              <a:t>random split</a:t>
            </a:r>
            <a:endParaRPr lang="en-IN" dirty="0">
              <a:latin typeface="Helvetica" panose="020B0604020202020204" pitchFamily="34" charset="0"/>
              <a:cs typeface="Helvetica" panose="020B0604020202020204" pitchFamily="34" charset="0"/>
            </a:endParaRPr>
          </a:p>
          <a:p>
            <a:endParaRPr lang="en-IN" dirty="0"/>
          </a:p>
        </p:txBody>
      </p:sp>
      <p:sp>
        <p:nvSpPr>
          <p:cNvPr id="18" name="TextBox 17"/>
          <p:cNvSpPr txBox="1"/>
          <p:nvPr/>
        </p:nvSpPr>
        <p:spPr>
          <a:xfrm>
            <a:off x="6105779" y="3445014"/>
            <a:ext cx="5751259" cy="1661993"/>
          </a:xfrm>
          <a:prstGeom prst="rect">
            <a:avLst/>
          </a:prstGeom>
          <a:noFill/>
        </p:spPr>
        <p:txBody>
          <a:bodyPr wrap="square" rtlCol="0">
            <a:spAutoFit/>
          </a:bodyPr>
          <a:lstStyle/>
          <a:p>
            <a:r>
              <a:rPr lang="en-IN" b="1" dirty="0">
                <a:latin typeface="Helvetica" panose="020B0604020202020204" pitchFamily="34" charset="0"/>
                <a:cs typeface="Helvetica" panose="020B0604020202020204" pitchFamily="34" charset="0"/>
              </a:rPr>
              <a:t>4. Visualization (Regularization Path)</a:t>
            </a:r>
          </a:p>
          <a:p>
            <a:pPr marL="742950" lvl="1" indent="-285750">
              <a:buFont typeface="Arial" panose="020B0604020202020204" pitchFamily="34" charset="0"/>
              <a:buChar char="•"/>
            </a:pPr>
            <a:r>
              <a:rPr lang="en-IN" sz="1600" dirty="0">
                <a:latin typeface="Helvetica" panose="020B0604020202020204" pitchFamily="34" charset="0"/>
                <a:cs typeface="Helvetica" panose="020B0604020202020204" pitchFamily="34" charset="0"/>
              </a:rPr>
              <a:t>Method: Plot coefficient paths vs lambda values</a:t>
            </a:r>
          </a:p>
          <a:p>
            <a:pPr lvl="1"/>
            <a:r>
              <a:rPr lang="en-IN" sz="1600" b="1" dirty="0">
                <a:latin typeface="Helvetica" panose="020B0604020202020204" pitchFamily="34" charset="0"/>
                <a:cs typeface="Helvetica" panose="020B0604020202020204" pitchFamily="34" charset="0"/>
              </a:rPr>
              <a:t>✓ Pros: </a:t>
            </a:r>
            <a:r>
              <a:rPr lang="en-IN" sz="1600" dirty="0">
                <a:latin typeface="Helvetica" panose="020B0604020202020204" pitchFamily="34" charset="0"/>
                <a:cs typeface="Helvetica" panose="020B0604020202020204" pitchFamily="34" charset="0"/>
              </a:rPr>
              <a:t>Provides intuitive understanding, shows feature importance</a:t>
            </a:r>
          </a:p>
          <a:p>
            <a:pPr lvl="1"/>
            <a:r>
              <a:rPr lang="en-IN" sz="1600" b="1" dirty="0">
                <a:latin typeface="Helvetica" panose="020B0604020202020204" pitchFamily="34" charset="0"/>
                <a:cs typeface="Helvetica" panose="020B0604020202020204" pitchFamily="34" charset="0"/>
              </a:rPr>
              <a:t>✗ Cons: </a:t>
            </a:r>
            <a:r>
              <a:rPr lang="en-IN" sz="1600" dirty="0">
                <a:latin typeface="Helvetica" panose="020B0604020202020204" pitchFamily="34" charset="0"/>
                <a:cs typeface="Helvetica" panose="020B0604020202020204" pitchFamily="34" charset="0"/>
              </a:rPr>
              <a:t>Subjective, requires experience to interpret</a:t>
            </a:r>
          </a:p>
          <a:p>
            <a:endParaRPr lang="en-IN" dirty="0"/>
          </a:p>
        </p:txBody>
      </p:sp>
      <p:sp>
        <p:nvSpPr>
          <p:cNvPr id="19" name="TextBox 18"/>
          <p:cNvSpPr txBox="1"/>
          <p:nvPr/>
        </p:nvSpPr>
        <p:spPr>
          <a:xfrm>
            <a:off x="334961" y="5476339"/>
            <a:ext cx="11522075" cy="1200329"/>
          </a:xfrm>
          <a:prstGeom prst="rect">
            <a:avLst/>
          </a:prstGeom>
          <a:noFill/>
        </p:spPr>
        <p:txBody>
          <a:bodyPr wrap="square" rtlCol="0">
            <a:spAutoFit/>
          </a:bodyPr>
          <a:lstStyle/>
          <a:p>
            <a:pPr algn="ctr"/>
            <a:r>
              <a:rPr lang="en-IN" b="1" dirty="0">
                <a:latin typeface="Helvetica" panose="020B0604020202020204" pitchFamily="34" charset="0"/>
                <a:cs typeface="Helvetica" panose="020B0604020202020204" pitchFamily="34" charset="0"/>
              </a:rPr>
              <a:t>Recommended Approach</a:t>
            </a:r>
          </a:p>
          <a:p>
            <a:pPr algn="ctr"/>
            <a:r>
              <a:rPr lang="en-IN" dirty="0">
                <a:latin typeface="Helvetica" panose="020B0604020202020204" pitchFamily="34" charset="0"/>
                <a:cs typeface="Helvetica" panose="020B0604020202020204" pitchFamily="34" charset="0"/>
              </a:rPr>
              <a:t>Start with cross-validation → Validate with holdout set → Visualize paths</a:t>
            </a:r>
          </a:p>
          <a:p>
            <a:pPr algn="ctr"/>
            <a:r>
              <a:rPr lang="en-IN" dirty="0">
                <a:latin typeface="Helvetica" panose="020B0604020202020204" pitchFamily="34" charset="0"/>
                <a:cs typeface="Helvetica" panose="020B0604020202020204" pitchFamily="34" charset="0"/>
              </a:rPr>
              <a:t>Balance: Statistical optimality + Model interpretability + Computational cost</a:t>
            </a:r>
          </a:p>
          <a:p>
            <a:pPr algn="ctr"/>
            <a:endParaRPr lang="en-IN"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934143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P spid="1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4963" y="15875"/>
            <a:ext cx="10515600" cy="1325563"/>
          </a:xfrm>
        </p:spPr>
        <p:txBody>
          <a:bodyPr>
            <a:normAutofit/>
          </a:bodyPr>
          <a:lstStyle/>
          <a:p>
            <a:r>
              <a:rPr lang="en-IN" sz="4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334963" y="1341438"/>
            <a:ext cx="10515600" cy="4351338"/>
          </a:xfrm>
        </p:spPr>
        <p:txBody>
          <a:bodyPr>
            <a:normAutofit/>
          </a:bodyPr>
          <a:lstStyle/>
          <a:p>
            <a:pPr marL="342900" indent="-342900">
              <a:buFont typeface="+mj-lt"/>
              <a:buAutoNum type="arabicPeriod"/>
            </a:pPr>
            <a:r>
              <a:rPr lang="en-IN" sz="1800" b="1" dirty="0" smtClean="0">
                <a:latin typeface="Helvetica" panose="020B0604020202020204" pitchFamily="34" charset="0"/>
                <a:cs typeface="Helvetica" panose="020B0604020202020204" pitchFamily="34" charset="0"/>
              </a:rPr>
              <a:t>Simple </a:t>
            </a:r>
            <a:r>
              <a:rPr lang="en-IN" sz="1800" b="1" dirty="0">
                <a:latin typeface="Helvetica" panose="020B0604020202020204" pitchFamily="34" charset="0"/>
                <a:cs typeface="Helvetica" panose="020B0604020202020204" pitchFamily="34" charset="0"/>
              </a:rPr>
              <a:t>Reminder of the Problem</a:t>
            </a:r>
          </a:p>
          <a:p>
            <a:pPr lvl="1"/>
            <a:r>
              <a:rPr lang="en-IN" sz="1900" dirty="0" smtClean="0">
                <a:latin typeface="Helvetica" panose="020B0604020202020204" pitchFamily="34" charset="0"/>
                <a:cs typeface="Helvetica" panose="020B0604020202020204" pitchFamily="34" charset="0"/>
              </a:rPr>
              <a:t>In </a:t>
            </a:r>
            <a:r>
              <a:rPr lang="en-IN" sz="1900" dirty="0">
                <a:latin typeface="Helvetica" panose="020B0604020202020204" pitchFamily="34" charset="0"/>
                <a:cs typeface="Helvetica" panose="020B0604020202020204" pitchFamily="34" charset="0"/>
              </a:rPr>
              <a:t>regression, too many predictors → risk of </a:t>
            </a:r>
            <a:r>
              <a:rPr lang="en-IN" sz="1900" dirty="0" smtClean="0">
                <a:latin typeface="Helvetica" panose="020B0604020202020204" pitchFamily="34" charset="0"/>
                <a:cs typeface="Helvetica" panose="020B0604020202020204" pitchFamily="34" charset="0"/>
              </a:rPr>
              <a:t>overfitting.</a:t>
            </a:r>
          </a:p>
          <a:p>
            <a:pPr lvl="1"/>
            <a:r>
              <a:rPr lang="en-IN" sz="1900" dirty="0" smtClean="0">
                <a:latin typeface="Helvetica" panose="020B0604020202020204" pitchFamily="34" charset="0"/>
                <a:cs typeface="Helvetica" panose="020B0604020202020204" pitchFamily="34" charset="0"/>
              </a:rPr>
              <a:t>We </a:t>
            </a:r>
            <a:r>
              <a:rPr lang="en-IN" sz="1900" dirty="0">
                <a:latin typeface="Helvetica" panose="020B0604020202020204" pitchFamily="34" charset="0"/>
                <a:cs typeface="Helvetica" panose="020B0604020202020204" pitchFamily="34" charset="0"/>
              </a:rPr>
              <a:t>want models that are accurate and interpretable.</a:t>
            </a:r>
          </a:p>
          <a:p>
            <a:pPr marL="342900" indent="-342900">
              <a:buFont typeface="+mj-lt"/>
              <a:buAutoNum type="arabicPeriod"/>
            </a:pPr>
            <a:r>
              <a:rPr lang="en-IN" sz="1800" b="1" dirty="0" smtClean="0">
                <a:latin typeface="Helvetica" panose="020B0604020202020204" pitchFamily="34" charset="0"/>
                <a:cs typeface="Helvetica" panose="020B0604020202020204" pitchFamily="34" charset="0"/>
              </a:rPr>
              <a:t>What </a:t>
            </a:r>
            <a:r>
              <a:rPr lang="en-IN" sz="1800" b="1" dirty="0">
                <a:latin typeface="Helvetica" panose="020B0604020202020204" pitchFamily="34" charset="0"/>
                <a:cs typeface="Helvetica" panose="020B0604020202020204" pitchFamily="34" charset="0"/>
              </a:rPr>
              <a:t>Lasso Does</a:t>
            </a:r>
          </a:p>
          <a:p>
            <a:pPr lvl="1"/>
            <a:r>
              <a:rPr lang="en-IN" sz="1800" dirty="0" smtClean="0">
                <a:latin typeface="Helvetica" panose="020B0604020202020204" pitchFamily="34" charset="0"/>
                <a:cs typeface="Helvetica" panose="020B0604020202020204" pitchFamily="34" charset="0"/>
              </a:rPr>
              <a:t>Adds </a:t>
            </a:r>
            <a:r>
              <a:rPr lang="en-IN" sz="1800" dirty="0">
                <a:latin typeface="Helvetica" panose="020B0604020202020204" pitchFamily="34" charset="0"/>
                <a:cs typeface="Helvetica" panose="020B0604020202020204" pitchFamily="34" charset="0"/>
              </a:rPr>
              <a:t>a penalty on large coefficients (L1 penalty</a:t>
            </a:r>
            <a:r>
              <a:rPr lang="en-IN" sz="1800" dirty="0" smtClean="0">
                <a:latin typeface="Helvetica" panose="020B0604020202020204" pitchFamily="34" charset="0"/>
                <a:cs typeface="Helvetica" panose="020B0604020202020204" pitchFamily="34" charset="0"/>
              </a:rPr>
              <a:t>).</a:t>
            </a:r>
          </a:p>
          <a:p>
            <a:pPr lvl="1"/>
            <a:r>
              <a:rPr lang="en-IN" sz="1800" dirty="0" smtClean="0">
                <a:latin typeface="Helvetica" panose="020B0604020202020204" pitchFamily="34" charset="0"/>
                <a:cs typeface="Helvetica" panose="020B0604020202020204" pitchFamily="34" charset="0"/>
              </a:rPr>
              <a:t>Shrinks </a:t>
            </a:r>
            <a:r>
              <a:rPr lang="en-IN" sz="1800" dirty="0">
                <a:latin typeface="Helvetica" panose="020B0604020202020204" pitchFamily="34" charset="0"/>
                <a:cs typeface="Helvetica" panose="020B0604020202020204" pitchFamily="34" charset="0"/>
              </a:rPr>
              <a:t>some coefficients to exactly zero → performs feature </a:t>
            </a:r>
            <a:r>
              <a:rPr lang="en-IN" sz="1800" dirty="0" smtClean="0">
                <a:latin typeface="Helvetica" panose="020B0604020202020204" pitchFamily="34" charset="0"/>
                <a:cs typeface="Helvetica" panose="020B0604020202020204" pitchFamily="34" charset="0"/>
              </a:rPr>
              <a:t>selection.</a:t>
            </a:r>
          </a:p>
          <a:p>
            <a:pPr lvl="1"/>
            <a:r>
              <a:rPr lang="en-IN" sz="1800" dirty="0" smtClean="0">
                <a:latin typeface="Helvetica" panose="020B0604020202020204" pitchFamily="34" charset="0"/>
                <a:cs typeface="Helvetica" panose="020B0604020202020204" pitchFamily="34" charset="0"/>
              </a:rPr>
              <a:t>Balances </a:t>
            </a:r>
            <a:r>
              <a:rPr lang="en-IN" sz="1800" dirty="0">
                <a:latin typeface="Helvetica" panose="020B0604020202020204" pitchFamily="34" charset="0"/>
                <a:cs typeface="Helvetica" panose="020B0604020202020204" pitchFamily="34" charset="0"/>
              </a:rPr>
              <a:t>the </a:t>
            </a:r>
            <a:r>
              <a:rPr lang="en-IN" sz="1800" dirty="0" smtClean="0">
                <a:latin typeface="Helvetica" panose="020B0604020202020204" pitchFamily="34" charset="0"/>
                <a:cs typeface="Helvetica" panose="020B0604020202020204" pitchFamily="34" charset="0"/>
              </a:rPr>
              <a:t>bias-variance trade off </a:t>
            </a:r>
            <a:r>
              <a:rPr lang="en-IN" sz="1800" dirty="0">
                <a:latin typeface="Helvetica" panose="020B0604020202020204" pitchFamily="34" charset="0"/>
                <a:cs typeface="Helvetica" panose="020B0604020202020204" pitchFamily="34" charset="0"/>
              </a:rPr>
              <a:t>→ better prediction on new data.</a:t>
            </a:r>
          </a:p>
          <a:p>
            <a:pPr marL="342900" indent="-342900">
              <a:buFont typeface="+mj-lt"/>
              <a:buAutoNum type="arabicPeriod"/>
            </a:pPr>
            <a:r>
              <a:rPr lang="en-IN" sz="1800" b="1" dirty="0" smtClean="0">
                <a:latin typeface="Helvetica" panose="020B0604020202020204" pitchFamily="34" charset="0"/>
                <a:cs typeface="Helvetica" panose="020B0604020202020204" pitchFamily="34" charset="0"/>
              </a:rPr>
              <a:t>Why </a:t>
            </a:r>
            <a:r>
              <a:rPr lang="en-IN" sz="1800" b="1" dirty="0">
                <a:latin typeface="Helvetica" panose="020B0604020202020204" pitchFamily="34" charset="0"/>
                <a:cs typeface="Helvetica" panose="020B0604020202020204" pitchFamily="34" charset="0"/>
              </a:rPr>
              <a:t>It’s Useful</a:t>
            </a:r>
          </a:p>
          <a:p>
            <a:pPr lvl="1"/>
            <a:r>
              <a:rPr lang="en-IN" sz="1800" dirty="0" smtClean="0">
                <a:latin typeface="Helvetica" panose="020B0604020202020204" pitchFamily="34" charset="0"/>
                <a:cs typeface="Helvetica" panose="020B0604020202020204" pitchFamily="34" charset="0"/>
              </a:rPr>
              <a:t>Works </a:t>
            </a:r>
            <a:r>
              <a:rPr lang="en-IN" sz="1800" dirty="0">
                <a:latin typeface="Helvetica" panose="020B0604020202020204" pitchFamily="34" charset="0"/>
                <a:cs typeface="Helvetica" panose="020B0604020202020204" pitchFamily="34" charset="0"/>
              </a:rPr>
              <a:t>well when predictors are many or </a:t>
            </a:r>
            <a:r>
              <a:rPr lang="en-IN" sz="1800" dirty="0" smtClean="0">
                <a:latin typeface="Helvetica" panose="020B0604020202020204" pitchFamily="34" charset="0"/>
                <a:cs typeface="Helvetica" panose="020B0604020202020204" pitchFamily="34" charset="0"/>
              </a:rPr>
              <a:t>correlated.</a:t>
            </a:r>
          </a:p>
          <a:p>
            <a:pPr lvl="1"/>
            <a:r>
              <a:rPr lang="en-IN" sz="1800" dirty="0" smtClean="0">
                <a:latin typeface="Helvetica" panose="020B0604020202020204" pitchFamily="34" charset="0"/>
                <a:cs typeface="Helvetica" panose="020B0604020202020204" pitchFamily="34" charset="0"/>
              </a:rPr>
              <a:t>Produces </a:t>
            </a:r>
            <a:r>
              <a:rPr lang="en-IN" sz="1800" dirty="0">
                <a:latin typeface="Helvetica" panose="020B0604020202020204" pitchFamily="34" charset="0"/>
                <a:cs typeface="Helvetica" panose="020B0604020202020204" pitchFamily="34" charset="0"/>
              </a:rPr>
              <a:t>sparser models → easier to </a:t>
            </a:r>
            <a:r>
              <a:rPr lang="en-IN" sz="1800" dirty="0" smtClean="0">
                <a:latin typeface="Helvetica" panose="020B0604020202020204" pitchFamily="34" charset="0"/>
                <a:cs typeface="Helvetica" panose="020B0604020202020204" pitchFamily="34" charset="0"/>
              </a:rPr>
              <a:t>explain.</a:t>
            </a:r>
          </a:p>
          <a:p>
            <a:pPr lvl="1"/>
            <a:r>
              <a:rPr lang="en-IN" sz="1800" dirty="0" smtClean="0">
                <a:latin typeface="Helvetica" panose="020B0604020202020204" pitchFamily="34" charset="0"/>
                <a:cs typeface="Helvetica" panose="020B0604020202020204" pitchFamily="34" charset="0"/>
              </a:rPr>
              <a:t>Widely </a:t>
            </a:r>
            <a:r>
              <a:rPr lang="en-IN" sz="1800" dirty="0">
                <a:latin typeface="Helvetica" panose="020B0604020202020204" pitchFamily="34" charset="0"/>
                <a:cs typeface="Helvetica" panose="020B0604020202020204" pitchFamily="34" charset="0"/>
              </a:rPr>
              <a:t>applied in finance, genetics, image analysis, NLP, etc.</a:t>
            </a:r>
          </a:p>
        </p:txBody>
      </p:sp>
      <p:sp>
        <p:nvSpPr>
          <p:cNvPr id="4" name="TextBox 3"/>
          <p:cNvSpPr txBox="1"/>
          <p:nvPr/>
        </p:nvSpPr>
        <p:spPr>
          <a:xfrm>
            <a:off x="1271588" y="5369610"/>
            <a:ext cx="9577387" cy="646331"/>
          </a:xfrm>
          <a:prstGeom prst="rect">
            <a:avLst/>
          </a:prstGeom>
          <a:noFill/>
        </p:spPr>
        <p:txBody>
          <a:bodyPr wrap="square" rtlCol="0">
            <a:spAutoFit/>
          </a:bodyPr>
          <a:lstStyle/>
          <a:p>
            <a:r>
              <a:rPr lang="en-IN" i="1" dirty="0" smtClean="0">
                <a:latin typeface="Helvetica" panose="020B0604020202020204" pitchFamily="34" charset="0"/>
                <a:cs typeface="Helvetica" panose="020B0604020202020204" pitchFamily="34" charset="0"/>
              </a:rPr>
              <a:t>“Lasso </a:t>
            </a:r>
            <a:r>
              <a:rPr lang="en-IN" i="1" dirty="0">
                <a:latin typeface="Helvetica" panose="020B0604020202020204" pitchFamily="34" charset="0"/>
                <a:cs typeface="Helvetica" panose="020B0604020202020204" pitchFamily="34" charset="0"/>
              </a:rPr>
              <a:t>is not just a shrinkage method like Ridge; it is also a tool for automatic feature selection, making it a bridge between simple regression and modern machine </a:t>
            </a:r>
            <a:r>
              <a:rPr lang="en-IN" i="1" dirty="0" smtClean="0">
                <a:latin typeface="Helvetica" panose="020B0604020202020204" pitchFamily="34" charset="0"/>
                <a:cs typeface="Helvetica" panose="020B0604020202020204" pitchFamily="34" charset="0"/>
              </a:rPr>
              <a:t>learning.”</a:t>
            </a:r>
            <a:endParaRPr lang="en-IN" i="1" dirty="0">
              <a:latin typeface="Helvetica" panose="020B0604020202020204" pitchFamily="34" charset="0"/>
              <a:cs typeface="Helvetica" panose="020B0604020202020204" pitchFamily="34" charset="0"/>
            </a:endParaRPr>
          </a:p>
        </p:txBody>
      </p:sp>
      <p:sp>
        <p:nvSpPr>
          <p:cNvPr id="5" name="TextBox 4"/>
          <p:cNvSpPr txBox="1"/>
          <p:nvPr/>
        </p:nvSpPr>
        <p:spPr>
          <a:xfrm>
            <a:off x="3304032" y="6108192"/>
            <a:ext cx="6352032" cy="369332"/>
          </a:xfrm>
          <a:prstGeom prst="rect">
            <a:avLst/>
          </a:prstGeom>
          <a:noFill/>
        </p:spPr>
        <p:txBody>
          <a:bodyPr wrap="square" rtlCol="0">
            <a:spAutoFit/>
          </a:bodyPr>
          <a:lstStyle/>
          <a:p>
            <a:r>
              <a:rPr lang="en-IN" b="1" dirty="0">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a:t>
            </a:r>
            <a:r>
              <a:rPr lang="en-IN" b="1" u="sng" dirty="0">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Lasso = Simpler models, Stronger </a:t>
            </a:r>
            <a:r>
              <a:rPr lang="en-IN" b="1" u="sng" dirty="0" smtClean="0">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predictions</a:t>
            </a:r>
            <a:r>
              <a:rPr lang="en-IN" b="1" dirty="0" smtClean="0">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a:t>
            </a:r>
            <a:endParaRPr lang="en-IN" b="1" dirty="0">
              <a:effectLst>
                <a:outerShdw blurRad="38100" dist="38100" dir="2700000" algn="tl">
                  <a:srgbClr val="000000">
                    <a:alpha val="43137"/>
                  </a:srgbClr>
                </a:outerShdw>
              </a:effectLst>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0266956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4963" y="0"/>
            <a:ext cx="10515600" cy="1325563"/>
          </a:xfrm>
        </p:spPr>
        <p:txBody>
          <a:bodyPr>
            <a:normAutofit/>
          </a:bodyPr>
          <a:lstStyle/>
          <a:p>
            <a:r>
              <a:rPr lang="en-IN" sz="4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334963" y="1341438"/>
            <a:ext cx="10515600" cy="4351338"/>
          </a:xfrm>
        </p:spPr>
        <p:txBody>
          <a:bodyPr>
            <a:normAutofit/>
          </a:bodyPr>
          <a:lstStyle/>
          <a:p>
            <a:pPr marL="285750" indent="-285750">
              <a:buFont typeface="Arial" panose="020B0604020202020204" pitchFamily="34" charset="0"/>
              <a:buChar char="•"/>
            </a:pPr>
            <a:r>
              <a:rPr lang="en-IN" sz="1800" dirty="0" smtClean="0">
                <a:latin typeface="Helvetica" panose="020B0604020202020204" pitchFamily="34" charset="0"/>
                <a:cs typeface="Helvetica" panose="020B0604020202020204" pitchFamily="34" charset="0"/>
                <a:hlinkClick r:id="rId2"/>
              </a:rPr>
              <a:t>Regression Shrinkage and selection via the Lasso</a:t>
            </a:r>
            <a:endParaRPr lang="en-IN" sz="1800" dirty="0" smtClean="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IN" sz="1800" dirty="0" smtClean="0">
                <a:latin typeface="Helvetica" panose="020B0604020202020204" pitchFamily="34" charset="0"/>
                <a:cs typeface="Helvetica" panose="020B0604020202020204" pitchFamily="34" charset="0"/>
                <a:hlinkClick r:id="rId3"/>
              </a:rPr>
              <a:t>Regression Shrinkage and shrinkage via the Lasso: a retrospective</a:t>
            </a:r>
            <a:endParaRPr lang="en-IN" sz="1800" dirty="0" smtClean="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IN" sz="1800" dirty="0" smtClean="0">
                <a:latin typeface="Helvetica" panose="020B0604020202020204" pitchFamily="34" charset="0"/>
                <a:cs typeface="Helvetica" panose="020B0604020202020204" pitchFamily="34" charset="0"/>
              </a:rPr>
              <a:t>Sparsity and smoothness via the fused Lasso</a:t>
            </a:r>
          </a:p>
          <a:p>
            <a:pPr marL="285750" indent="-285750">
              <a:buFont typeface="Arial" panose="020B0604020202020204" pitchFamily="34" charset="0"/>
              <a:buChar char="•"/>
            </a:pPr>
            <a:r>
              <a:rPr lang="en-IN" sz="1800" dirty="0" smtClean="0">
                <a:latin typeface="Helvetica" panose="020B0604020202020204" pitchFamily="34" charset="0"/>
                <a:cs typeface="Helvetica" panose="020B0604020202020204" pitchFamily="34" charset="0"/>
              </a:rPr>
              <a:t>Lasso Regression and Forecasting Models, Jorge A. Chan Lau</a:t>
            </a:r>
          </a:p>
          <a:p>
            <a:pPr marL="285750" indent="-285750">
              <a:buFont typeface="Arial" panose="020B0604020202020204" pitchFamily="34" charset="0"/>
              <a:buChar char="•"/>
            </a:pPr>
            <a:r>
              <a:rPr lang="en-IN" sz="1800" dirty="0" smtClean="0">
                <a:latin typeface="Helvetica" panose="020B0604020202020204" pitchFamily="34" charset="0"/>
                <a:cs typeface="Helvetica" panose="020B0604020202020204" pitchFamily="34" charset="0"/>
                <a:hlinkClick r:id="rId4"/>
              </a:rPr>
              <a:t>Interview with Rob </a:t>
            </a:r>
            <a:r>
              <a:rPr lang="en-IN" sz="1800" dirty="0" err="1" smtClean="0">
                <a:latin typeface="Helvetica" panose="020B0604020202020204" pitchFamily="34" charset="0"/>
                <a:cs typeface="Helvetica" panose="020B0604020202020204" pitchFamily="34" charset="0"/>
                <a:hlinkClick r:id="rId4"/>
              </a:rPr>
              <a:t>Tibshirani</a:t>
            </a:r>
            <a:r>
              <a:rPr lang="en-IN" sz="1800" dirty="0" smtClean="0">
                <a:latin typeface="Helvetica" panose="020B0604020202020204" pitchFamily="34" charset="0"/>
                <a:cs typeface="Helvetica" panose="020B0604020202020204" pitchFamily="34" charset="0"/>
                <a:hlinkClick r:id="rId4"/>
              </a:rPr>
              <a:t> on Lasso</a:t>
            </a:r>
            <a:endParaRPr lang="en-IN" sz="1800" dirty="0" smtClean="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IN" sz="1800" dirty="0" smtClean="0">
                <a:latin typeface="Helvetica" panose="020B0604020202020204" pitchFamily="34" charset="0"/>
                <a:cs typeface="Helvetica" panose="020B0604020202020204" pitchFamily="34" charset="0"/>
                <a:hlinkClick r:id="rId5"/>
              </a:rPr>
              <a:t>www.youtube.com/campusx</a:t>
            </a:r>
            <a:endParaRPr lang="en-IN" sz="1800" dirty="0" smtClean="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IN" sz="1800" dirty="0" smtClean="0">
                <a:latin typeface="Helvetica" panose="020B0604020202020204" pitchFamily="34" charset="0"/>
                <a:cs typeface="Helvetica" panose="020B0604020202020204" pitchFamily="34" charset="0"/>
                <a:hlinkClick r:id="rId6"/>
              </a:rPr>
              <a:t>www.youtube.com/KrishNaik</a:t>
            </a:r>
            <a:endParaRPr lang="en-IN" sz="1800" dirty="0" smtClean="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endParaRPr lang="en-IN" sz="18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2870462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978</TotalTime>
  <Words>1670</Words>
  <Application>Microsoft Office PowerPoint</Application>
  <PresentationFormat>Widescreen</PresentationFormat>
  <Paragraphs>542</Paragraphs>
  <Slides>28</Slides>
  <Notes>0</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28</vt:i4>
      </vt:variant>
    </vt:vector>
  </HeadingPairs>
  <TitlesOfParts>
    <vt:vector size="38" baseType="lpstr">
      <vt:lpstr>Arial</vt:lpstr>
      <vt:lpstr>Calibri</vt:lpstr>
      <vt:lpstr>Calibri Light</vt:lpstr>
      <vt:lpstr>Cambria Math</vt:lpstr>
      <vt:lpstr>Helvetica</vt:lpstr>
      <vt:lpstr>Symbol</vt:lpstr>
      <vt:lpstr>Times New Roman</vt:lpstr>
      <vt:lpstr>Office Theme</vt:lpstr>
      <vt:lpstr>Custom Design</vt:lpstr>
      <vt:lpstr>Worksheet</vt:lpstr>
      <vt:lpstr>Feature Selection: Spotlight on</vt:lpstr>
      <vt:lpstr>Contents</vt:lpstr>
      <vt:lpstr>The need for Lasso Regression</vt:lpstr>
      <vt:lpstr>PowerPoint Presentation</vt:lpstr>
      <vt:lpstr>PowerPoint Presentation</vt:lpstr>
      <vt:lpstr>PowerPoint Presentation</vt:lpstr>
      <vt:lpstr>PowerPoint Presentation</vt:lpstr>
      <vt:lpstr>Lasso Regression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Feature Selection</vt:lpstr>
      <vt:lpstr>PowerPoint Presentation</vt:lpstr>
      <vt:lpstr>PowerPoint Presentation</vt:lpstr>
      <vt:lpstr>PowerPoint Presentation</vt:lpstr>
      <vt:lpstr>PowerPoint Presentation</vt:lpstr>
      <vt:lpstr>PowerPoint Presentation</vt:lpstr>
      <vt:lpstr> Methods for Optimal Lambda Selection in Lasso Regression</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ALOK</dc:creator>
  <cp:lastModifiedBy>ALOK</cp:lastModifiedBy>
  <cp:revision>81</cp:revision>
  <dcterms:created xsi:type="dcterms:W3CDTF">2025-09-13T15:37:51Z</dcterms:created>
  <dcterms:modified xsi:type="dcterms:W3CDTF">2025-09-16T02:35:18Z</dcterms:modified>
</cp:coreProperties>
</file>